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7"/>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16x9"/>
  <p:notesSz cx="6858000" cy="9144000"/>
  <p:defaultTextStyle>
    <a:defPPr>
      <a:defRPr lang="vi-VN"/>
    </a:defPPr>
    <a:lvl1pPr marL="0" algn="l" defTabSz="457200" rtl="0" eaLnBrk="1" latinLnBrk="0" hangingPunct="1">
      <a:defRPr sz="1800" kern="1200" lang="vi-VN">
        <a:solidFill>
          <a:schemeClr val="tx1"/>
        </a:solidFill>
        <a:latin typeface="+mn-lt"/>
        <a:ea typeface="+mn-ea"/>
        <a:cs typeface="+mn-cs"/>
      </a:defRPr>
    </a:lvl1pPr>
    <a:lvl2pPr marL="457200" algn="l" defTabSz="457200" rtl="0" eaLnBrk="1" latinLnBrk="0" hangingPunct="1">
      <a:defRPr sz="1800" kern="1200" lang="vi-VN">
        <a:solidFill>
          <a:schemeClr val="tx1"/>
        </a:solidFill>
        <a:latin typeface="+mn-lt"/>
        <a:ea typeface="+mn-ea"/>
        <a:cs typeface="+mn-cs"/>
      </a:defRPr>
    </a:lvl2pPr>
    <a:lvl3pPr marL="914400" algn="l" defTabSz="457200" rtl="0" eaLnBrk="1" latinLnBrk="0" hangingPunct="1">
      <a:defRPr sz="1800" kern="1200" lang="vi-VN">
        <a:solidFill>
          <a:schemeClr val="tx1"/>
        </a:solidFill>
        <a:latin typeface="+mn-lt"/>
        <a:ea typeface="+mn-ea"/>
        <a:cs typeface="+mn-cs"/>
      </a:defRPr>
    </a:lvl3pPr>
    <a:lvl4pPr marL="1371600" algn="l" defTabSz="457200" rtl="0" eaLnBrk="1" latinLnBrk="0" hangingPunct="1">
      <a:defRPr sz="1800" kern="1200" lang="vi-VN">
        <a:solidFill>
          <a:schemeClr val="tx1"/>
        </a:solidFill>
        <a:latin typeface="+mn-lt"/>
        <a:ea typeface="+mn-ea"/>
        <a:cs typeface="+mn-cs"/>
      </a:defRPr>
    </a:lvl4pPr>
    <a:lvl5pPr marL="1828800" algn="l" defTabSz="457200" rtl="0" eaLnBrk="1" latinLnBrk="0" hangingPunct="1">
      <a:defRPr sz="1800" kern="1200" lang="vi-VN">
        <a:solidFill>
          <a:schemeClr val="tx1"/>
        </a:solidFill>
        <a:latin typeface="+mn-lt"/>
        <a:ea typeface="+mn-ea"/>
        <a:cs typeface="+mn-cs"/>
      </a:defRPr>
    </a:lvl5pPr>
    <a:lvl6pPr marL="2286000" algn="l" defTabSz="457200" rtl="0" eaLnBrk="1" latinLnBrk="0" hangingPunct="1">
      <a:defRPr sz="1800" kern="1200" lang="vi-VN">
        <a:solidFill>
          <a:schemeClr val="tx1"/>
        </a:solidFill>
        <a:latin typeface="+mn-lt"/>
        <a:ea typeface="+mn-ea"/>
        <a:cs typeface="+mn-cs"/>
      </a:defRPr>
    </a:lvl6pPr>
    <a:lvl7pPr marL="2743200" algn="l" defTabSz="457200" rtl="0" eaLnBrk="1" latinLnBrk="0" hangingPunct="1">
      <a:defRPr sz="1800" kern="1200" lang="vi-VN">
        <a:solidFill>
          <a:schemeClr val="tx1"/>
        </a:solidFill>
        <a:latin typeface="+mn-lt"/>
        <a:ea typeface="+mn-ea"/>
        <a:cs typeface="+mn-cs"/>
      </a:defRPr>
    </a:lvl7pPr>
    <a:lvl8pPr marL="3200400" algn="l" defTabSz="457200" rtl="0" eaLnBrk="1" latinLnBrk="0" hangingPunct="1">
      <a:defRPr sz="1800" kern="1200" lang="vi-VN">
        <a:solidFill>
          <a:schemeClr val="tx1"/>
        </a:solidFill>
        <a:latin typeface="+mn-lt"/>
        <a:ea typeface="+mn-ea"/>
        <a:cs typeface="+mn-cs"/>
      </a:defRPr>
    </a:lvl8pPr>
    <a:lvl9pPr marL="3657600" algn="l" defTabSz="457200" rtl="0" eaLnBrk="1" latinLnBrk="0" hangingPunct="1">
      <a:defRPr sz="1800" kern="1200" lang="vi-V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  <Relationship Id="rId2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vi-VN"/>
          </a:p>
        </p:txBody>
      </p:sp>
    </p:spTree>
  </p:cSld>
  <p:clrMap bg1="lt1" tx1="dk1" bg2="lt2" tx2="dk2" accent1="accent1" accent2="accent2" accent3="accent3" accent4="accent4" accent5="accent5" accent6="accent6" hlink="hlink" folHlink="folHlink"/>
  <p:hf/>
  <p:notesStyle>
    <a:lvl1pPr marL="0" algn="l">
      <a:defRPr sz="1200" lang="vi-V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Bài trình bày bám theo cấu trúc 20 slide, 8 phần do nhóm cung cấp và cập nhật từ bản paper đã bổ sung YOLO26n. Câu hỏi trung tâm là khi chuyển giữa ảnh thu bằng Drone và MotorBike, độ chính xác thay đổi bao nhiêu trên cùng một tập ảnh đích. Đây là nghiên cứu đánh giá thực nghiệm, với ba biến thể YOLO và ba seed; chưa đề xuất kiến trúc mới. Sơ đồ bìa biểu diễn hai miền và thiết kế đánh giá hai chiều; bằng chứng ảnh thực tế và số liệu được trình bày ở các slide tiếp theo.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Bố cục giữ tám phần như tài liệu cau_truc.md. Phần đầu đặt vấn đề triển khai và xác định câu hỏi. Tiếp theo là dữ liệu, giao thức so sánh trên cùng tập đích, mô hình và cách huấn luyện. Phần kết quả tách hiệu năng tổng thể, độ ổn định qua seed, khác biệt theo lớp, kiểm tra độ nhạy và ảnh minh họa. Cuối cùng là giới hạn của bằng chứng và các đối chứng cần bổ sung. Các đoạn về Czech và India trong cấu trúc cũ được chuyển thành hướng nghiên cứu, vì bộ kết quả hiện tại chỉ xác nhận hai miền Drone và MotorBike.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Quan sát hai ảnh minh họa: Drone nhìn từ trên xuống, còn MotorBike nhìn dọc mặt đường. Bối cảnh cảnh quan, tỷ lệ và hình dạng biểu kiến có thể khác nhau. Đây chỉ là mô tả từ ví dụ, chưa phải kết quả đo riêng về độ sáng, kích thước hộp hay nguyên nhân suy giảm. Trong thiết kế hiện tại, góc nhìn đồng thời thay đổi với cảnh và cỡ tập huấn luyện. Vì vậy câu hỏi phù hợp là mức chênh lệch gắn với lựa chọn miền huấn luyện, được đo trên tập đích cố định. Chưa diễn giải chênh lệch đó thành tác động nhân quả của độ cao hoặc góc camera.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Bốn RQ được giữ đúng theo paper hiện tại. RQ1 đo gap riêng trên Drone Test và MotorBike Test. RQ2 kiểm tra tính nhất quán qua ba seed ghép cặp và ba biến thể. RQ3 phân tích AP từng lớp để tránh kết luận chỉ dựa trên mAP tổng. RQ4 là phần bổ sung YOLO26n: điểm tuyệt đối có thể tăng nhưng mức phụ thuộc miền chưa chắc giảm. Giả thuyết cần kiểm chứng là lợi thế của mô hình huấn luyện trên miền đích khi hai mô hình cùng được chấm trên các ảnh đích giống hệt nhau. Không lấy hiệu năng trên hai quần thể test khác nhau để định nghĩa gap chính.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Mục tiêu là xây dựng một so sánh mô tả có thể kiểm tra lại từ các kết quả lưu trữ. Chúng ta dùng hai miền thu nhận tại China của RDD2022, ba biến thể nano và ba seed. Mỗi model được fine-tune độc lập trên một miền, sau đó được chấm trên cả Drone Test và MotorBike Test. Phần mở rộng YOLO26n giữ cùng giao thức để xem kết luận trước đó có còn lặp lại. Nghiên cứu hiện tại không phải so sánh mọi họ detector, chưa thử thích nghi miền, và chưa cung cấp đánh giá được xác nhận trên Czech hoặc India.</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RDD2022 là nguồn dữ liệu gốc; các con số trên slide thuộc tập con khóa v4.1 của nghiên cứu. Drone có 1.680 ảnh train, 360 validation và 361 test. MotorBike có 1.383 train, 297 validation và 297 test. Tổng cộng 4.378 ảnh, trong đó 658 ảnh test. Chia tập được thực hiện theo nhóm cảnh dựa trên các liên kết được nhận diện trong đợt rà soát, nhằm giảm trùng cảnh giữa các phân vùng. Quy tắc này bảo vệ các liên kết đã phát hiện, chưa chứng minh loại bỏ hết mọi trùng cảnh tiềm ẩn. Chênh lệch cỡ tập train giữa hai miền vẫn là yếu tố gây nhiễu cần đối chứng.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Bốn nhãn đích là D00 nứt dọc, D10 nứt ngang, D20 nứt da cá sấu và D40 ổ gà. Đây là các crop từ mosaic nhãn validation lưu trong gói thực nghiệm YOLO11n seed 13, không phải ảnh mới được gán nhãn lại. Riêng D40 phóng vùng có nhãn để nhìn rõ ví dụ; không dùng hình này để suy ra phân bố kích thước. Crop D20 vẫn giữ nhãn D00 xuất hiện cùng ảnh. Các nhãn ngoài bốn lớp như Repair và Block crack đã bị lọc, không ánh xạ sang D40. Chúng ta vẫn giữ D40 trong metric chính dù số lượng hỗ trợ ít và kết quả có thể đảo chiều.</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Bảng này đếm hộp nhãn, không phải số ảnh. Drone Test có 214 hộp D00, 189 D10, 44 D20 và 17 D40; MotorBike lần lượt có 403, 165, 96 và 35. Điểm cần nhấn mạnh là D40 trên Drone chỉ có 17 hộp trong 9 ảnh, nhiều ảnh gắn với một nhóm cảnh. Do đó thay đổi AP ở lớp này có thể bị chi phối bởi ít phát hiện. Slide không đưa thống kê kích thước hộp, độ sáng hoặc độ phân giải theo miền vì nguồn hiện tại chưa đo những phân bố đó. Các yếu tố này chỉ là giả thuyết cho phân tích tiếp theo, chưa phải kết quả đã xác nhận.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Giao thức bắt đầu bằng rà soát liên kết cảnh và khóa phân vùng. Rà soát cũ ghi 735 cặp ưu tiên cao: 629 cùng cảnh, 93 khác cảnh và 13 chưa chắc chắn; số liệu này do tác giả báo cáo, chưa được tái kiểm tra độc lập ở bước làm slide. Mỗi biến thể được fine-tune trên Drone hoặc MotorBike với ba seed. Checkpoint được chọn dựa vào validation miền nguồn, không dùng test để chọn. Bảng 2×2 là trọng tâm: trong cột Drone Test, so D→D với M→D; trong cột MotorBike Test, so M→M với D→M. Cách so sánh này giữ nguyên quần thể test trong từng phép tính gap.</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Ký hiệu X là miền còn lại, Y là miền đích đang xét. Với mỗi seed, lấy mAP của model huấn luyện trên Y trừ mAP của model huấn luyện trên X, cùng đánh giá trên Test Y. Sau đó tính trung bình và độ lệch chuẩn mẫu của ba gap ghép cặp. Vì mAP được báo theo phần trăm, phép trừ có đơn vị điểm phần trăm, viết tắt pp. Giảm tương đối phần trăm cần chia cho baseline huấn luyện trên đích; nếu tính từ các mean phải ghi rõ đó là tỷ số của mean. SD mô tả độ biến động giữa ba seed, không phải khoảng tin cậy và chưa đo bất định ở cấp cảnh. mAP@50 được giữ trong paper như chỉ số bổ sung.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Ba model là YOLO11n, YOLOv8n và YOLO26n, đều khởi tạo từ trọng số COCO. Cấu hình fine-tune tường minh được giữ chung: 150 epoch, ảnh 640, batch 8, SGD với lr 0,01, momentum 0,937, weight decay 0,0005, warmup 3 epoch. Các phép mosaic, mixup và HSV bị tắt; translate 0,05, scale 0,15 và fliplr 0,5 vẫn bật. Patience bằng 0 nên không gọi đây là early stopping. Ba seed giống nhau được dùng lại ở từng model và miền, không phải chín seed độc lập. Đây là so sánh ba biến thể cùng họ dưới cấu hình đã ghi, chưa bao quát các detector hoặc chế độ tối ưu khác.</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Đây là ví dụ đại diện YOLO11n huấn luyện trên Drone, ba seed 13, 37 và 71. Hai biểu đồ loss là tổng ba thành phần được ghi: box, cls và dfl. Biểu đồ phải là mAP@50:95 trên validation, không phải trên test. Các đường được vẽ trực tiếp từ CSV, không làm mượt. Điểm tròn đánh dấu mAP validation lớn nhất tại epoch 110, 92 và 111. Tất cả 18 log của nghiên cứu có 150 epoch; trên toàn bộ các lượt, vị trí đỉnh validation nằm trong khoảng 63 đến 133. Việc có đỉnh trước khi kết thúc không tự chứng minh hội tụ toàn cục hay cho phép đổi ngân sách đã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Mỗi panel cố định một tập test. Thanh xanh đậm là model được huấn luyện trên chính miền đích; thanh nhạt là model học từ miền còn lại. Vạch sai số là SD qua ba seed, không phải CI. Trên Drone, ba mean cùng miền là 22,39; 21,41; 24,49 phần trăm, còn mean xuyên miền là 7,25; 6,55; 7,58. Trên MotorBike, mean cùng miền là 53,08; 51,25; 54,75, còn xuyên miền là 10,15; 10,01; 12,48. YOLO26n nâng mean cùng miền so với YOLOv8n thêm 3,08 và 3,50 pp. Đây là khác biệt mô tả; chưa có kiểm định để kết luận ưu thế có ý nghĩa thống kê.</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Biểu đồ hiển thị đủ 18 gap ghép cặp. Mỗi hàng có ba điểm ứng với seed 13, 37 và 71, đoạn nối chỉ biểu diễn khoảng giá trị, không phải CI. Mean gap trên Drone lần lượt là 15,13 ± 3,85; 14,86 ± 1,25; 16,91 ± 0,80 pp. Trên MotorBike là 42,94 ± 0,52; 41,24 ± 1,04; 42,27 ± 1,28 pp. Tất cả điểm đều nằm phía dương. Chênh lệch giữa hai mean gap đích đạt 25,36 đến 27,80 pp tùy model. Đây là bất đối xứng gắn với miền trong dữ liệu hiện tại, chưa cô lập tác động góc nhìn hoặc cỡ tập nguồn.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Trên MotorBike Test, D20 có lợi thế huấn luyện đúng miền rất lớn: 57,72 pp với YOLO11n, 53,21 với YOLOv8n và 56,45 với YOLO26n. Tỷ lệ giảm so với AP của baseline huấn luyện trên MotorBike lần lượt khoảng 98,30%, 96,14% và 97,34%. Tuy nhiên, xu hướng tổng thể không đúng cho mọi lớp trên mọi đích. Với D40 của Drone Test, mean gap là âm: −6,61; −9,74; −1,95 pp. Kết quả này được giữ nguyên, không sửa nhãn hoặc bỏ lớp để cải thiện metric. Vì lớp D40 trên Drone có ít hộp và ít cảnh, chưa giải thích đảo chiều bằng một cơ chế thị giác hay đặc tính kiến trúc cụ thể.</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Phần đánh giá mở rộng của cấu trúc cũ được cập nhật thành kiểm tra độ nhạy có bằng chứng hiện tại, không dùng kết quả Czech hoặc India chưa xác nhận. Clean-only giữ các ảnh không có annotation ngoài bốn lớp mục tiêu; không có nghĩa mỗi ảnh chứa đủ bốn lớp. Số ảnh còn lại là 273 Drone và 271 MotorBike. Bảng so mean gap full và clean-only; cả 18 gap clean-only theo seed vẫn dương. Với YOLO26n, mean gap clean-only là 16,59 pp trên Drone và 42,60 pp trên MotorBike. Vì quần thể ảnh đã thay đổi, không diễn giải chênh lệch full/clean như ước lượng riêng của ảnh hưởng nhãn ngoài phạm vi.</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Hai panel lấy từ cùng ảnh China_MotorBike_001773.jpg trong mosaic validation của YOLO11n huấn luyện trên MotorBike, seed 13. Panel trái là nhãn thật; panel phải là dự đoán và điểm tin cậy do bản lưu gốc hiển thị. Có thể quan sát sự khác nhau giữa khung/nhãn được vẽ ở vùng nứt phía dưới, nhưng chưa tổng quát thành tỷ lệ lỗi hoặc nguyên nhân suy giảm. Không gọi đây là minh họa test xuyên miền. Bộ lưu trữ hiện tại chưa cung cấp một audit FP/FN độc lập theo từng ảnh test và chưa chạy lại suy luận từ checkpoint trong lần phân tích này. Mục đích slide là cho thấy dạng đầu ra và sự cần thiết của bước kiểm chứng trực quan tiếp theo.</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Các kết quả là liên hệ mô tả giữa miền huấn luyện và hiệu năng. Cỡ tập train, cảnh, hình học thu nhận và phân bố lớp cùng biến đổi nên chưa tách tác động riêng. Ba seed và ba biến thể nano cho kiểm tra lặp lại trong phạm vi hẹp, chưa chứng minh tổng quát cho mọi detector. Rà soát cảnh chỉ kiểm soát các liên kết đã nhận diện. Một số ảnh MotorBike đã được gặp khi phân tích thăm dò trước khi khóa split, nên không tuyên bố holdout hoàn toàn chưa từng được xem. Phân tích hiện tại kiểm tra và tính lại bảng metric đã lưu, chưa độc lập chạy lại mọi checkpoint trên ảnh gốc hoặc replay audit XML. D40 hiếm và việc clean-only đổi quần thể ảnh cũng hạn chế diễn giải.</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Kết luận thứ nhất: trên tập con scene-aware khóa, model được huấn luyện đúng miền đích có lợi thế tổng thể trong cả 18 so sánh. Mean gap trên Drone là 14,86–16,91 pp, trên MotorBike là 41,24–42,94 pp. Kết luận thứ hai: ba model lặp lại xu hướng nhưng từng lớp có hành vi khác nhau, nổi bật là D20 trên MotorBike và đảo chiều D40 hiếm trên Drone. Kết luận thứ ba: YOLO26n nâng mean độ chính xác cùng miền so với YOLOv8n nhưng chưa giải quyết được gap. Đóng góp chính là một giao thức có thể kiểm tra từ kết quả theo seed trên cùng tập đích, không tuyên bố kiến trúc mới hay chứng minh nguyên nhân góc nhìn.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Ưu tiên đầu tiên là kiểm chứng độc lập: chạy lại suy luận từ checkpoint trên test gốc, lưu đầu ra từng ảnh và kiểm tra lỗi, sau đó ước lượng bất định theo cảnh. Thứ hai là cân bằng cỡ tập huấn luyện để kiểm tra vai trò lượng dữ liệu. Thu ảnh ghép cặp trên cùng đoạn đường bằng các thiết bị hoặc góc nhìn khác nhau sẽ giúp tách hình học thu nhận. Thứ ba là mở rộng Czech, India hoặc dữ liệu ngoài RDD2022, nhưng cần audit ontology nhãn trước khi gộp vào bằng chứng. Cuối cùng mới thử huấn luyện đa miền hoặc thích nghi miền và đánh giá theo đúng split, seed và metric đã khóa. Đây là hướng đề xuất, chưa phải thực nghiệm đã hoàn tất.</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rdd2022_beautif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vi-VN" smtClean="0"/>
              <a:t>1/27/13</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C1FF6DA9-008F-8B48-92A6-B652298478BF}" type="slidenum">
              <a:rPr lang="vi-VN" smtClean="0"/>
              <a:t>‹#›</a:t>
            </a:fld>
            <a:endParaRPr lang="vi-V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rdd2022_beautif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vi-VN">
                <a:solidFill>
                  <a:schemeClr val="tx1">
                    <a:tint val="75000"/>
                  </a:schemeClr>
                </a:solidFill>
              </a:defRPr>
            </a:lvl1pPr>
          </a:lstStyle>
          <a:p>
            <a:fld id="{5BCAD085-E8A6-8845-BD4E-CB4CCA059FC4}" type="datetimeFigureOut">
              <a:rPr lang="vi-VN" smtClean="0"/>
              <a:t>1/27/13</a:t>
            </a:fld>
            <a:endParaRPr lang="vi-V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vi-VN">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vi-VN">
                <a:solidFill>
                  <a:schemeClr val="tx1">
                    <a:tint val="75000"/>
                  </a:schemeClr>
                </a:solidFill>
              </a:defRPr>
            </a:lvl1pPr>
          </a:lstStyle>
          <a:p>
            <a:fld id="{C1FF6DA9-008F-8B48-92A6-B652298478BF}" type="slidenum">
              <a:rPr lang="vi-VN" smtClean="0"/>
              <a:t>‹#›</a:t>
            </a:fld>
            <a:endParaRPr lang="vi-V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vi-V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lang="vi-V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900" kern="1200" lang="vi-V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750" kern="1200" lang="vi-V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lang="vi-V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500" kern="1200" lang="vi-V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400" kern="1200" lang="vi-V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250" kern="1200" lang="vi-V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100" kern="1200" lang="vi-V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000" kern="1200" lang="vi-VN">
          <a:solidFill>
            <a:schemeClr val="tx1"/>
          </a:solidFill>
          <a:latin typeface="+mn-lt"/>
          <a:ea typeface="+mn-ea"/>
          <a:cs typeface="+mn-cs"/>
        </a:defRPr>
      </a:lvl9pPr>
    </p:bodyStyle>
    <p:otherStyle>
      <a:defPPr>
        <a:defRPr lang="vi-VN"/>
      </a:defPPr>
      <a:lvl1pPr marL="0" algn="l" defTabSz="457200" rtl="0" eaLnBrk="1" latinLnBrk="0" hangingPunct="1">
        <a:defRPr sz="2000" kern="1200" lang="vi-VN">
          <a:solidFill>
            <a:schemeClr val="tx1"/>
          </a:solidFill>
          <a:latin typeface="+mn-lt"/>
          <a:ea typeface="+mn-ea"/>
          <a:cs typeface="+mn-cs"/>
        </a:defRPr>
      </a:lvl1pPr>
      <a:lvl2pPr marL="457200" algn="l" defTabSz="457200" rtl="0" eaLnBrk="1" latinLnBrk="0" hangingPunct="1">
        <a:defRPr sz="1900" kern="1200" lang="vi-VN">
          <a:solidFill>
            <a:schemeClr val="tx1"/>
          </a:solidFill>
          <a:latin typeface="+mn-lt"/>
          <a:ea typeface="+mn-ea"/>
          <a:cs typeface="+mn-cs"/>
        </a:defRPr>
      </a:lvl2pPr>
      <a:lvl3pPr marL="914400" algn="l" defTabSz="457200" rtl="0" eaLnBrk="1" latinLnBrk="0" hangingPunct="1">
        <a:defRPr sz="1750" kern="1200" lang="vi-VN">
          <a:solidFill>
            <a:schemeClr val="tx1"/>
          </a:solidFill>
          <a:latin typeface="+mn-lt"/>
          <a:ea typeface="+mn-ea"/>
          <a:cs typeface="+mn-cs"/>
        </a:defRPr>
      </a:lvl3pPr>
      <a:lvl4pPr marL="1371600" algn="l" defTabSz="457200" rtl="0" eaLnBrk="1" latinLnBrk="0" hangingPunct="1">
        <a:defRPr sz="1600" kern="1200" lang="vi-VN">
          <a:solidFill>
            <a:schemeClr val="tx1"/>
          </a:solidFill>
          <a:latin typeface="+mn-lt"/>
          <a:ea typeface="+mn-ea"/>
          <a:cs typeface="+mn-cs"/>
        </a:defRPr>
      </a:lvl4pPr>
      <a:lvl5pPr marL="1828800" algn="l" defTabSz="457200" rtl="0" eaLnBrk="1" latinLnBrk="0" hangingPunct="1">
        <a:defRPr sz="1500" kern="1200" lang="vi-VN">
          <a:solidFill>
            <a:schemeClr val="tx1"/>
          </a:solidFill>
          <a:latin typeface="+mn-lt"/>
          <a:ea typeface="+mn-ea"/>
          <a:cs typeface="+mn-cs"/>
        </a:defRPr>
      </a:lvl5pPr>
      <a:lvl6pPr marL="2286000" algn="l" defTabSz="457200" rtl="0" eaLnBrk="1" latinLnBrk="0" hangingPunct="1">
        <a:defRPr sz="1400" kern="1200" lang="vi-VN">
          <a:solidFill>
            <a:schemeClr val="tx1"/>
          </a:solidFill>
          <a:latin typeface="+mn-lt"/>
          <a:ea typeface="+mn-ea"/>
          <a:cs typeface="+mn-cs"/>
        </a:defRPr>
      </a:lvl6pPr>
      <a:lvl7pPr marL="2743200" algn="l" defTabSz="457200" rtl="0" eaLnBrk="1" latinLnBrk="0" hangingPunct="1">
        <a:defRPr sz="1250" kern="1200" lang="vi-VN">
          <a:solidFill>
            <a:schemeClr val="tx1"/>
          </a:solidFill>
          <a:latin typeface="+mn-lt"/>
          <a:ea typeface="+mn-ea"/>
          <a:cs typeface="+mn-cs"/>
        </a:defRPr>
      </a:lvl7pPr>
      <a:lvl8pPr marL="3200400" algn="l" defTabSz="457200" rtl="0" eaLnBrk="1" latinLnBrk="0" hangingPunct="1">
        <a:defRPr sz="1100" kern="1200" lang="vi-VN">
          <a:solidFill>
            <a:schemeClr val="tx1"/>
          </a:solidFill>
          <a:latin typeface="+mn-lt"/>
          <a:ea typeface="+mn-ea"/>
          <a:cs typeface="+mn-cs"/>
        </a:defRPr>
      </a:lvl8pPr>
      <a:lvl9pPr marL="3657600" algn="l" defTabSz="457200" rtl="0" eaLnBrk="1" latinLnBrk="0" hangingPunct="1">
        <a:defRPr sz="1000" kern="1200" lang="vi-V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d07b3c8ae4edf0b.png"/>
  <Relationship Id="rId3" Type="http://schemas.openxmlformats.org/officeDocument/2006/relationships/image" Target="../media/image_09533a03cf2b15e0.png"/>
  <Relationship Id="rId4"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3394c7119f10141.png"/>
  <Relationship Id="rId3" Type="http://schemas.openxmlformats.org/officeDocument/2006/relationships/image" Target="../media/image_cbe838cf04ac7d85.png"/>
  <Relationship Id="rId4" Type="http://schemas.openxmlformats.org/officeDocument/2006/relationships/image" Target="../media/image_e017ca1587ad57d9.png"/>
  <Relationship Id="rId5" Type="http://schemas.openxmlformats.org/officeDocument/2006/relationships/image" Target="../media/image_6dd1e99431f96dd5.png"/>
  <Relationship Id="rId6"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36dd323ce0e51ee.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4bb0c8e0ac09d2a.png"/>
  <Relationship Id="rId3" Type="http://schemas.openxmlformats.org/officeDocument/2006/relationships/image" Target="../media/image_d32bc9128b6e618b.png"/>
  <Relationship Id="rId4"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side-field"/>
          <p:cNvSpPr/>
          <p:nvPr/>
        </p:nvSpPr>
        <p:spPr>
          <a:xfrm>
            <a:off x="8401050" y="0"/>
            <a:ext cx="3790950" cy="6381750"/>
          </a:xfrm>
          <a:prstGeom prst="rect">
            <a:avLst/>
          </a:prstGeom>
          <a:solidFill>
            <a:schemeClr val="lt2"/>
          </a:solidFill>
          <a:ln>
            <a:noFill/>
          </a:ln>
        </p:spPr>
      </p:sp>
      <p:grpSp>
        <p:nvGrpSpPr>
          <p:cNvPr id="5" name="header"/>
          <p:cNvGrpSpPr/>
          <p:nvPr/>
        </p:nvGrpSpPr>
        <p:grpSpPr>
          <a:xfrm>
            <a:off x="528066" y="244475"/>
            <a:ext cx="11137392" cy="264033"/>
            <a:chOff x="528066" y="244475"/>
            <a:chExt cx="11137392" cy="264033"/>
          </a:xfrm>
        </p:grpSpPr>
        <p:sp>
          <p:nvSpPr>
            <p:cNvPr id="3" name="TextBox 3"/>
            <p:cNvSpPr txBox="1"/>
            <p:nvPr/>
          </p:nvSpPr>
          <p:spPr>
            <a:xfrm>
              <a:off x="528066" y="282575"/>
              <a:ext cx="2491942"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BÁO CÁO NGHIÊN CỨU · RDD2022</a:t>
              </a:r>
            </a:p>
          </p:txBody>
        </p:sp>
        <p:sp>
          <p:nvSpPr>
            <p:cNvPr id="4" name="TextBox 4"/>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01</a:t>
              </a:r>
            </a:p>
          </p:txBody>
        </p:sp>
      </p:grpSp>
      <p:grpSp>
        <p:nvGrpSpPr>
          <p:cNvPr id="7" name="cover-title"/>
          <p:cNvGrpSpPr/>
          <p:nvPr/>
        </p:nvGrpSpPr>
        <p:grpSpPr>
          <a:xfrm>
            <a:off x="515112" y="1104900"/>
            <a:ext cx="6920719" cy="1828038"/>
            <a:chOff x="515112" y="1104900"/>
            <a:chExt cx="6920719" cy="1828038"/>
          </a:xfrm>
        </p:grpSpPr>
        <p:sp>
          <p:nvSpPr>
            <p:cNvPr id="6" name="TextBox 6"/>
            <p:cNvSpPr txBox="1"/>
            <p:nvPr/>
          </p:nvSpPr>
          <p:spPr>
            <a:xfrm>
              <a:off x="515112" y="1104900"/>
              <a:ext cx="6920719" cy="1828038"/>
            </a:xfrm>
            <a:prstGeom prst="rect">
              <a:avLst/>
            </a:prstGeom>
            <a:noFill/>
            <a:ln>
              <a:noFill/>
            </a:ln>
          </p:spPr>
          <p:txBody>
            <a:bodyPr wrap="none" lIns="0" tIns="0" rIns="0" bIns="0" anchor="t" anchorCtr="0">
              <a:spAutoFit/>
            </a:bodyPr>
            <a:lstStyle/>
            <a:p>
              <a:pPr algn="l">
                <a:lnSpc>
                  <a:spcPts val="4425"/>
                </a:lnSpc>
              </a:pPr>
              <a:r>
                <a:rPr lang="vi-VN" sz="3600" dirty="0">
                  <a:solidFill>
                    <a:schemeClr val="dk1"/>
                  </a:solidFill>
                  <a:latin typeface="+mj-lt"/>
                  <a:ea typeface="+mj-ea"/>
                  <a:cs typeface="+mj-cs"/>
                </a:rPr>
                <a:t>Phát hiện hư hỏng mặt đường</a:t>
              </a:r>
              <a:br>
                <a:rPr lang="vi-VN" sz="3600" dirty="0">
                  <a:solidFill>
                    <a:schemeClr val="dk1"/>
                  </a:solidFill>
                  <a:latin typeface="+mj-lt"/>
                  <a:ea typeface="+mj-ea"/>
                  <a:cs typeface="+mj-cs"/>
                </a:rPr>
              </a:br>
              <a:r>
                <a:rPr lang="vi-VN" sz="3600" dirty="0">
                  <a:solidFill>
                    <a:schemeClr val="dk1"/>
                  </a:solidFill>
                  <a:latin typeface="+mj-lt"/>
                  <a:ea typeface="+mj-ea"/>
                  <a:cs typeface="+mj-cs"/>
                </a:rPr>
                <a:t>suy giảm bao nhiêu khi</a:t>
              </a:r>
              <a:br>
                <a:rPr lang="vi-VN" sz="3600" dirty="0">
                  <a:solidFill>
                    <a:schemeClr val="dk1"/>
                  </a:solidFill>
                  <a:latin typeface="+mj-lt"/>
                  <a:ea typeface="+mj-ea"/>
                  <a:cs typeface="+mj-cs"/>
                </a:rPr>
              </a:br>
              <a:r>
                <a:rPr lang="vi-VN" sz="3600" dirty="0">
                  <a:solidFill>
                    <a:schemeClr val="dk1"/>
                  </a:solidFill>
                  <a:latin typeface="+mj-lt"/>
                  <a:ea typeface="+mj-ea"/>
                  <a:cs typeface="+mj-cs"/>
                </a:rPr>
                <a:t>đổi miền thu nhận?</a:t>
              </a:r>
            </a:p>
          </p:txBody>
        </p:sp>
      </p:grpSp>
      <p:grpSp>
        <p:nvGrpSpPr>
          <p:cNvPr id="9" name="standfirst"/>
          <p:cNvGrpSpPr/>
          <p:nvPr/>
        </p:nvGrpSpPr>
        <p:grpSpPr>
          <a:xfrm>
            <a:off x="522732" y="3235325"/>
            <a:ext cx="5238265" cy="772668"/>
            <a:chOff x="522732" y="3235325"/>
            <a:chExt cx="5238265" cy="772668"/>
          </a:xfrm>
        </p:grpSpPr>
        <p:sp>
          <p:nvSpPr>
            <p:cNvPr id="8" name="TextBox 8"/>
            <p:cNvSpPr txBox="1"/>
            <p:nvPr/>
          </p:nvSpPr>
          <p:spPr>
            <a:xfrm>
              <a:off x="522732" y="3235325"/>
              <a:ext cx="5238265" cy="772668"/>
            </a:xfrm>
            <a:prstGeom prst="rect">
              <a:avLst/>
            </a:prstGeom>
            <a:noFill/>
            <a:ln>
              <a:noFill/>
            </a:ln>
          </p:spPr>
          <p:txBody>
            <a:bodyPr wrap="none" lIns="0" tIns="0" rIns="0" bIns="0" anchor="t" anchorCtr="0">
              <a:spAutoFit/>
            </a:bodyPr>
            <a:lstStyle/>
            <a:p>
              <a:pPr algn="l">
                <a:lnSpc>
                  <a:spcPts val="2850"/>
                </a:lnSpc>
              </a:pPr>
              <a:r>
                <a:rPr lang="vi-VN" sz="2100" dirty="0">
                  <a:solidFill>
                    <a:schemeClr val="accent2"/>
                  </a:solidFill>
                  <a:latin typeface="+mn-lt"/>
                  <a:ea typeface="+mn-ea"/>
                  <a:cs typeface="+mn-cs"/>
                </a:rPr>
                <a:t>Đánh giá hai chiều Drone–MotorBike</a:t>
              </a:r>
              <a:br>
                <a:rPr lang="vi-VN" sz="2100" dirty="0">
                  <a:solidFill>
                    <a:schemeClr val="accent2"/>
                  </a:solidFill>
                  <a:latin typeface="+mn-lt"/>
                  <a:ea typeface="+mn-ea"/>
                  <a:cs typeface="+mn-cs"/>
                </a:rPr>
              </a:br>
              <a:r>
                <a:rPr lang="vi-VN" sz="2100" dirty="0">
                  <a:solidFill>
                    <a:schemeClr val="accent2"/>
                  </a:solidFill>
                  <a:latin typeface="+mn-lt"/>
                  <a:ea typeface="+mn-ea"/>
                  <a:cs typeface="+mn-cs"/>
                </a:rPr>
                <a:t>với YOLO11n, YOLOv8n và YOLO26n</a:t>
              </a:r>
            </a:p>
          </p:txBody>
        </p:sp>
      </p:grpSp>
      <p:grpSp>
        <p:nvGrpSpPr>
          <p:cNvPr id="12" name="authors"/>
          <p:cNvGrpSpPr/>
          <p:nvPr/>
        </p:nvGrpSpPr>
        <p:grpSpPr>
          <a:xfrm>
            <a:off x="525018" y="4454525"/>
            <a:ext cx="4633923" cy="703707"/>
            <a:chOff x="525018" y="4454525"/>
            <a:chExt cx="4633923" cy="703707"/>
          </a:xfrm>
        </p:grpSpPr>
        <p:sp>
          <p:nvSpPr>
            <p:cNvPr id="10" name="TextBox 10"/>
            <p:cNvSpPr txBox="1"/>
            <p:nvPr/>
          </p:nvSpPr>
          <p:spPr>
            <a:xfrm>
              <a:off x="525018" y="4454525"/>
              <a:ext cx="3892813"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Lê Thành Luân · Phạm Bá Anh Tuấn</a:t>
              </a:r>
            </a:p>
          </p:txBody>
        </p:sp>
        <p:sp>
          <p:nvSpPr>
            <p:cNvPr id="11" name="TextBox 11"/>
            <p:cNvSpPr txBox="1"/>
            <p:nvPr/>
          </p:nvSpPr>
          <p:spPr>
            <a:xfrm>
              <a:off x="525018" y="4835525"/>
              <a:ext cx="463392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Trường Đại học Bách khoa – Đại học Đà Nẵng</a:t>
              </a:r>
            </a:p>
          </p:txBody>
        </p:sp>
      </p:grpSp>
      <p:grpSp>
        <p:nvGrpSpPr>
          <p:cNvPr id="14" name="study-scope"/>
          <p:cNvGrpSpPr/>
          <p:nvPr/>
        </p:nvGrpSpPr>
        <p:grpSpPr>
          <a:xfrm>
            <a:off x="525018" y="5635625"/>
            <a:ext cx="4923307" cy="322707"/>
            <a:chOff x="525018" y="5635625"/>
            <a:chExt cx="4923307" cy="322707"/>
          </a:xfrm>
        </p:grpSpPr>
        <p:sp>
          <p:nvSpPr>
            <p:cNvPr id="13" name="TextBox 13"/>
            <p:cNvSpPr txBox="1"/>
            <p:nvPr/>
          </p:nvSpPr>
          <p:spPr>
            <a:xfrm>
              <a:off x="525018" y="5635625"/>
              <a:ext cx="4923307" cy="322707"/>
            </a:xfrm>
            <a:prstGeom prst="rect">
              <a:avLst/>
            </a:prstGeom>
            <a:noFill/>
            <a:ln>
              <a:noFill/>
            </a:ln>
          </p:spPr>
          <p:txBody>
            <a:bodyPr wrap="none" lIns="0" tIns="0" rIns="0" bIns="0" anchor="t" anchorCtr="0">
              <a:spAutoFit/>
            </a:bodyPr>
            <a:lstStyle/>
            <a:p>
              <a:pPr algn="l"/>
              <a:r>
                <a:rPr lang="vi-VN" sz="1650" dirty="0">
                  <a:solidFill>
                    <a:schemeClr val="accent5"/>
                  </a:solidFill>
                  <a:latin typeface="+mn-lt"/>
                  <a:ea typeface="+mn-ea"/>
                  <a:cs typeface="+mn-cs"/>
                </a:rPr>
                <a:t>Chia tập theo cảnh · Ba seed · 18 lượt huấn luyện</a:t>
              </a:r>
            </a:p>
          </p:txBody>
        </p:sp>
      </p:grpSp>
      <p:sp>
        <p:nvSpPr>
          <p:cNvPr id="15" name="Freeform 15"/>
          <p:cNvSpPr/>
          <p:nvPr/>
        </p:nvSpPr>
        <p:spPr>
          <a:xfrm>
            <a:off x="8734425" y="1714500"/>
            <a:ext cx="2905125" cy="3238500"/>
          </a:xfrm>
          <a:prstGeom prst="bracketPair">
            <a:avLst/>
          </a:prstGeom>
          <a:noFill/>
          <a:ln w="28575">
            <a:solidFill>
              <a:schemeClr val="accent6"/>
            </a:solidFill>
          </a:ln>
        </p:spPr>
      </p:sp>
      <p:grpSp>
        <p:nvGrpSpPr>
          <p:cNvPr id="21" name="acquisition-domains"/>
          <p:cNvGrpSpPr/>
          <p:nvPr/>
        </p:nvGrpSpPr>
        <p:grpSpPr>
          <a:xfrm>
            <a:off x="8973828" y="1225550"/>
            <a:ext cx="2435843" cy="4350258"/>
            <a:chOff x="8973828" y="1225550"/>
            <a:chExt cx="2435843" cy="4350258"/>
          </a:xfrm>
        </p:grpSpPr>
        <p:sp>
          <p:nvSpPr>
            <p:cNvPr id="16" name="TextBox 16"/>
            <p:cNvSpPr txBox="1"/>
            <p:nvPr/>
          </p:nvSpPr>
          <p:spPr>
            <a:xfrm>
              <a:off x="9439686" y="1225550"/>
              <a:ext cx="1504128" cy="205359"/>
            </a:xfrm>
            <a:prstGeom prst="rect">
              <a:avLst/>
            </a:prstGeom>
            <a:noFill/>
            <a:ln>
              <a:noFill/>
            </a:ln>
          </p:spPr>
          <p:txBody>
            <a:bodyPr wrap="none" lIns="0" tIns="0" rIns="0" bIns="0" anchor="t" anchorCtr="0">
              <a:spAutoFit/>
            </a:bodyPr>
            <a:lstStyle/>
            <a:p>
              <a:pPr algn="ctr"/>
              <a:r>
                <a:rPr lang="vi-VN" sz="1050" b="1" dirty="0">
                  <a:solidFill>
                    <a:schemeClr val="accent2"/>
                  </a:solidFill>
                  <a:latin typeface="+mn-lt"/>
                  <a:ea typeface="+mn-ea"/>
                  <a:cs typeface="+mn-cs"/>
                </a:rPr>
                <a:t>HAI MIỀN THU NHẬN</a:t>
              </a:r>
            </a:p>
          </p:txBody>
        </p:sp>
        <p:sp>
          <p:nvSpPr>
            <p:cNvPr id="17" name="TextBox 17"/>
            <p:cNvSpPr txBox="1"/>
            <p:nvPr/>
          </p:nvSpPr>
          <p:spPr>
            <a:xfrm>
              <a:off x="9465437" y="2289175"/>
              <a:ext cx="1452626" cy="704088"/>
            </a:xfrm>
            <a:prstGeom prst="rect">
              <a:avLst/>
            </a:prstGeom>
            <a:noFill/>
            <a:ln>
              <a:noFill/>
            </a:ln>
          </p:spPr>
          <p:txBody>
            <a:bodyPr wrap="none" lIns="0" tIns="0" rIns="0" bIns="0" anchor="t" anchorCtr="0">
              <a:spAutoFit/>
            </a:bodyPr>
            <a:lstStyle/>
            <a:p>
              <a:pPr algn="ctr"/>
              <a:r>
                <a:rPr lang="vi-VN" sz="3600" b="1" dirty="0">
                  <a:solidFill>
                    <a:schemeClr val="dk1"/>
                  </a:solidFill>
                  <a:latin typeface="+mn-lt"/>
                  <a:ea typeface="+mn-ea"/>
                  <a:cs typeface="+mn-cs"/>
                </a:rPr>
                <a:t>Drone</a:t>
              </a:r>
            </a:p>
          </p:txBody>
        </p:sp>
        <p:sp>
          <p:nvSpPr>
            <p:cNvPr id="18" name="TextBox 18"/>
            <p:cNvSpPr txBox="1"/>
            <p:nvPr/>
          </p:nvSpPr>
          <p:spPr>
            <a:xfrm>
              <a:off x="10078079" y="3203575"/>
              <a:ext cx="227343" cy="528066"/>
            </a:xfrm>
            <a:prstGeom prst="rect">
              <a:avLst/>
            </a:prstGeom>
            <a:noFill/>
            <a:ln>
              <a:noFill/>
            </a:ln>
          </p:spPr>
          <p:txBody>
            <a:bodyPr wrap="none" lIns="0" tIns="0" rIns="0" bIns="0" anchor="t" anchorCtr="0">
              <a:spAutoFit/>
            </a:bodyPr>
            <a:lstStyle/>
            <a:p>
              <a:pPr algn="ctr"/>
              <a:r>
                <a:rPr lang="vi-VN" sz="2700" dirty="0">
                  <a:solidFill>
                    <a:schemeClr val="accent2"/>
                  </a:solidFill>
                  <a:latin typeface="+mn-lt"/>
                  <a:ea typeface="+mn-ea"/>
                  <a:cs typeface="+mn-cs"/>
                </a:rPr>
                <a:t>↕</a:t>
              </a:r>
            </a:p>
          </p:txBody>
        </p:sp>
        <p:sp>
          <p:nvSpPr>
            <p:cNvPr id="19" name="TextBox 19"/>
            <p:cNvSpPr txBox="1"/>
            <p:nvPr/>
          </p:nvSpPr>
          <p:spPr>
            <a:xfrm>
              <a:off x="8973828" y="3927475"/>
              <a:ext cx="2435843" cy="704088"/>
            </a:xfrm>
            <a:prstGeom prst="rect">
              <a:avLst/>
            </a:prstGeom>
            <a:noFill/>
            <a:ln>
              <a:noFill/>
            </a:ln>
          </p:spPr>
          <p:txBody>
            <a:bodyPr wrap="none" lIns="0" tIns="0" rIns="0" bIns="0" anchor="t" anchorCtr="0">
              <a:spAutoFit/>
            </a:bodyPr>
            <a:lstStyle/>
            <a:p>
              <a:pPr algn="ctr"/>
              <a:r>
                <a:rPr lang="vi-VN" sz="3600" b="1" dirty="0">
                  <a:solidFill>
                    <a:schemeClr val="dk1"/>
                  </a:solidFill>
                  <a:latin typeface="+mn-lt"/>
                  <a:ea typeface="+mn-ea"/>
                  <a:cs typeface="+mn-cs"/>
                </a:rPr>
                <a:t>MotorBike</a:t>
              </a:r>
            </a:p>
          </p:txBody>
        </p:sp>
        <p:sp>
          <p:nvSpPr>
            <p:cNvPr id="20" name="TextBox 20"/>
            <p:cNvSpPr txBox="1"/>
            <p:nvPr/>
          </p:nvSpPr>
          <p:spPr>
            <a:xfrm>
              <a:off x="9378846" y="5311775"/>
              <a:ext cx="1625809" cy="264033"/>
            </a:xfrm>
            <a:prstGeom prst="rect">
              <a:avLst/>
            </a:prstGeom>
            <a:noFill/>
            <a:ln>
              <a:noFill/>
            </a:ln>
          </p:spPr>
          <p:txBody>
            <a:bodyPr wrap="none" lIns="0" tIns="0" rIns="0" bIns="0" anchor="t" anchorCtr="0">
              <a:spAutoFit/>
            </a:bodyPr>
            <a:lstStyle/>
            <a:p>
              <a:pPr algn="ctr"/>
              <a:r>
                <a:rPr lang="vi-VN" sz="1350" dirty="0">
                  <a:solidFill>
                    <a:schemeClr val="accent2"/>
                  </a:solidFill>
                  <a:latin typeface="+mn-lt"/>
                  <a:ea typeface="+mn-ea"/>
                  <a:cs typeface="+mn-cs"/>
                </a:rPr>
                <a:t>Hai tập đích cố định</a:t>
              </a:r>
            </a:p>
          </p:txBody>
        </p:sp>
      </p:grpSp>
      <p:grpSp>
        <p:nvGrpSpPr>
          <p:cNvPr id="24" name="source"/>
          <p:cNvGrpSpPr/>
          <p:nvPr/>
        </p:nvGrpSpPr>
        <p:grpSpPr>
          <a:xfrm>
            <a:off x="528638" y="6467475"/>
            <a:ext cx="11129962" cy="261937"/>
            <a:chOff x="528638" y="6467475"/>
            <a:chExt cx="11129962" cy="261937"/>
          </a:xfrm>
        </p:grpSpPr>
        <p:sp>
          <p:nvSpPr>
            <p:cNvPr id="22" name="Line 22"/>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23" name="TextBox 23"/>
            <p:cNvSpPr txBox="1"/>
            <p:nvPr/>
          </p:nvSpPr>
          <p:spPr>
            <a:xfrm>
              <a:off x="528638" y="6553200"/>
              <a:ext cx="3678975"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bản thảo hiện tại, IEEE_Paper/main.pdf · RDDD2022, 2026</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1570470"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LỘ TRÌNH TRÌNH BÀY</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02</a:t>
              </a:r>
            </a:p>
          </p:txBody>
        </p:sp>
        <p:sp>
          <p:nvSpPr>
            <p:cNvPr id="4" name="TextBox 4"/>
            <p:cNvSpPr txBox="1"/>
            <p:nvPr/>
          </p:nvSpPr>
          <p:spPr>
            <a:xfrm>
              <a:off x="518160" y="593725"/>
              <a:ext cx="9415473"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Từ vấn đề triển khai đến bằng chứng thực nghiệm</a:t>
              </a:r>
            </a:p>
          </p:txBody>
        </p:sp>
      </p:grpSp>
      <p:grpSp>
        <p:nvGrpSpPr>
          <p:cNvPr id="27" name="agenda-left"/>
          <p:cNvGrpSpPr/>
          <p:nvPr/>
        </p:nvGrpSpPr>
        <p:grpSpPr>
          <a:xfrm>
            <a:off x="519684" y="1870075"/>
            <a:ext cx="4235972" cy="3835400"/>
            <a:chOff x="519684" y="1870075"/>
            <a:chExt cx="4235972" cy="3835400"/>
          </a:xfrm>
        </p:grpSpPr>
        <p:sp>
          <p:nvSpPr>
            <p:cNvPr id="6" name="Line 6"/>
            <p:cNvSpPr/>
            <p:nvPr/>
          </p:nvSpPr>
          <p:spPr>
            <a:xfrm>
              <a:off x="781050" y="1981200"/>
              <a:ext cx="9525" cy="3724275"/>
            </a:xfrm>
            <a:custGeom>
              <a:avLst/>
              <a:gdLst/>
              <a:ahLst/>
              <a:cxnLst/>
              <a:rect l="l" t="t" r="r" b="b"/>
              <a:pathLst>
                <a:path w="9525" h="3724275">
                  <a:moveTo>
                    <a:pt x="0" y="0"/>
                  </a:moveTo>
                  <a:lnTo>
                    <a:pt x="0" y="3724275"/>
                  </a:lnTo>
                </a:path>
              </a:pathLst>
            </a:custGeom>
            <a:noFill/>
            <a:ln w="19050">
              <a:solidFill>
                <a:schemeClr val="accent6"/>
              </a:solidFill>
            </a:ln>
          </p:spPr>
        </p:sp>
        <p:grpSp>
          <p:nvGrpSpPr>
            <p:cNvPr id="11" name="section-one"/>
            <p:cNvGrpSpPr/>
            <p:nvPr/>
          </p:nvGrpSpPr>
          <p:grpSpPr>
            <a:xfrm>
              <a:off x="519684" y="1870075"/>
              <a:ext cx="2273805" cy="743458"/>
              <a:chOff x="519684" y="1870075"/>
              <a:chExt cx="2273805" cy="743458"/>
            </a:xfrm>
          </p:grpSpPr>
          <p:sp>
            <p:nvSpPr>
              <p:cNvPr id="7" name="Rectangle 7"/>
              <p:cNvSpPr/>
              <p:nvPr/>
            </p:nvSpPr>
            <p:spPr>
              <a:xfrm>
                <a:off x="533400" y="1885950"/>
                <a:ext cx="533400" cy="428625"/>
              </a:xfrm>
              <a:prstGeom prst="rect">
                <a:avLst/>
              </a:prstGeom>
              <a:solidFill>
                <a:schemeClr val="lt1"/>
              </a:solidFill>
              <a:ln>
                <a:noFill/>
              </a:ln>
            </p:spPr>
          </p:sp>
          <p:sp>
            <p:nvSpPr>
              <p:cNvPr id="8" name="TextBox 8"/>
              <p:cNvSpPr txBox="1"/>
              <p:nvPr/>
            </p:nvSpPr>
            <p:spPr>
              <a:xfrm>
                <a:off x="519684" y="187007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01</a:t>
                </a:r>
              </a:p>
            </p:txBody>
          </p:sp>
          <p:sp>
            <p:nvSpPr>
              <p:cNvPr id="9" name="TextBox 9"/>
              <p:cNvSpPr txBox="1"/>
              <p:nvPr/>
            </p:nvSpPr>
            <p:spPr>
              <a:xfrm>
                <a:off x="1332357" y="1927225"/>
                <a:ext cx="1461132"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Đặt vấn đề</a:t>
                </a:r>
              </a:p>
            </p:txBody>
          </p:sp>
          <p:sp>
            <p:nvSpPr>
              <p:cNvPr id="10" name="TextBox 10"/>
              <p:cNvSpPr txBox="1"/>
              <p:nvPr/>
            </p:nvSpPr>
            <p:spPr>
              <a:xfrm>
                <a:off x="1336167" y="2349500"/>
                <a:ext cx="98462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03–04</a:t>
                </a:r>
              </a:p>
            </p:txBody>
          </p:sp>
        </p:grpSp>
        <p:grpSp>
          <p:nvGrpSpPr>
            <p:cNvPr id="16" name="section-two"/>
            <p:cNvGrpSpPr/>
            <p:nvPr/>
          </p:nvGrpSpPr>
          <p:grpSpPr>
            <a:xfrm>
              <a:off x="519684" y="2870200"/>
              <a:ext cx="3576330" cy="743458"/>
              <a:chOff x="519684" y="2870200"/>
              <a:chExt cx="3576330" cy="743458"/>
            </a:xfrm>
          </p:grpSpPr>
          <p:sp>
            <p:nvSpPr>
              <p:cNvPr id="12" name="Rectangle 12"/>
              <p:cNvSpPr/>
              <p:nvPr/>
            </p:nvSpPr>
            <p:spPr>
              <a:xfrm>
                <a:off x="533400" y="2886075"/>
                <a:ext cx="533400" cy="428625"/>
              </a:xfrm>
              <a:prstGeom prst="rect">
                <a:avLst/>
              </a:prstGeom>
              <a:solidFill>
                <a:schemeClr val="lt1"/>
              </a:solidFill>
              <a:ln>
                <a:noFill/>
              </a:ln>
            </p:spPr>
          </p:sp>
          <p:sp>
            <p:nvSpPr>
              <p:cNvPr id="13" name="TextBox 13"/>
              <p:cNvSpPr txBox="1"/>
              <p:nvPr/>
            </p:nvSpPr>
            <p:spPr>
              <a:xfrm>
                <a:off x="519684" y="2870200"/>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02</a:t>
                </a:r>
              </a:p>
            </p:txBody>
          </p:sp>
          <p:sp>
            <p:nvSpPr>
              <p:cNvPr id="14" name="TextBox 14"/>
              <p:cNvSpPr txBox="1"/>
              <p:nvPr/>
            </p:nvSpPr>
            <p:spPr>
              <a:xfrm>
                <a:off x="1332357" y="2927350"/>
                <a:ext cx="2763657"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Mục tiêu nghiên cứu</a:t>
                </a:r>
              </a:p>
            </p:txBody>
          </p:sp>
          <p:sp>
            <p:nvSpPr>
              <p:cNvPr id="15" name="TextBox 15"/>
              <p:cNvSpPr txBox="1"/>
              <p:nvPr/>
            </p:nvSpPr>
            <p:spPr>
              <a:xfrm>
                <a:off x="1336167" y="3349625"/>
                <a:ext cx="677949"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05</a:t>
                </a:r>
              </a:p>
            </p:txBody>
          </p:sp>
        </p:grpSp>
        <p:grpSp>
          <p:nvGrpSpPr>
            <p:cNvPr id="21" name="section-three"/>
            <p:cNvGrpSpPr/>
            <p:nvPr/>
          </p:nvGrpSpPr>
          <p:grpSpPr>
            <a:xfrm>
              <a:off x="519684" y="3870325"/>
              <a:ext cx="3372037" cy="743458"/>
              <a:chOff x="519684" y="3870325"/>
              <a:chExt cx="3372037" cy="743458"/>
            </a:xfrm>
          </p:grpSpPr>
          <p:sp>
            <p:nvSpPr>
              <p:cNvPr id="17" name="Rectangle 17"/>
              <p:cNvSpPr/>
              <p:nvPr/>
            </p:nvSpPr>
            <p:spPr>
              <a:xfrm>
                <a:off x="533400" y="3886200"/>
                <a:ext cx="533400" cy="428625"/>
              </a:xfrm>
              <a:prstGeom prst="rect">
                <a:avLst/>
              </a:prstGeom>
              <a:solidFill>
                <a:schemeClr val="lt1"/>
              </a:solidFill>
              <a:ln>
                <a:noFill/>
              </a:ln>
            </p:spPr>
          </p:sp>
          <p:sp>
            <p:nvSpPr>
              <p:cNvPr id="18" name="TextBox 18"/>
              <p:cNvSpPr txBox="1"/>
              <p:nvPr/>
            </p:nvSpPr>
            <p:spPr>
              <a:xfrm>
                <a:off x="519684" y="387032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03</a:t>
                </a:r>
              </a:p>
            </p:txBody>
          </p:sp>
          <p:sp>
            <p:nvSpPr>
              <p:cNvPr id="19" name="TextBox 19"/>
              <p:cNvSpPr txBox="1"/>
              <p:nvPr/>
            </p:nvSpPr>
            <p:spPr>
              <a:xfrm>
                <a:off x="1332357" y="3927475"/>
                <a:ext cx="2559364"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Dữ liệu nghiên cứu</a:t>
                </a:r>
              </a:p>
            </p:txBody>
          </p:sp>
          <p:sp>
            <p:nvSpPr>
              <p:cNvPr id="20" name="TextBox 20"/>
              <p:cNvSpPr txBox="1"/>
              <p:nvPr/>
            </p:nvSpPr>
            <p:spPr>
              <a:xfrm>
                <a:off x="1336167" y="4349750"/>
                <a:ext cx="98462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06–08</a:t>
                </a:r>
              </a:p>
            </p:txBody>
          </p:sp>
        </p:grpSp>
        <p:grpSp>
          <p:nvGrpSpPr>
            <p:cNvPr id="26" name="section-four"/>
            <p:cNvGrpSpPr/>
            <p:nvPr/>
          </p:nvGrpSpPr>
          <p:grpSpPr>
            <a:xfrm>
              <a:off x="519684" y="4870450"/>
              <a:ext cx="4235972" cy="743458"/>
              <a:chOff x="519684" y="4870450"/>
              <a:chExt cx="4235972" cy="743458"/>
            </a:xfrm>
          </p:grpSpPr>
          <p:sp>
            <p:nvSpPr>
              <p:cNvPr id="22" name="Rectangle 22"/>
              <p:cNvSpPr/>
              <p:nvPr/>
            </p:nvSpPr>
            <p:spPr>
              <a:xfrm>
                <a:off x="533400" y="4886325"/>
                <a:ext cx="533400" cy="428625"/>
              </a:xfrm>
              <a:prstGeom prst="rect">
                <a:avLst/>
              </a:prstGeom>
              <a:solidFill>
                <a:schemeClr val="lt1"/>
              </a:solidFill>
              <a:ln>
                <a:noFill/>
              </a:ln>
            </p:spPr>
          </p:sp>
          <p:sp>
            <p:nvSpPr>
              <p:cNvPr id="23" name="TextBox 23"/>
              <p:cNvSpPr txBox="1"/>
              <p:nvPr/>
            </p:nvSpPr>
            <p:spPr>
              <a:xfrm>
                <a:off x="519684" y="4870450"/>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04</a:t>
                </a:r>
              </a:p>
            </p:txBody>
          </p:sp>
          <p:sp>
            <p:nvSpPr>
              <p:cNvPr id="24" name="TextBox 24"/>
              <p:cNvSpPr txBox="1"/>
              <p:nvPr/>
            </p:nvSpPr>
            <p:spPr>
              <a:xfrm>
                <a:off x="1332357" y="4927600"/>
                <a:ext cx="3423299"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Phương pháp nghiên cứu</a:t>
                </a:r>
              </a:p>
            </p:txBody>
          </p:sp>
          <p:sp>
            <p:nvSpPr>
              <p:cNvPr id="25" name="TextBox 25"/>
              <p:cNvSpPr txBox="1"/>
              <p:nvPr/>
            </p:nvSpPr>
            <p:spPr>
              <a:xfrm>
                <a:off x="1336167" y="5349875"/>
                <a:ext cx="98462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09–10</a:t>
                </a:r>
              </a:p>
            </p:txBody>
          </p:sp>
        </p:grpSp>
      </p:grpSp>
      <p:grpSp>
        <p:nvGrpSpPr>
          <p:cNvPr id="49" name="agenda-right"/>
          <p:cNvGrpSpPr/>
          <p:nvPr/>
        </p:nvGrpSpPr>
        <p:grpSpPr>
          <a:xfrm>
            <a:off x="6444234" y="1870075"/>
            <a:ext cx="4659935" cy="3835400"/>
            <a:chOff x="6444234" y="1870075"/>
            <a:chExt cx="4659935" cy="3835400"/>
          </a:xfrm>
        </p:grpSpPr>
        <p:sp>
          <p:nvSpPr>
            <p:cNvPr id="28" name="Line 28"/>
            <p:cNvSpPr/>
            <p:nvPr/>
          </p:nvSpPr>
          <p:spPr>
            <a:xfrm>
              <a:off x="6705600" y="1981200"/>
              <a:ext cx="9525" cy="3724275"/>
            </a:xfrm>
            <a:custGeom>
              <a:avLst/>
              <a:gdLst/>
              <a:ahLst/>
              <a:cxnLst/>
              <a:rect l="l" t="t" r="r" b="b"/>
              <a:pathLst>
                <a:path w="9525" h="3724275">
                  <a:moveTo>
                    <a:pt x="0" y="0"/>
                  </a:moveTo>
                  <a:lnTo>
                    <a:pt x="0" y="3724275"/>
                  </a:lnTo>
                </a:path>
              </a:pathLst>
            </a:custGeom>
            <a:noFill/>
            <a:ln w="19050">
              <a:solidFill>
                <a:schemeClr val="accent6"/>
              </a:solidFill>
            </a:ln>
          </p:spPr>
        </p:sp>
        <p:grpSp>
          <p:nvGrpSpPr>
            <p:cNvPr id="33" name="section-five"/>
            <p:cNvGrpSpPr/>
            <p:nvPr/>
          </p:nvGrpSpPr>
          <p:grpSpPr>
            <a:xfrm>
              <a:off x="6444234" y="1870075"/>
              <a:ext cx="3891116" cy="743458"/>
              <a:chOff x="6444234" y="1870075"/>
              <a:chExt cx="3891116" cy="743458"/>
            </a:xfrm>
          </p:grpSpPr>
          <p:sp>
            <p:nvSpPr>
              <p:cNvPr id="29" name="Rectangle 29"/>
              <p:cNvSpPr/>
              <p:nvPr/>
            </p:nvSpPr>
            <p:spPr>
              <a:xfrm>
                <a:off x="6457950" y="1885950"/>
                <a:ext cx="533400" cy="428625"/>
              </a:xfrm>
              <a:prstGeom prst="rect">
                <a:avLst/>
              </a:prstGeom>
              <a:solidFill>
                <a:schemeClr val="lt1"/>
              </a:solidFill>
              <a:ln>
                <a:noFill/>
              </a:ln>
            </p:spPr>
          </p:sp>
          <p:sp>
            <p:nvSpPr>
              <p:cNvPr id="30" name="TextBox 30"/>
              <p:cNvSpPr txBox="1"/>
              <p:nvPr/>
            </p:nvSpPr>
            <p:spPr>
              <a:xfrm>
                <a:off x="6444234" y="187007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05</a:t>
                </a:r>
              </a:p>
            </p:txBody>
          </p:sp>
          <p:sp>
            <p:nvSpPr>
              <p:cNvPr id="31" name="TextBox 31"/>
              <p:cNvSpPr txBox="1"/>
              <p:nvPr/>
            </p:nvSpPr>
            <p:spPr>
              <a:xfrm>
                <a:off x="7256907" y="1927225"/>
                <a:ext cx="3078443"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Mô hình và huấn luyện</a:t>
                </a:r>
              </a:p>
            </p:txBody>
          </p:sp>
          <p:sp>
            <p:nvSpPr>
              <p:cNvPr id="32" name="TextBox 32"/>
              <p:cNvSpPr txBox="1"/>
              <p:nvPr/>
            </p:nvSpPr>
            <p:spPr>
              <a:xfrm>
                <a:off x="7260717" y="2349500"/>
                <a:ext cx="98462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11–12</a:t>
                </a:r>
              </a:p>
            </p:txBody>
          </p:sp>
        </p:grpSp>
        <p:grpSp>
          <p:nvGrpSpPr>
            <p:cNvPr id="38" name="section-six"/>
            <p:cNvGrpSpPr/>
            <p:nvPr/>
          </p:nvGrpSpPr>
          <p:grpSpPr>
            <a:xfrm>
              <a:off x="6444234" y="2870200"/>
              <a:ext cx="3639539" cy="743458"/>
              <a:chOff x="6444234" y="2870200"/>
              <a:chExt cx="3639539" cy="743458"/>
            </a:xfrm>
          </p:grpSpPr>
          <p:sp>
            <p:nvSpPr>
              <p:cNvPr id="34" name="Rectangle 34"/>
              <p:cNvSpPr/>
              <p:nvPr/>
            </p:nvSpPr>
            <p:spPr>
              <a:xfrm>
                <a:off x="6457950" y="2886075"/>
                <a:ext cx="533400" cy="428625"/>
              </a:xfrm>
              <a:prstGeom prst="rect">
                <a:avLst/>
              </a:prstGeom>
              <a:solidFill>
                <a:schemeClr val="lt1"/>
              </a:solidFill>
              <a:ln>
                <a:noFill/>
              </a:ln>
            </p:spPr>
          </p:sp>
          <p:sp>
            <p:nvSpPr>
              <p:cNvPr id="35" name="TextBox 35"/>
              <p:cNvSpPr txBox="1"/>
              <p:nvPr/>
            </p:nvSpPr>
            <p:spPr>
              <a:xfrm>
                <a:off x="6444234" y="2870200"/>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06</a:t>
                </a:r>
              </a:p>
            </p:txBody>
          </p:sp>
          <p:sp>
            <p:nvSpPr>
              <p:cNvPr id="36" name="TextBox 36"/>
              <p:cNvSpPr txBox="1"/>
              <p:nvPr/>
            </p:nvSpPr>
            <p:spPr>
              <a:xfrm>
                <a:off x="7256907" y="2927350"/>
                <a:ext cx="2826866"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Kết quả thực nghiệm</a:t>
                </a:r>
              </a:p>
            </p:txBody>
          </p:sp>
          <p:sp>
            <p:nvSpPr>
              <p:cNvPr id="37" name="TextBox 37"/>
              <p:cNvSpPr txBox="1"/>
              <p:nvPr/>
            </p:nvSpPr>
            <p:spPr>
              <a:xfrm>
                <a:off x="7260717" y="3349625"/>
                <a:ext cx="98462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13–17</a:t>
                </a:r>
              </a:p>
            </p:txBody>
          </p:sp>
        </p:grpSp>
        <p:grpSp>
          <p:nvGrpSpPr>
            <p:cNvPr id="43" name="section-seven"/>
            <p:cNvGrpSpPr/>
            <p:nvPr/>
          </p:nvGrpSpPr>
          <p:grpSpPr>
            <a:xfrm>
              <a:off x="6444234" y="3870325"/>
              <a:ext cx="3530040" cy="743458"/>
              <a:chOff x="6444234" y="3870325"/>
              <a:chExt cx="3530040" cy="743458"/>
            </a:xfrm>
          </p:grpSpPr>
          <p:sp>
            <p:nvSpPr>
              <p:cNvPr id="39" name="Rectangle 39"/>
              <p:cNvSpPr/>
              <p:nvPr/>
            </p:nvSpPr>
            <p:spPr>
              <a:xfrm>
                <a:off x="6457950" y="3886200"/>
                <a:ext cx="533400" cy="428625"/>
              </a:xfrm>
              <a:prstGeom prst="rect">
                <a:avLst/>
              </a:prstGeom>
              <a:solidFill>
                <a:schemeClr val="lt1"/>
              </a:solidFill>
              <a:ln>
                <a:noFill/>
              </a:ln>
            </p:spPr>
          </p:sp>
          <p:sp>
            <p:nvSpPr>
              <p:cNvPr id="40" name="TextBox 40"/>
              <p:cNvSpPr txBox="1"/>
              <p:nvPr/>
            </p:nvSpPr>
            <p:spPr>
              <a:xfrm>
                <a:off x="6444234" y="387032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07</a:t>
                </a:r>
              </a:p>
            </p:txBody>
          </p:sp>
          <p:sp>
            <p:nvSpPr>
              <p:cNvPr id="41" name="TextBox 41"/>
              <p:cNvSpPr txBox="1"/>
              <p:nvPr/>
            </p:nvSpPr>
            <p:spPr>
              <a:xfrm>
                <a:off x="7256907" y="3927475"/>
                <a:ext cx="2717367"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Hạn chế nghiên cứu</a:t>
                </a:r>
              </a:p>
            </p:txBody>
          </p:sp>
          <p:sp>
            <p:nvSpPr>
              <p:cNvPr id="42" name="TextBox 42"/>
              <p:cNvSpPr txBox="1"/>
              <p:nvPr/>
            </p:nvSpPr>
            <p:spPr>
              <a:xfrm>
                <a:off x="7260717" y="4349750"/>
                <a:ext cx="677949"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18</a:t>
                </a:r>
              </a:p>
            </p:txBody>
          </p:sp>
        </p:grpSp>
        <p:grpSp>
          <p:nvGrpSpPr>
            <p:cNvPr id="48" name="section-eight"/>
            <p:cNvGrpSpPr/>
            <p:nvPr/>
          </p:nvGrpSpPr>
          <p:grpSpPr>
            <a:xfrm>
              <a:off x="6444234" y="4870450"/>
              <a:ext cx="4659935" cy="743458"/>
              <a:chOff x="6444234" y="4870450"/>
              <a:chExt cx="4659935" cy="743458"/>
            </a:xfrm>
          </p:grpSpPr>
          <p:sp>
            <p:nvSpPr>
              <p:cNvPr id="44" name="Rectangle 44"/>
              <p:cNvSpPr/>
              <p:nvPr/>
            </p:nvSpPr>
            <p:spPr>
              <a:xfrm>
                <a:off x="6457950" y="4886325"/>
                <a:ext cx="533400" cy="428625"/>
              </a:xfrm>
              <a:prstGeom prst="rect">
                <a:avLst/>
              </a:prstGeom>
              <a:solidFill>
                <a:schemeClr val="lt1"/>
              </a:solidFill>
              <a:ln>
                <a:noFill/>
              </a:ln>
            </p:spPr>
          </p:sp>
          <p:sp>
            <p:nvSpPr>
              <p:cNvPr id="45" name="TextBox 45"/>
              <p:cNvSpPr txBox="1"/>
              <p:nvPr/>
            </p:nvSpPr>
            <p:spPr>
              <a:xfrm>
                <a:off x="6444234" y="4870450"/>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08</a:t>
                </a:r>
              </a:p>
            </p:txBody>
          </p:sp>
          <p:sp>
            <p:nvSpPr>
              <p:cNvPr id="46" name="TextBox 46"/>
              <p:cNvSpPr txBox="1"/>
              <p:nvPr/>
            </p:nvSpPr>
            <p:spPr>
              <a:xfrm>
                <a:off x="7256907" y="4927600"/>
                <a:ext cx="3847262"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Kết luận và hướng phát triển</a:t>
                </a:r>
              </a:p>
            </p:txBody>
          </p:sp>
          <p:sp>
            <p:nvSpPr>
              <p:cNvPr id="47" name="TextBox 47"/>
              <p:cNvSpPr txBox="1"/>
              <p:nvPr/>
            </p:nvSpPr>
            <p:spPr>
              <a:xfrm>
                <a:off x="7260717" y="5349875"/>
                <a:ext cx="98462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Slide 19–20</a:t>
                </a:r>
              </a:p>
            </p:txBody>
          </p:sp>
        </p:grpSp>
      </p:grpSp>
      <p:grpSp>
        <p:nvGrpSpPr>
          <p:cNvPr id="52" name="source"/>
          <p:cNvGrpSpPr/>
          <p:nvPr/>
        </p:nvGrpSpPr>
        <p:grpSpPr>
          <a:xfrm>
            <a:off x="528638" y="6467475"/>
            <a:ext cx="11129962" cy="261937"/>
            <a:chOff x="528638" y="6467475"/>
            <a:chExt cx="11129962" cy="261937"/>
          </a:xfrm>
        </p:grpSpPr>
        <p:sp>
          <p:nvSpPr>
            <p:cNvPr id="50" name="Line 50"/>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51" name="TextBox 51"/>
            <p:cNvSpPr txBox="1"/>
            <p:nvPr/>
          </p:nvSpPr>
          <p:spPr>
            <a:xfrm>
              <a:off x="528638" y="6553200"/>
              <a:ext cx="4471997"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RDD2022 · Đánh giá hai chiều trên cùng tập đích · Bản trình bày nghiên cứu, 2026</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1222271"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01 · ĐẶT VẤN ĐỀ</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03</a:t>
              </a:r>
            </a:p>
          </p:txBody>
        </p:sp>
        <p:sp>
          <p:nvSpPr>
            <p:cNvPr id="4" name="TextBox 4"/>
            <p:cNvSpPr txBox="1"/>
            <p:nvPr/>
          </p:nvSpPr>
          <p:spPr>
            <a:xfrm>
              <a:off x="518160" y="593725"/>
              <a:ext cx="10176269"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Đổi nền tảng thu nhận làm thay đổi bối cảnh quan sát</a:t>
              </a:r>
            </a:p>
          </p:txBody>
        </p:sp>
      </p:grpSp>
      <p:grpSp>
        <p:nvGrpSpPr>
          <p:cNvPr id="8" name="drone-evidence"/>
          <p:cNvGrpSpPr/>
          <p:nvPr/>
        </p:nvGrpSpPr>
        <p:grpSpPr>
          <a:xfrm>
            <a:off x="525018" y="1752600"/>
            <a:ext cx="3513582" cy="4005707"/>
            <a:chOff x="525018" y="1752600"/>
            <a:chExt cx="3513582" cy="4005707"/>
          </a:xfrm>
        </p:grpSpPr>
        <p:pic>
          <p:nvPicPr>
            <p:cNvPr id="6" name="Image 6"/>
            <p:cNvPicPr>
              <a:picLocks noChangeAspect="1"/>
            </p:cNvPicPr>
            <p:nvPr/>
          </p:nvPicPr>
          <p:blipFill>
            <a:blip r:embed="rId2"/>
            <a:stretch>
              <a:fillRect/>
            </a:stretch>
          </p:blipFill>
          <p:spPr>
            <a:xfrm>
              <a:off x="533400" y="1752600"/>
              <a:ext cx="3505200" cy="3505200"/>
            </a:xfrm>
            <a:prstGeom prst="rect">
              <a:avLst/>
            </a:prstGeom>
          </p:spPr>
        </p:pic>
        <p:sp>
          <p:nvSpPr>
            <p:cNvPr id="7" name="TextBox 7"/>
            <p:cNvSpPr txBox="1"/>
            <p:nvPr/>
          </p:nvSpPr>
          <p:spPr>
            <a:xfrm>
              <a:off x="525018" y="5435600"/>
              <a:ext cx="2541822"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Drone · góc nhìn từ trên</a:t>
              </a:r>
            </a:p>
          </p:txBody>
        </p:sp>
      </p:grpSp>
      <p:grpSp>
        <p:nvGrpSpPr>
          <p:cNvPr id="11" name="motorbike-evidence"/>
          <p:cNvGrpSpPr/>
          <p:nvPr/>
        </p:nvGrpSpPr>
        <p:grpSpPr>
          <a:xfrm>
            <a:off x="4468368" y="1752600"/>
            <a:ext cx="3513582" cy="4005707"/>
            <a:chOff x="4468368" y="1752600"/>
            <a:chExt cx="3513582" cy="4005707"/>
          </a:xfrm>
        </p:grpSpPr>
        <p:pic>
          <p:nvPicPr>
            <p:cNvPr id="9" name="Image 9"/>
            <p:cNvPicPr>
              <a:picLocks noChangeAspect="1"/>
            </p:cNvPicPr>
            <p:nvPr/>
          </p:nvPicPr>
          <p:blipFill>
            <a:blip r:embed="rId3"/>
            <a:stretch>
              <a:fillRect/>
            </a:stretch>
          </p:blipFill>
          <p:spPr>
            <a:xfrm>
              <a:off x="4476750" y="1752600"/>
              <a:ext cx="3505200" cy="3505200"/>
            </a:xfrm>
            <a:prstGeom prst="rect">
              <a:avLst/>
            </a:prstGeom>
          </p:spPr>
        </p:pic>
        <p:sp>
          <p:nvSpPr>
            <p:cNvPr id="10" name="TextBox 10"/>
            <p:cNvSpPr txBox="1"/>
            <p:nvPr/>
          </p:nvSpPr>
          <p:spPr>
            <a:xfrm>
              <a:off x="4468368" y="5435600"/>
              <a:ext cx="3438329"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MotorBike · góc nhìn mặt đường</a:t>
              </a:r>
            </a:p>
          </p:txBody>
        </p:sp>
      </p:grpSp>
      <p:grpSp>
        <p:nvGrpSpPr>
          <p:cNvPr id="17" name="domain-comparison"/>
          <p:cNvGrpSpPr/>
          <p:nvPr/>
        </p:nvGrpSpPr>
        <p:grpSpPr>
          <a:xfrm>
            <a:off x="8610600" y="1752600"/>
            <a:ext cx="2219125" cy="3562350"/>
            <a:chOff x="8610600" y="1752600"/>
            <a:chExt cx="2219125" cy="3562350"/>
          </a:xfrm>
        </p:grpSpPr>
        <p:sp>
          <p:nvSpPr>
            <p:cNvPr id="12" name="Line 12"/>
            <p:cNvSpPr/>
            <p:nvPr/>
          </p:nvSpPr>
          <p:spPr>
            <a:xfrm>
              <a:off x="8610600" y="1752600"/>
              <a:ext cx="9525" cy="3562350"/>
            </a:xfrm>
            <a:custGeom>
              <a:avLst/>
              <a:gdLst/>
              <a:ahLst/>
              <a:cxnLst/>
              <a:rect l="l" t="t" r="r" b="b"/>
              <a:pathLst>
                <a:path w="9525" h="3562350">
                  <a:moveTo>
                    <a:pt x="0" y="0"/>
                  </a:moveTo>
                  <a:lnTo>
                    <a:pt x="0" y="3562350"/>
                  </a:lnTo>
                </a:path>
              </a:pathLst>
            </a:custGeom>
            <a:noFill/>
            <a:ln w="19050">
              <a:solidFill>
                <a:schemeClr val="accent6"/>
              </a:solidFill>
            </a:ln>
          </p:spPr>
        </p:sp>
        <p:sp>
          <p:nvSpPr>
            <p:cNvPr id="13" name="TextBox 13"/>
            <p:cNvSpPr txBox="1"/>
            <p:nvPr/>
          </p:nvSpPr>
          <p:spPr>
            <a:xfrm>
              <a:off x="8914257" y="2127250"/>
              <a:ext cx="1915468"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Cùng bài toán</a:t>
              </a:r>
            </a:p>
          </p:txBody>
        </p:sp>
        <p:sp>
          <p:nvSpPr>
            <p:cNvPr id="14" name="TextBox 14"/>
            <p:cNvSpPr txBox="1"/>
            <p:nvPr/>
          </p:nvSpPr>
          <p:spPr>
            <a:xfrm>
              <a:off x="8914764" y="2987675"/>
              <a:ext cx="1750648"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Khác góc nhìn</a:t>
              </a:r>
            </a:p>
          </p:txBody>
        </p:sp>
        <p:sp>
          <p:nvSpPr>
            <p:cNvPr id="15" name="TextBox 15"/>
            <p:cNvSpPr txBox="1"/>
            <p:nvPr/>
          </p:nvSpPr>
          <p:spPr>
            <a:xfrm>
              <a:off x="8914764" y="3654425"/>
              <a:ext cx="1301700"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Khác cảnh</a:t>
              </a:r>
            </a:p>
          </p:txBody>
        </p:sp>
        <p:sp>
          <p:nvSpPr>
            <p:cNvPr id="16" name="TextBox 16"/>
            <p:cNvSpPr txBox="1"/>
            <p:nvPr/>
          </p:nvSpPr>
          <p:spPr>
            <a:xfrm>
              <a:off x="8914764" y="4308475"/>
              <a:ext cx="1823222" cy="724584"/>
            </a:xfrm>
            <a:prstGeom prst="rect">
              <a:avLst/>
            </a:prstGeom>
            <a:noFill/>
            <a:ln>
              <a:noFill/>
            </a:ln>
          </p:spPr>
          <p:txBody>
            <a:bodyPr wrap="none" lIns="0" tIns="0" rIns="0" bIns="0" anchor="t" anchorCtr="0">
              <a:spAutoFit/>
            </a:bodyPr>
            <a:lstStyle/>
            <a:p>
              <a:pPr algn="l">
                <a:lnSpc>
                  <a:spcPts val="2625"/>
                </a:lnSpc>
              </a:pPr>
              <a:r>
                <a:rPr lang="vi-VN" sz="2000" dirty="0">
                  <a:solidFill>
                    <a:schemeClr val="dk1"/>
                  </a:solidFill>
                  <a:latin typeface="+mn-lt"/>
                  <a:ea typeface="+mn-ea"/>
                  <a:cs typeface="+mn-cs"/>
                </a:rPr>
                <a:t>Khác phân bố</a:t>
              </a:r>
              <a:br>
                <a:rPr lang="vi-VN" sz="2000" dirty="0">
                  <a:solidFill>
                    <a:schemeClr val="dk1"/>
                  </a:solidFill>
                  <a:latin typeface="+mn-lt"/>
                  <a:ea typeface="+mn-ea"/>
                  <a:cs typeface="+mn-cs"/>
                </a:rPr>
              </a:br>
              <a:r>
                <a:rPr lang="vi-VN" sz="2000" dirty="0">
                  <a:solidFill>
                    <a:schemeClr val="dk1"/>
                  </a:solidFill>
                  <a:latin typeface="+mn-lt"/>
                  <a:ea typeface="+mn-ea"/>
                  <a:cs typeface="+mn-cs"/>
                </a:rPr>
                <a:t>dữ liệu</a:t>
              </a:r>
            </a:p>
          </p:txBody>
        </p:sp>
      </p:grpSp>
      <p:grpSp>
        <p:nvGrpSpPr>
          <p:cNvPr id="20" name="takeaway"/>
          <p:cNvGrpSpPr/>
          <p:nvPr/>
        </p:nvGrpSpPr>
        <p:grpSpPr>
          <a:xfrm>
            <a:off x="533400" y="5991225"/>
            <a:ext cx="10421833" cy="338582"/>
            <a:chOff x="533400" y="5991225"/>
            <a:chExt cx="10421833" cy="338582"/>
          </a:xfrm>
        </p:grpSpPr>
        <p:sp>
          <p:nvSpPr>
            <p:cNvPr id="18" name="Line 18"/>
            <p:cNvSpPr/>
            <p:nvPr/>
          </p:nvSpPr>
          <p:spPr>
            <a:xfrm>
              <a:off x="533400" y="5991225"/>
              <a:ext cx="9525" cy="295275"/>
            </a:xfrm>
            <a:custGeom>
              <a:avLst/>
              <a:gdLst/>
              <a:ahLst/>
              <a:cxnLst/>
              <a:rect l="l" t="t" r="r" b="b"/>
              <a:pathLst>
                <a:path w="9525" h="295275">
                  <a:moveTo>
                    <a:pt x="0" y="0"/>
                  </a:moveTo>
                  <a:lnTo>
                    <a:pt x="0" y="295275"/>
                  </a:lnTo>
                </a:path>
              </a:pathLst>
            </a:custGeom>
            <a:noFill/>
            <a:ln w="38100">
              <a:solidFill>
                <a:schemeClr val="accent2"/>
              </a:solidFill>
            </a:ln>
          </p:spPr>
        </p:sp>
        <p:sp>
          <p:nvSpPr>
            <p:cNvPr id="19" name="TextBox 19"/>
            <p:cNvSpPr txBox="1"/>
            <p:nvPr/>
          </p:nvSpPr>
          <p:spPr>
            <a:xfrm>
              <a:off x="686943" y="6007100"/>
              <a:ext cx="10268290"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Hiệu năng trên dữ liệu giống miền huấn luyện chưa đủ để bảo đảm khi triển khai sang miền khác.</a:t>
              </a:r>
            </a:p>
          </p:txBody>
        </p:sp>
      </p:grpSp>
      <p:grpSp>
        <p:nvGrpSpPr>
          <p:cNvPr id="23" name="source"/>
          <p:cNvGrpSpPr/>
          <p:nvPr/>
        </p:nvGrpSpPr>
        <p:grpSpPr>
          <a:xfrm>
            <a:off x="528638" y="6467475"/>
            <a:ext cx="11129962" cy="261937"/>
            <a:chOff x="528638" y="6467475"/>
            <a:chExt cx="11129962" cy="261937"/>
          </a:xfrm>
        </p:grpSpPr>
        <p:sp>
          <p:nvSpPr>
            <p:cNvPr id="21" name="Line 21"/>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22" name="TextBox 22"/>
            <p:cNvSpPr txBox="1"/>
            <p:nvPr/>
          </p:nvSpPr>
          <p:spPr>
            <a:xfrm>
              <a:off x="528638" y="6553200"/>
              <a:ext cx="4842789"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ảnh: YOLO11n D13/M13, run/val_batch0_labels.jpg · Ví dụ validation có nhãn gốc</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1222271"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01 · ĐẶT VẤN ĐỀ</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04</a:t>
              </a:r>
            </a:p>
          </p:txBody>
        </p:sp>
        <p:sp>
          <p:nvSpPr>
            <p:cNvPr id="4" name="TextBox 4"/>
            <p:cNvSpPr txBox="1"/>
            <p:nvPr/>
          </p:nvSpPr>
          <p:spPr>
            <a:xfrm>
              <a:off x="518160" y="593725"/>
              <a:ext cx="9013155"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Bốn câu hỏi cần trả lời bằng cùng một giao thức</a:t>
              </a:r>
            </a:p>
          </p:txBody>
        </p:sp>
      </p:grpSp>
      <p:grpSp>
        <p:nvGrpSpPr>
          <p:cNvPr id="21" name="research-questions"/>
          <p:cNvGrpSpPr/>
          <p:nvPr/>
        </p:nvGrpSpPr>
        <p:grpSpPr>
          <a:xfrm>
            <a:off x="519684" y="1870075"/>
            <a:ext cx="11138916" cy="3385566"/>
            <a:chOff x="519684" y="1870075"/>
            <a:chExt cx="11138916" cy="3385566"/>
          </a:xfrm>
        </p:grpSpPr>
        <p:grpSp>
          <p:nvGrpSpPr>
            <p:cNvPr id="9" name="rq-one"/>
            <p:cNvGrpSpPr/>
            <p:nvPr/>
          </p:nvGrpSpPr>
          <p:grpSpPr>
            <a:xfrm>
              <a:off x="519684" y="1870075"/>
              <a:ext cx="11138916" cy="663575"/>
              <a:chOff x="519684" y="1870075"/>
              <a:chExt cx="11138916" cy="663575"/>
            </a:xfrm>
          </p:grpSpPr>
          <p:sp>
            <p:nvSpPr>
              <p:cNvPr id="6" name="TextBox 6"/>
              <p:cNvSpPr txBox="1"/>
              <p:nvPr/>
            </p:nvSpPr>
            <p:spPr>
              <a:xfrm>
                <a:off x="519684" y="1870075"/>
                <a:ext cx="817111" cy="528066"/>
              </a:xfrm>
              <a:prstGeom prst="rect">
                <a:avLst/>
              </a:prstGeom>
              <a:noFill/>
              <a:ln>
                <a:noFill/>
              </a:ln>
            </p:spPr>
            <p:txBody>
              <a:bodyPr wrap="none" lIns="0" tIns="0" rIns="0" bIns="0" anchor="t" anchorCtr="0">
                <a:spAutoFit/>
              </a:bodyPr>
              <a:lstStyle/>
              <a:p>
                <a:pPr algn="l"/>
                <a:r>
                  <a:rPr lang="vi-VN" sz="2700" b="1" dirty="0">
                    <a:solidFill>
                      <a:schemeClr val="accent2"/>
                    </a:solidFill>
                    <a:latin typeface="+mn-lt"/>
                    <a:ea typeface="+mn-ea"/>
                    <a:cs typeface="+mn-cs"/>
                  </a:rPr>
                  <a:t>RQ1</a:t>
                </a:r>
              </a:p>
            </p:txBody>
          </p:sp>
          <p:sp>
            <p:nvSpPr>
              <p:cNvPr id="7" name="TextBox 7"/>
              <p:cNvSpPr txBox="1"/>
              <p:nvPr/>
            </p:nvSpPr>
            <p:spPr>
              <a:xfrm>
                <a:off x="1989582" y="1936750"/>
                <a:ext cx="7025319"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Gap lớn bao nhiêu và có bất đối xứng giữa hai tập đích?</a:t>
                </a:r>
              </a:p>
            </p:txBody>
          </p:sp>
          <p:sp>
            <p:nvSpPr>
              <p:cNvPr id="8" name="Line 8"/>
              <p:cNvSpPr/>
              <p:nvPr/>
            </p:nvSpPr>
            <p:spPr>
              <a:xfrm>
                <a:off x="2000250" y="2524125"/>
                <a:ext cx="9658350" cy="9525"/>
              </a:xfrm>
              <a:custGeom>
                <a:avLst/>
                <a:gdLst/>
                <a:ahLst/>
                <a:cxnLst/>
                <a:rect l="l" t="t" r="r" b="b"/>
                <a:pathLst>
                  <a:path w="9658350" h="9525">
                    <a:moveTo>
                      <a:pt x="0" y="0"/>
                    </a:moveTo>
                    <a:lnTo>
                      <a:pt x="9658350" y="0"/>
                    </a:lnTo>
                  </a:path>
                </a:pathLst>
              </a:custGeom>
              <a:noFill/>
              <a:ln w="9525">
                <a:solidFill>
                  <a:schemeClr val="accent6"/>
                </a:solidFill>
              </a:ln>
            </p:spPr>
          </p:sp>
        </p:grpSp>
        <p:grpSp>
          <p:nvGrpSpPr>
            <p:cNvPr id="13" name="rq-two"/>
            <p:cNvGrpSpPr/>
            <p:nvPr/>
          </p:nvGrpSpPr>
          <p:grpSpPr>
            <a:xfrm>
              <a:off x="519684" y="2822575"/>
              <a:ext cx="11138916" cy="663575"/>
              <a:chOff x="519684" y="2822575"/>
              <a:chExt cx="11138916" cy="663575"/>
            </a:xfrm>
          </p:grpSpPr>
          <p:sp>
            <p:nvSpPr>
              <p:cNvPr id="10" name="TextBox 10"/>
              <p:cNvSpPr txBox="1"/>
              <p:nvPr/>
            </p:nvSpPr>
            <p:spPr>
              <a:xfrm>
                <a:off x="519684" y="2822575"/>
                <a:ext cx="817111" cy="528066"/>
              </a:xfrm>
              <a:prstGeom prst="rect">
                <a:avLst/>
              </a:prstGeom>
              <a:noFill/>
              <a:ln>
                <a:noFill/>
              </a:ln>
            </p:spPr>
            <p:txBody>
              <a:bodyPr wrap="none" lIns="0" tIns="0" rIns="0" bIns="0" anchor="t" anchorCtr="0">
                <a:spAutoFit/>
              </a:bodyPr>
              <a:lstStyle/>
              <a:p>
                <a:pPr algn="l"/>
                <a:r>
                  <a:rPr lang="vi-VN" sz="2700" b="1" dirty="0">
                    <a:solidFill>
                      <a:schemeClr val="accent2"/>
                    </a:solidFill>
                    <a:latin typeface="+mn-lt"/>
                    <a:ea typeface="+mn-ea"/>
                    <a:cs typeface="+mn-cs"/>
                  </a:rPr>
                  <a:t>RQ2</a:t>
                </a:r>
              </a:p>
            </p:txBody>
          </p:sp>
          <p:sp>
            <p:nvSpPr>
              <p:cNvPr id="11" name="TextBox 11"/>
              <p:cNvSpPr txBox="1"/>
              <p:nvPr/>
            </p:nvSpPr>
            <p:spPr>
              <a:xfrm>
                <a:off x="1989582" y="2889250"/>
                <a:ext cx="6947282"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Chiều và độ lớn gap có ổn định qua seed và ba model?</a:t>
                </a:r>
              </a:p>
            </p:txBody>
          </p:sp>
          <p:sp>
            <p:nvSpPr>
              <p:cNvPr id="12" name="Line 12"/>
              <p:cNvSpPr/>
              <p:nvPr/>
            </p:nvSpPr>
            <p:spPr>
              <a:xfrm>
                <a:off x="2000250" y="3476625"/>
                <a:ext cx="9658350" cy="9525"/>
              </a:xfrm>
              <a:custGeom>
                <a:avLst/>
                <a:gdLst/>
                <a:ahLst/>
                <a:cxnLst/>
                <a:rect l="l" t="t" r="r" b="b"/>
                <a:pathLst>
                  <a:path w="9658350" h="9525">
                    <a:moveTo>
                      <a:pt x="0" y="0"/>
                    </a:moveTo>
                    <a:lnTo>
                      <a:pt x="9658350" y="0"/>
                    </a:lnTo>
                  </a:path>
                </a:pathLst>
              </a:custGeom>
              <a:noFill/>
              <a:ln w="9525">
                <a:solidFill>
                  <a:schemeClr val="accent6"/>
                </a:solidFill>
              </a:ln>
            </p:spPr>
          </p:sp>
        </p:grpSp>
        <p:grpSp>
          <p:nvGrpSpPr>
            <p:cNvPr id="17" name="rq-three"/>
            <p:cNvGrpSpPr/>
            <p:nvPr/>
          </p:nvGrpSpPr>
          <p:grpSpPr>
            <a:xfrm>
              <a:off x="519684" y="3775075"/>
              <a:ext cx="11138916" cy="663575"/>
              <a:chOff x="519684" y="3775075"/>
              <a:chExt cx="11138916" cy="663575"/>
            </a:xfrm>
          </p:grpSpPr>
          <p:sp>
            <p:nvSpPr>
              <p:cNvPr id="14" name="TextBox 14"/>
              <p:cNvSpPr txBox="1"/>
              <p:nvPr/>
            </p:nvSpPr>
            <p:spPr>
              <a:xfrm>
                <a:off x="519684" y="3775075"/>
                <a:ext cx="817111" cy="528066"/>
              </a:xfrm>
              <a:prstGeom prst="rect">
                <a:avLst/>
              </a:prstGeom>
              <a:noFill/>
              <a:ln>
                <a:noFill/>
              </a:ln>
            </p:spPr>
            <p:txBody>
              <a:bodyPr wrap="none" lIns="0" tIns="0" rIns="0" bIns="0" anchor="t" anchorCtr="0">
                <a:spAutoFit/>
              </a:bodyPr>
              <a:lstStyle/>
              <a:p>
                <a:pPr algn="l"/>
                <a:r>
                  <a:rPr lang="vi-VN" sz="2700" b="1" dirty="0">
                    <a:solidFill>
                      <a:schemeClr val="accent2"/>
                    </a:solidFill>
                    <a:latin typeface="+mn-lt"/>
                    <a:ea typeface="+mn-ea"/>
                    <a:cs typeface="+mn-cs"/>
                  </a:rPr>
                  <a:t>RQ3</a:t>
                </a:r>
              </a:p>
            </p:txBody>
          </p:sp>
          <p:sp>
            <p:nvSpPr>
              <p:cNvPr id="15" name="TextBox 15"/>
              <p:cNvSpPr txBox="1"/>
              <p:nvPr/>
            </p:nvSpPr>
            <p:spPr>
              <a:xfrm>
                <a:off x="1989582" y="3841750"/>
                <a:ext cx="6944948"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D00, D10, D20, D40 suy giảm khác nhau như thế nào?</a:t>
                </a:r>
              </a:p>
            </p:txBody>
          </p:sp>
          <p:sp>
            <p:nvSpPr>
              <p:cNvPr id="16" name="Line 16"/>
              <p:cNvSpPr/>
              <p:nvPr/>
            </p:nvSpPr>
            <p:spPr>
              <a:xfrm>
                <a:off x="2000250" y="4429125"/>
                <a:ext cx="9658350" cy="9525"/>
              </a:xfrm>
              <a:custGeom>
                <a:avLst/>
                <a:gdLst/>
                <a:ahLst/>
                <a:cxnLst/>
                <a:rect l="l" t="t" r="r" b="b"/>
                <a:pathLst>
                  <a:path w="9658350" h="9525">
                    <a:moveTo>
                      <a:pt x="0" y="0"/>
                    </a:moveTo>
                    <a:lnTo>
                      <a:pt x="9658350" y="0"/>
                    </a:lnTo>
                  </a:path>
                </a:pathLst>
              </a:custGeom>
              <a:noFill/>
              <a:ln w="9525">
                <a:solidFill>
                  <a:schemeClr val="accent6"/>
                </a:solidFill>
              </a:ln>
            </p:spPr>
          </p:sp>
        </p:grpSp>
        <p:grpSp>
          <p:nvGrpSpPr>
            <p:cNvPr id="20" name="rq-four"/>
            <p:cNvGrpSpPr/>
            <p:nvPr/>
          </p:nvGrpSpPr>
          <p:grpSpPr>
            <a:xfrm>
              <a:off x="519684" y="4727575"/>
              <a:ext cx="8556993" cy="528066"/>
              <a:chOff x="519684" y="4727575"/>
              <a:chExt cx="8556993" cy="528066"/>
            </a:xfrm>
          </p:grpSpPr>
          <p:sp>
            <p:nvSpPr>
              <p:cNvPr id="18" name="TextBox 18"/>
              <p:cNvSpPr txBox="1"/>
              <p:nvPr/>
            </p:nvSpPr>
            <p:spPr>
              <a:xfrm>
                <a:off x="519684" y="4727575"/>
                <a:ext cx="817111" cy="528066"/>
              </a:xfrm>
              <a:prstGeom prst="rect">
                <a:avLst/>
              </a:prstGeom>
              <a:noFill/>
              <a:ln>
                <a:noFill/>
              </a:ln>
            </p:spPr>
            <p:txBody>
              <a:bodyPr wrap="none" lIns="0" tIns="0" rIns="0" bIns="0" anchor="t" anchorCtr="0">
                <a:spAutoFit/>
              </a:bodyPr>
              <a:lstStyle/>
              <a:p>
                <a:pPr algn="l"/>
                <a:r>
                  <a:rPr lang="vi-VN" sz="2700" b="1" dirty="0">
                    <a:solidFill>
                      <a:schemeClr val="accent3"/>
                    </a:solidFill>
                    <a:latin typeface="+mn-lt"/>
                    <a:ea typeface="+mn-ea"/>
                    <a:cs typeface="+mn-cs"/>
                  </a:rPr>
                  <a:t>RQ4</a:t>
                </a:r>
              </a:p>
            </p:txBody>
          </p:sp>
          <p:sp>
            <p:nvSpPr>
              <p:cNvPr id="19" name="TextBox 19"/>
              <p:cNvSpPr txBox="1"/>
              <p:nvPr/>
            </p:nvSpPr>
            <p:spPr>
              <a:xfrm>
                <a:off x="1989582" y="4794250"/>
                <a:ext cx="7087095"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YOLO26n tăng độ chính xác tuyệt đối có làm giảm gap?</a:t>
                </a:r>
              </a:p>
            </p:txBody>
          </p:sp>
        </p:grpSp>
      </p:grpSp>
      <p:grpSp>
        <p:nvGrpSpPr>
          <p:cNvPr id="24" name="hypothesis"/>
          <p:cNvGrpSpPr/>
          <p:nvPr/>
        </p:nvGrpSpPr>
        <p:grpSpPr>
          <a:xfrm>
            <a:off x="533400" y="5772150"/>
            <a:ext cx="11125200" cy="552450"/>
            <a:chOff x="533400" y="5772150"/>
            <a:chExt cx="11125200" cy="552450"/>
          </a:xfrm>
        </p:grpSpPr>
        <p:sp>
          <p:nvSpPr>
            <p:cNvPr id="22" name="Rectangle 22"/>
            <p:cNvSpPr/>
            <p:nvPr/>
          </p:nvSpPr>
          <p:spPr>
            <a:xfrm>
              <a:off x="533400" y="5772150"/>
              <a:ext cx="11125200" cy="552450"/>
            </a:xfrm>
            <a:prstGeom prst="rect">
              <a:avLst/>
            </a:prstGeom>
            <a:solidFill>
              <a:schemeClr val="lt2"/>
            </a:solidFill>
            <a:ln>
              <a:noFill/>
            </a:ln>
          </p:spPr>
        </p:sp>
        <p:sp>
          <p:nvSpPr>
            <p:cNvPr id="23" name="TextBox 23"/>
            <p:cNvSpPr txBox="1"/>
            <p:nvPr/>
          </p:nvSpPr>
          <p:spPr>
            <a:xfrm>
              <a:off x="715518" y="5911850"/>
              <a:ext cx="10156463"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Giả thuyết kiểm tra: huấn luyện trên miền đích có lợi thế dương khi đánh giá trên cùng ảnh đích.</a:t>
              </a:r>
            </a:p>
          </p:txBody>
        </p:sp>
      </p:grpSp>
      <p:grpSp>
        <p:nvGrpSpPr>
          <p:cNvPr id="27" name="source"/>
          <p:cNvGrpSpPr/>
          <p:nvPr/>
        </p:nvGrpSpPr>
        <p:grpSpPr>
          <a:xfrm>
            <a:off x="528638" y="6467475"/>
            <a:ext cx="11129962" cy="261937"/>
            <a:chOff x="528638" y="6467475"/>
            <a:chExt cx="11129962" cy="261937"/>
          </a:xfrm>
        </p:grpSpPr>
        <p:sp>
          <p:nvSpPr>
            <p:cNvPr id="25" name="Line 25"/>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26" name="TextBox 26"/>
            <p:cNvSpPr txBox="1"/>
            <p:nvPr/>
          </p:nvSpPr>
          <p:spPr>
            <a:xfrm>
              <a:off x="528638" y="6553200"/>
              <a:ext cx="2274850"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hiện tại, phần I · RQ1–RQ4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01876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02 · MỤC TIÊU NGHIÊN CỨU</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05</a:t>
              </a:r>
            </a:p>
          </p:txBody>
        </p:sp>
        <p:sp>
          <p:nvSpPr>
            <p:cNvPr id="4" name="TextBox 4"/>
            <p:cNvSpPr txBox="1"/>
            <p:nvPr/>
          </p:nvSpPr>
          <p:spPr>
            <a:xfrm>
              <a:off x="518160" y="593725"/>
              <a:ext cx="10471134"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Định lượng khả năng chuyển miền, kiểm tra tính lặp lại</a:t>
              </a:r>
            </a:p>
          </p:txBody>
        </p:sp>
      </p:grpSp>
      <p:grpSp>
        <p:nvGrpSpPr>
          <p:cNvPr id="21" name="objectives"/>
          <p:cNvGrpSpPr/>
          <p:nvPr/>
        </p:nvGrpSpPr>
        <p:grpSpPr>
          <a:xfrm>
            <a:off x="522732" y="1927225"/>
            <a:ext cx="11135868" cy="2953893"/>
            <a:chOff x="522732" y="1927225"/>
            <a:chExt cx="11135868" cy="2953893"/>
          </a:xfrm>
        </p:grpSpPr>
        <p:grpSp>
          <p:nvGrpSpPr>
            <p:cNvPr id="9" name="bidirectional"/>
            <p:cNvGrpSpPr/>
            <p:nvPr/>
          </p:nvGrpSpPr>
          <p:grpSpPr>
            <a:xfrm>
              <a:off x="522732" y="1927225"/>
              <a:ext cx="11135868" cy="596900"/>
              <a:chOff x="522732" y="1927225"/>
              <a:chExt cx="11135868" cy="596900"/>
            </a:xfrm>
          </p:grpSpPr>
          <p:sp>
            <p:nvSpPr>
              <p:cNvPr id="6" name="TextBox 6"/>
              <p:cNvSpPr txBox="1"/>
              <p:nvPr/>
            </p:nvSpPr>
            <p:spPr>
              <a:xfrm>
                <a:off x="522732" y="1927225"/>
                <a:ext cx="1711569"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Đo hai chiều</a:t>
                </a:r>
              </a:p>
            </p:txBody>
          </p:sp>
          <p:sp>
            <p:nvSpPr>
              <p:cNvPr id="7" name="TextBox 7"/>
              <p:cNvSpPr txBox="1"/>
              <p:nvPr/>
            </p:nvSpPr>
            <p:spPr>
              <a:xfrm>
                <a:off x="4914264" y="1939925"/>
                <a:ext cx="4534417"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Giữ cố định từng tập đích khi so sánh.</a:t>
                </a:r>
              </a:p>
            </p:txBody>
          </p:sp>
          <p:sp>
            <p:nvSpPr>
              <p:cNvPr id="8" name="Line 8"/>
              <p:cNvSpPr/>
              <p:nvPr/>
            </p:nvSpPr>
            <p:spPr>
              <a:xfrm>
                <a:off x="533400" y="2514600"/>
                <a:ext cx="11125200" cy="9525"/>
              </a:xfrm>
              <a:custGeom>
                <a:avLst/>
                <a:gdLst/>
                <a:ahLst/>
                <a:cxnLst/>
                <a:rect l="l" t="t" r="r" b="b"/>
                <a:pathLst>
                  <a:path w="11125200" h="9525">
                    <a:moveTo>
                      <a:pt x="0" y="0"/>
                    </a:moveTo>
                    <a:lnTo>
                      <a:pt x="11125200" y="0"/>
                    </a:lnTo>
                  </a:path>
                </a:pathLst>
              </a:custGeom>
              <a:noFill/>
              <a:ln w="9525">
                <a:solidFill>
                  <a:schemeClr val="accent6"/>
                </a:solidFill>
              </a:ln>
            </p:spPr>
          </p:sp>
        </p:grpSp>
        <p:grpSp>
          <p:nvGrpSpPr>
            <p:cNvPr id="13" name="stability"/>
            <p:cNvGrpSpPr/>
            <p:nvPr/>
          </p:nvGrpSpPr>
          <p:grpSpPr>
            <a:xfrm>
              <a:off x="522732" y="2774950"/>
              <a:ext cx="11135868" cy="596900"/>
              <a:chOff x="522732" y="2774950"/>
              <a:chExt cx="11135868" cy="596900"/>
            </a:xfrm>
          </p:grpSpPr>
          <p:sp>
            <p:nvSpPr>
              <p:cNvPr id="10" name="TextBox 10"/>
              <p:cNvSpPr txBox="1"/>
              <p:nvPr/>
            </p:nvSpPr>
            <p:spPr>
              <a:xfrm>
                <a:off x="522732" y="2774950"/>
                <a:ext cx="2685471"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Kiểm tra độ ổn định</a:t>
                </a:r>
              </a:p>
            </p:txBody>
          </p:sp>
          <p:sp>
            <p:nvSpPr>
              <p:cNvPr id="11" name="TextBox 11"/>
              <p:cNvSpPr txBox="1"/>
              <p:nvPr/>
            </p:nvSpPr>
            <p:spPr>
              <a:xfrm>
                <a:off x="4914264" y="2787650"/>
                <a:ext cx="4927646"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Ghép cặp seed 13, 37, 71 trên ba model.</a:t>
                </a:r>
              </a:p>
            </p:txBody>
          </p:sp>
          <p:sp>
            <p:nvSpPr>
              <p:cNvPr id="12" name="Line 12"/>
              <p:cNvSpPr/>
              <p:nvPr/>
            </p:nvSpPr>
            <p:spPr>
              <a:xfrm>
                <a:off x="533400" y="3362325"/>
                <a:ext cx="11125200" cy="9525"/>
              </a:xfrm>
              <a:custGeom>
                <a:avLst/>
                <a:gdLst/>
                <a:ahLst/>
                <a:cxnLst/>
                <a:rect l="l" t="t" r="r" b="b"/>
                <a:pathLst>
                  <a:path w="11125200" h="9525">
                    <a:moveTo>
                      <a:pt x="0" y="0"/>
                    </a:moveTo>
                    <a:lnTo>
                      <a:pt x="11125200" y="0"/>
                    </a:lnTo>
                  </a:path>
                </a:pathLst>
              </a:custGeom>
              <a:noFill/>
              <a:ln w="9525">
                <a:solidFill>
                  <a:schemeClr val="accent6"/>
                </a:solidFill>
              </a:ln>
            </p:spPr>
          </p:sp>
        </p:grpSp>
        <p:grpSp>
          <p:nvGrpSpPr>
            <p:cNvPr id="17" name="class-analysis"/>
            <p:cNvGrpSpPr/>
            <p:nvPr/>
          </p:nvGrpSpPr>
          <p:grpSpPr>
            <a:xfrm>
              <a:off x="522732" y="3622675"/>
              <a:ext cx="11135868" cy="596900"/>
              <a:chOff x="522732" y="3622675"/>
              <a:chExt cx="11135868" cy="596900"/>
            </a:xfrm>
          </p:grpSpPr>
          <p:sp>
            <p:nvSpPr>
              <p:cNvPr id="14" name="TextBox 14"/>
              <p:cNvSpPr txBox="1"/>
              <p:nvPr/>
            </p:nvSpPr>
            <p:spPr>
              <a:xfrm>
                <a:off x="522732" y="3622675"/>
                <a:ext cx="2480533"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Phân tích theo lớp</a:t>
                </a:r>
              </a:p>
            </p:txBody>
          </p:sp>
          <p:sp>
            <p:nvSpPr>
              <p:cNvPr id="15" name="TextBox 15"/>
              <p:cNvSpPr txBox="1"/>
              <p:nvPr/>
            </p:nvSpPr>
            <p:spPr>
              <a:xfrm>
                <a:off x="4914264" y="3635375"/>
                <a:ext cx="4400166"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Giữ đủ bốn lớp, kể cả kết quả bất lợi.</a:t>
                </a:r>
              </a:p>
            </p:txBody>
          </p:sp>
          <p:sp>
            <p:nvSpPr>
              <p:cNvPr id="16" name="Line 16"/>
              <p:cNvSpPr/>
              <p:nvPr/>
            </p:nvSpPr>
            <p:spPr>
              <a:xfrm>
                <a:off x="533400" y="4210050"/>
                <a:ext cx="11125200" cy="9525"/>
              </a:xfrm>
              <a:custGeom>
                <a:avLst/>
                <a:gdLst/>
                <a:ahLst/>
                <a:cxnLst/>
                <a:rect l="l" t="t" r="r" b="b"/>
                <a:pathLst>
                  <a:path w="11125200" h="9525">
                    <a:moveTo>
                      <a:pt x="0" y="0"/>
                    </a:moveTo>
                    <a:lnTo>
                      <a:pt x="11125200" y="0"/>
                    </a:lnTo>
                  </a:path>
                </a:pathLst>
              </a:custGeom>
              <a:noFill/>
              <a:ln w="9525">
                <a:solidFill>
                  <a:schemeClr val="accent6"/>
                </a:solidFill>
              </a:ln>
            </p:spPr>
          </p:sp>
        </p:grpSp>
        <p:grpSp>
          <p:nvGrpSpPr>
            <p:cNvPr id="20" name="extension"/>
            <p:cNvGrpSpPr/>
            <p:nvPr/>
          </p:nvGrpSpPr>
          <p:grpSpPr>
            <a:xfrm>
              <a:off x="522732" y="4470400"/>
              <a:ext cx="10303047" cy="410718"/>
              <a:chOff x="522732" y="4470400"/>
              <a:chExt cx="10303047" cy="410718"/>
            </a:xfrm>
          </p:grpSpPr>
          <p:sp>
            <p:nvSpPr>
              <p:cNvPr id="18" name="TextBox 18"/>
              <p:cNvSpPr txBox="1"/>
              <p:nvPr/>
            </p:nvSpPr>
            <p:spPr>
              <a:xfrm>
                <a:off x="522732" y="4470400"/>
                <a:ext cx="3317620" cy="410718"/>
              </a:xfrm>
              <a:prstGeom prst="rect">
                <a:avLst/>
              </a:prstGeom>
              <a:noFill/>
              <a:ln>
                <a:noFill/>
              </a:ln>
            </p:spPr>
            <p:txBody>
              <a:bodyPr wrap="none" lIns="0" tIns="0" rIns="0" bIns="0" anchor="t" anchorCtr="0">
                <a:spAutoFit/>
              </a:bodyPr>
              <a:lstStyle/>
              <a:p>
                <a:pPr algn="l"/>
                <a:r>
                  <a:rPr lang="vi-VN" sz="2100" b="1" dirty="0">
                    <a:solidFill>
                      <a:schemeClr val="accent3"/>
                    </a:solidFill>
                    <a:latin typeface="+mn-lt"/>
                    <a:ea typeface="+mn-ea"/>
                    <a:cs typeface="+mn-cs"/>
                  </a:rPr>
                  <a:t>Mở rộng bằng YOLO26n</a:t>
                </a:r>
              </a:p>
            </p:txBody>
          </p:sp>
          <p:sp>
            <p:nvSpPr>
              <p:cNvPr id="19" name="TextBox 19"/>
              <p:cNvSpPr txBox="1"/>
              <p:nvPr/>
            </p:nvSpPr>
            <p:spPr>
              <a:xfrm>
                <a:off x="4914264" y="4483100"/>
                <a:ext cx="5911515"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So sánh độ chính xác và gap với hai model trước.</a:t>
                </a:r>
              </a:p>
            </p:txBody>
          </p:sp>
        </p:grpSp>
      </p:grpSp>
      <p:grpSp>
        <p:nvGrpSpPr>
          <p:cNvPr id="24" name="experimental-scope"/>
          <p:cNvGrpSpPr/>
          <p:nvPr/>
        </p:nvGrpSpPr>
        <p:grpSpPr>
          <a:xfrm>
            <a:off x="533400" y="5505450"/>
            <a:ext cx="11125200" cy="819150"/>
            <a:chOff x="533400" y="5505450"/>
            <a:chExt cx="11125200" cy="819150"/>
          </a:xfrm>
        </p:grpSpPr>
        <p:sp>
          <p:nvSpPr>
            <p:cNvPr id="22" name="Rectangle 22"/>
            <p:cNvSpPr/>
            <p:nvPr/>
          </p:nvSpPr>
          <p:spPr>
            <a:xfrm>
              <a:off x="533400" y="5505450"/>
              <a:ext cx="11125200" cy="819150"/>
            </a:xfrm>
            <a:prstGeom prst="rect">
              <a:avLst/>
            </a:prstGeom>
            <a:solidFill>
              <a:schemeClr val="lt2"/>
            </a:solidFill>
            <a:ln>
              <a:noFill/>
            </a:ln>
          </p:spPr>
        </p:sp>
        <p:sp>
          <p:nvSpPr>
            <p:cNvPr id="23" name="TextBox 23"/>
            <p:cNvSpPr txBox="1"/>
            <p:nvPr/>
          </p:nvSpPr>
          <p:spPr>
            <a:xfrm>
              <a:off x="752856" y="5588000"/>
              <a:ext cx="7125887" cy="666369"/>
            </a:xfrm>
            <a:prstGeom prst="rect">
              <a:avLst/>
            </a:prstGeom>
            <a:noFill/>
            <a:ln>
              <a:noFill/>
            </a:ln>
          </p:spPr>
          <p:txBody>
            <a:bodyPr wrap="none" lIns="0" tIns="0" rIns="0" bIns="0" anchor="t" anchorCtr="0">
              <a:spAutoFit/>
            </a:bodyPr>
            <a:lstStyle/>
            <a:p>
              <a:pPr algn="l">
                <a:lnSpc>
                  <a:spcPts val="2475"/>
                </a:lnSpc>
              </a:pPr>
              <a:r>
                <a:rPr lang="vi-VN" sz="1800" b="1" dirty="0">
                  <a:solidFill>
                    <a:schemeClr val="accent2"/>
                  </a:solidFill>
                  <a:latin typeface="+mn-lt"/>
                  <a:ea typeface="+mn-ea"/>
                  <a:cs typeface="+mn-cs"/>
                </a:rPr>
                <a:t>Phạm vi: 2 miền × 3 model × 3 seed = 18 lượt huấn luyện;</a:t>
              </a:r>
              <a:br>
                <a:rPr lang="vi-VN" sz="1800" b="1" dirty="0">
                  <a:solidFill>
                    <a:schemeClr val="accent2"/>
                  </a:solidFill>
                  <a:latin typeface="+mn-lt"/>
                  <a:ea typeface="+mn-ea"/>
                  <a:cs typeface="+mn-cs"/>
                </a:rPr>
              </a:br>
              <a:r>
                <a:rPr lang="vi-VN" sz="1800" b="1" dirty="0">
                  <a:solidFill>
                    <a:schemeClr val="accent2"/>
                  </a:solidFill>
                  <a:latin typeface="+mn-lt"/>
                  <a:ea typeface="+mn-ea"/>
                  <a:cs typeface="+mn-cs"/>
                </a:rPr>
                <a:t>mỗi lượt được đánh giá trên cả hai tập đích.</a:t>
              </a:r>
            </a:p>
          </p:txBody>
        </p:sp>
      </p:grpSp>
      <p:grpSp>
        <p:nvGrpSpPr>
          <p:cNvPr id="27" name="source"/>
          <p:cNvGrpSpPr/>
          <p:nvPr/>
        </p:nvGrpSpPr>
        <p:grpSpPr>
          <a:xfrm>
            <a:off x="528638" y="6467475"/>
            <a:ext cx="11129962" cy="261937"/>
            <a:chOff x="528638" y="6467475"/>
            <a:chExt cx="11129962" cy="261937"/>
          </a:xfrm>
        </p:grpSpPr>
        <p:sp>
          <p:nvSpPr>
            <p:cNvPr id="25" name="Line 25"/>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26" name="TextBox 26"/>
            <p:cNvSpPr txBox="1"/>
            <p:nvPr/>
          </p:nvSpPr>
          <p:spPr>
            <a:xfrm>
              <a:off x="528638" y="6553200"/>
              <a:ext cx="3880097"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hiện tại, mục tiêu và đóng góp; thiết kế 18 lượt huấn luyện</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189435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03 · DỮ LIỆU NGHIÊN CỨU</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06</a:t>
              </a:r>
            </a:p>
          </p:txBody>
        </p:sp>
        <p:sp>
          <p:nvSpPr>
            <p:cNvPr id="4" name="TextBox 4"/>
            <p:cNvSpPr txBox="1"/>
            <p:nvPr/>
          </p:nvSpPr>
          <p:spPr>
            <a:xfrm>
              <a:off x="518160" y="593725"/>
              <a:ext cx="9356080"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Tập con khóa v4.1 gồm 4.378 ảnh và 658 ảnh test</a:t>
              </a:r>
            </a:p>
          </p:txBody>
        </p:sp>
      </p:grpSp>
      <p:grpSp>
        <p:nvGrpSpPr>
          <p:cNvPr id="32" name="data-table"/>
          <p:cNvGrpSpPr/>
          <p:nvPr/>
        </p:nvGrpSpPr>
        <p:grpSpPr>
          <a:xfrm>
            <a:off x="533400" y="2000250"/>
            <a:ext cx="11125200" cy="2667000"/>
            <a:chOff x="533400" y="2000250"/>
            <a:chExt cx="11125200" cy="2667000"/>
          </a:xfrm>
        </p:grpSpPr>
        <p:sp>
          <p:nvSpPr>
            <p:cNvPr id="6" name="Rectangle 6"/>
            <p:cNvSpPr/>
            <p:nvPr/>
          </p:nvSpPr>
          <p:spPr>
            <a:xfrm>
              <a:off x="533400" y="2000250"/>
              <a:ext cx="11125200" cy="666750"/>
            </a:xfrm>
            <a:prstGeom prst="rect">
              <a:avLst/>
            </a:prstGeom>
            <a:solidFill>
              <a:schemeClr val="lt2"/>
            </a:solidFill>
            <a:ln>
              <a:noFill/>
            </a:ln>
          </p:spPr>
        </p:sp>
        <p:sp>
          <p:nvSpPr>
            <p:cNvPr id="7" name="Rectangle 7"/>
            <p:cNvSpPr/>
            <p:nvPr/>
          </p:nvSpPr>
          <p:spPr>
            <a:xfrm>
              <a:off x="533400" y="4000500"/>
              <a:ext cx="11125200" cy="666750"/>
            </a:xfrm>
            <a:prstGeom prst="rect">
              <a:avLst/>
            </a:prstGeom>
            <a:solidFill>
              <a:schemeClr val="lt2"/>
            </a:solidFill>
            <a:ln>
              <a:noFill/>
            </a:ln>
          </p:spPr>
        </p:sp>
        <p:grpSp>
          <p:nvGrpSpPr>
            <p:cNvPr id="13" name="table-header"/>
            <p:cNvGrpSpPr/>
            <p:nvPr/>
          </p:nvGrpSpPr>
          <p:grpSpPr>
            <a:xfrm>
              <a:off x="677418" y="2216150"/>
              <a:ext cx="10837164" cy="322707"/>
              <a:chOff x="677418" y="2216150"/>
              <a:chExt cx="10837164" cy="322707"/>
            </a:xfrm>
          </p:grpSpPr>
          <p:sp>
            <p:nvSpPr>
              <p:cNvPr id="8" name="TextBox 8"/>
              <p:cNvSpPr txBox="1"/>
              <p:nvPr/>
            </p:nvSpPr>
            <p:spPr>
              <a:xfrm>
                <a:off x="677418" y="2216150"/>
                <a:ext cx="529875"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Miền</a:t>
                </a:r>
              </a:p>
            </p:txBody>
          </p:sp>
          <p:sp>
            <p:nvSpPr>
              <p:cNvPr id="9" name="TextBox 9"/>
              <p:cNvSpPr txBox="1"/>
              <p:nvPr/>
            </p:nvSpPr>
            <p:spPr>
              <a:xfrm>
                <a:off x="4490674" y="2216150"/>
                <a:ext cx="565958"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Train</a:t>
                </a:r>
              </a:p>
            </p:txBody>
          </p:sp>
          <p:sp>
            <p:nvSpPr>
              <p:cNvPr id="10" name="TextBox 10"/>
              <p:cNvSpPr txBox="1"/>
              <p:nvPr/>
            </p:nvSpPr>
            <p:spPr>
              <a:xfrm>
                <a:off x="6258512" y="2216150"/>
                <a:ext cx="1084120"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Validation</a:t>
                </a:r>
              </a:p>
            </p:txBody>
          </p:sp>
          <p:sp>
            <p:nvSpPr>
              <p:cNvPr id="11" name="TextBox 11"/>
              <p:cNvSpPr txBox="1"/>
              <p:nvPr/>
            </p:nvSpPr>
            <p:spPr>
              <a:xfrm>
                <a:off x="8958176" y="2216150"/>
                <a:ext cx="479956"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Test</a:t>
                </a:r>
              </a:p>
            </p:txBody>
          </p:sp>
          <p:sp>
            <p:nvSpPr>
              <p:cNvPr id="12" name="TextBox 12"/>
              <p:cNvSpPr txBox="1"/>
              <p:nvPr/>
            </p:nvSpPr>
            <p:spPr>
              <a:xfrm>
                <a:off x="10947447" y="2216150"/>
                <a:ext cx="567135"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Tổng</a:t>
                </a:r>
              </a:p>
            </p:txBody>
          </p:sp>
        </p:grpSp>
        <p:grpSp>
          <p:nvGrpSpPr>
            <p:cNvPr id="19" name="drone-counts"/>
            <p:cNvGrpSpPr/>
            <p:nvPr/>
          </p:nvGrpSpPr>
          <p:grpSpPr>
            <a:xfrm>
              <a:off x="677418" y="2882900"/>
              <a:ext cx="10837164" cy="322707"/>
              <a:chOff x="677418" y="2882900"/>
              <a:chExt cx="10837164" cy="322707"/>
            </a:xfrm>
          </p:grpSpPr>
          <p:sp>
            <p:nvSpPr>
              <p:cNvPr id="14" name="TextBox 14"/>
              <p:cNvSpPr txBox="1"/>
              <p:nvPr/>
            </p:nvSpPr>
            <p:spPr>
              <a:xfrm>
                <a:off x="677418" y="2882900"/>
                <a:ext cx="6286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Drone</a:t>
                </a:r>
              </a:p>
            </p:txBody>
          </p:sp>
          <p:sp>
            <p:nvSpPr>
              <p:cNvPr id="15" name="TextBox 15"/>
              <p:cNvSpPr txBox="1"/>
              <p:nvPr/>
            </p:nvSpPr>
            <p:spPr>
              <a:xfrm>
                <a:off x="4483983" y="2882900"/>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1.680</a:t>
                </a:r>
              </a:p>
            </p:txBody>
          </p:sp>
          <p:sp>
            <p:nvSpPr>
              <p:cNvPr id="16" name="TextBox 16"/>
              <p:cNvSpPr txBox="1"/>
              <p:nvPr/>
            </p:nvSpPr>
            <p:spPr>
              <a:xfrm>
                <a:off x="6955234" y="2882900"/>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360</a:t>
                </a:r>
              </a:p>
            </p:txBody>
          </p:sp>
          <p:sp>
            <p:nvSpPr>
              <p:cNvPr id="17" name="TextBox 17"/>
              <p:cNvSpPr txBox="1"/>
              <p:nvPr/>
            </p:nvSpPr>
            <p:spPr>
              <a:xfrm>
                <a:off x="9050734" y="2882900"/>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361</a:t>
                </a:r>
              </a:p>
            </p:txBody>
          </p:sp>
          <p:sp>
            <p:nvSpPr>
              <p:cNvPr id="18" name="TextBox 18"/>
              <p:cNvSpPr txBox="1"/>
              <p:nvPr/>
            </p:nvSpPr>
            <p:spPr>
              <a:xfrm>
                <a:off x="10941933" y="2882900"/>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2.401</a:t>
                </a:r>
              </a:p>
            </p:txBody>
          </p:sp>
        </p:grpSp>
        <p:grpSp>
          <p:nvGrpSpPr>
            <p:cNvPr id="25" name="motorbike-counts"/>
            <p:cNvGrpSpPr/>
            <p:nvPr/>
          </p:nvGrpSpPr>
          <p:grpSpPr>
            <a:xfrm>
              <a:off x="677418" y="3549650"/>
              <a:ext cx="10837164" cy="322707"/>
              <a:chOff x="677418" y="3549650"/>
              <a:chExt cx="10837164" cy="322707"/>
            </a:xfrm>
          </p:grpSpPr>
          <p:sp>
            <p:nvSpPr>
              <p:cNvPr id="20" name="TextBox 20"/>
              <p:cNvSpPr txBox="1"/>
              <p:nvPr/>
            </p:nvSpPr>
            <p:spPr>
              <a:xfrm>
                <a:off x="677418" y="3549650"/>
                <a:ext cx="102925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MotorBike</a:t>
                </a:r>
              </a:p>
            </p:txBody>
          </p:sp>
          <p:sp>
            <p:nvSpPr>
              <p:cNvPr id="21" name="TextBox 21"/>
              <p:cNvSpPr txBox="1"/>
              <p:nvPr/>
            </p:nvSpPr>
            <p:spPr>
              <a:xfrm>
                <a:off x="4483983" y="3549650"/>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1.383</a:t>
                </a:r>
              </a:p>
            </p:txBody>
          </p:sp>
          <p:sp>
            <p:nvSpPr>
              <p:cNvPr id="22" name="TextBox 22"/>
              <p:cNvSpPr txBox="1"/>
              <p:nvPr/>
            </p:nvSpPr>
            <p:spPr>
              <a:xfrm>
                <a:off x="6955234" y="3549650"/>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297</a:t>
                </a:r>
              </a:p>
            </p:txBody>
          </p:sp>
          <p:sp>
            <p:nvSpPr>
              <p:cNvPr id="23" name="TextBox 23"/>
              <p:cNvSpPr txBox="1"/>
              <p:nvPr/>
            </p:nvSpPr>
            <p:spPr>
              <a:xfrm>
                <a:off x="9050734" y="3549650"/>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297</a:t>
                </a:r>
              </a:p>
            </p:txBody>
          </p:sp>
          <p:sp>
            <p:nvSpPr>
              <p:cNvPr id="24" name="TextBox 24"/>
              <p:cNvSpPr txBox="1"/>
              <p:nvPr/>
            </p:nvSpPr>
            <p:spPr>
              <a:xfrm>
                <a:off x="10941933" y="3549650"/>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1.977</a:t>
                </a:r>
              </a:p>
            </p:txBody>
          </p:sp>
        </p:grpSp>
        <p:grpSp>
          <p:nvGrpSpPr>
            <p:cNvPr id="31" name="total-counts"/>
            <p:cNvGrpSpPr/>
            <p:nvPr/>
          </p:nvGrpSpPr>
          <p:grpSpPr>
            <a:xfrm>
              <a:off x="677418" y="4216400"/>
              <a:ext cx="10837164" cy="322707"/>
              <a:chOff x="677418" y="4216400"/>
              <a:chExt cx="10837164" cy="322707"/>
            </a:xfrm>
          </p:grpSpPr>
          <p:sp>
            <p:nvSpPr>
              <p:cNvPr id="26" name="TextBox 26"/>
              <p:cNvSpPr txBox="1"/>
              <p:nvPr/>
            </p:nvSpPr>
            <p:spPr>
              <a:xfrm>
                <a:off x="677418" y="4216400"/>
                <a:ext cx="567135"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Tổng</a:t>
                </a:r>
              </a:p>
            </p:txBody>
          </p:sp>
          <p:sp>
            <p:nvSpPr>
              <p:cNvPr id="27" name="TextBox 27"/>
              <p:cNvSpPr txBox="1"/>
              <p:nvPr/>
            </p:nvSpPr>
            <p:spPr>
              <a:xfrm>
                <a:off x="4483983" y="4216400"/>
                <a:ext cx="572649"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3.063</a:t>
                </a:r>
              </a:p>
            </p:txBody>
          </p:sp>
          <p:sp>
            <p:nvSpPr>
              <p:cNvPr id="28" name="TextBox 28"/>
              <p:cNvSpPr txBox="1"/>
              <p:nvPr/>
            </p:nvSpPr>
            <p:spPr>
              <a:xfrm>
                <a:off x="6955234" y="4216400"/>
                <a:ext cx="387398"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657</a:t>
                </a:r>
              </a:p>
            </p:txBody>
          </p:sp>
          <p:sp>
            <p:nvSpPr>
              <p:cNvPr id="29" name="TextBox 29"/>
              <p:cNvSpPr txBox="1"/>
              <p:nvPr/>
            </p:nvSpPr>
            <p:spPr>
              <a:xfrm>
                <a:off x="9050734" y="4216400"/>
                <a:ext cx="387398"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658</a:t>
                </a:r>
              </a:p>
            </p:txBody>
          </p:sp>
          <p:sp>
            <p:nvSpPr>
              <p:cNvPr id="30" name="TextBox 30"/>
              <p:cNvSpPr txBox="1"/>
              <p:nvPr/>
            </p:nvSpPr>
            <p:spPr>
              <a:xfrm>
                <a:off x="10941933" y="4216400"/>
                <a:ext cx="572649"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4.378</a:t>
                </a:r>
              </a:p>
            </p:txBody>
          </p:sp>
        </p:grpSp>
      </p:grpSp>
      <p:grpSp>
        <p:nvGrpSpPr>
          <p:cNvPr id="34" name="split-policy"/>
          <p:cNvGrpSpPr/>
          <p:nvPr/>
        </p:nvGrpSpPr>
        <p:grpSpPr>
          <a:xfrm>
            <a:off x="523239" y="5149850"/>
            <a:ext cx="8681051" cy="391209"/>
            <a:chOff x="523239" y="5149850"/>
            <a:chExt cx="8681051" cy="391209"/>
          </a:xfrm>
        </p:grpSpPr>
        <p:sp>
          <p:nvSpPr>
            <p:cNvPr id="33" name="TextBox 33"/>
            <p:cNvSpPr txBox="1"/>
            <p:nvPr/>
          </p:nvSpPr>
          <p:spPr>
            <a:xfrm>
              <a:off x="523239" y="5149850"/>
              <a:ext cx="8681051"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Chia tập theo nhóm cảnh; cùng manifest khóa cho ba model và ba seed.</a:t>
              </a:r>
            </a:p>
          </p:txBody>
        </p:sp>
      </p:grpSp>
      <p:grpSp>
        <p:nvGrpSpPr>
          <p:cNvPr id="36" name="takeaway"/>
          <p:cNvGrpSpPr/>
          <p:nvPr/>
        </p:nvGrpSpPr>
        <p:grpSpPr>
          <a:xfrm>
            <a:off x="525018" y="5940425"/>
            <a:ext cx="10131084" cy="322707"/>
            <a:chOff x="525018" y="5940425"/>
            <a:chExt cx="10131084" cy="322707"/>
          </a:xfrm>
        </p:grpSpPr>
        <p:sp>
          <p:nvSpPr>
            <p:cNvPr id="35" name="TextBox 35"/>
            <p:cNvSpPr txBox="1"/>
            <p:nvPr/>
          </p:nvSpPr>
          <p:spPr>
            <a:xfrm>
              <a:off x="525018" y="5940425"/>
              <a:ext cx="10131084"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Test được giữ cố định theo từng miền để so sánh hai nguồn huấn luyện trên cùng quần thể ảnh.</a:t>
              </a:r>
            </a:p>
          </p:txBody>
        </p:sp>
      </p:grpSp>
      <p:grpSp>
        <p:nvGrpSpPr>
          <p:cNvPr id="39" name="source"/>
          <p:cNvGrpSpPr/>
          <p:nvPr/>
        </p:nvGrpSpPr>
        <p:grpSpPr>
          <a:xfrm>
            <a:off x="528638" y="6467475"/>
            <a:ext cx="11129962" cy="261937"/>
            <a:chOff x="528638" y="6467475"/>
            <a:chExt cx="11129962" cy="261937"/>
          </a:xfrm>
        </p:grpSpPr>
        <p:sp>
          <p:nvSpPr>
            <p:cNvPr id="37" name="Line 37"/>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38" name="TextBox 38"/>
            <p:cNvSpPr txBox="1"/>
            <p:nvPr/>
          </p:nvSpPr>
          <p:spPr>
            <a:xfrm>
              <a:off x="528638" y="6553200"/>
              <a:ext cx="4880924"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Bảng I và phần II · Số ảnh của tập con khóa, không phải toàn bộ RDD2022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189435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03 · DỮ LIỆU NGHIÊN CỨU</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07</a:t>
              </a:r>
            </a:p>
          </p:txBody>
        </p:sp>
        <p:sp>
          <p:nvSpPr>
            <p:cNvPr id="4" name="TextBox 4"/>
            <p:cNvSpPr txBox="1"/>
            <p:nvPr/>
          </p:nvSpPr>
          <p:spPr>
            <a:xfrm>
              <a:off x="518160" y="593725"/>
              <a:ext cx="10006061"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Bốn loại hư hỏng được giữ thống nhất trong đánh giá</a:t>
              </a:r>
            </a:p>
          </p:txBody>
        </p:sp>
      </p:grpSp>
      <p:grpSp>
        <p:nvGrpSpPr>
          <p:cNvPr id="9" name="d00-example"/>
          <p:cNvGrpSpPr/>
          <p:nvPr/>
        </p:nvGrpSpPr>
        <p:grpSpPr>
          <a:xfrm>
            <a:off x="519684" y="2091333"/>
            <a:ext cx="2623566" cy="3685135"/>
            <a:chOff x="519684" y="2091333"/>
            <a:chExt cx="2623566" cy="3685135"/>
          </a:xfrm>
        </p:grpSpPr>
        <p:pic>
          <p:nvPicPr>
            <p:cNvPr id="6" name="Image 6"/>
            <p:cNvPicPr>
              <a:picLocks noChangeAspect="1"/>
            </p:cNvPicPr>
            <p:nvPr/>
          </p:nvPicPr>
          <p:blipFill>
            <a:blip r:embed="rId2"/>
            <a:stretch>
              <a:fillRect/>
            </a:stretch>
          </p:blipFill>
          <p:spPr>
            <a:xfrm>
              <a:off x="533400" y="2091333"/>
              <a:ext cx="2609850" cy="2446734"/>
            </a:xfrm>
            <a:prstGeom prst="rect">
              <a:avLst/>
            </a:prstGeom>
          </p:spPr>
        </p:pic>
        <p:sp>
          <p:nvSpPr>
            <p:cNvPr id="7" name="TextBox 7"/>
            <p:cNvSpPr txBox="1"/>
            <p:nvPr/>
          </p:nvSpPr>
          <p:spPr>
            <a:xfrm>
              <a:off x="519684" y="4832350"/>
              <a:ext cx="732006" cy="528066"/>
            </a:xfrm>
            <a:prstGeom prst="rect">
              <a:avLst/>
            </a:prstGeom>
            <a:noFill/>
            <a:ln>
              <a:noFill/>
            </a:ln>
          </p:spPr>
          <p:txBody>
            <a:bodyPr wrap="none" lIns="0" tIns="0" rIns="0" bIns="0" anchor="t" anchorCtr="0">
              <a:spAutoFit/>
            </a:bodyPr>
            <a:lstStyle/>
            <a:p>
              <a:pPr algn="l"/>
              <a:r>
                <a:rPr lang="vi-VN" sz="2700" b="1" dirty="0">
                  <a:solidFill>
                    <a:schemeClr val="accent2"/>
                  </a:solidFill>
                  <a:latin typeface="+mn-lt"/>
                  <a:ea typeface="+mn-ea"/>
                  <a:cs typeface="+mn-cs"/>
                </a:rPr>
                <a:t>D00</a:t>
              </a:r>
            </a:p>
          </p:txBody>
        </p:sp>
        <p:sp>
          <p:nvSpPr>
            <p:cNvPr id="8" name="TextBox 8"/>
            <p:cNvSpPr txBox="1"/>
            <p:nvPr/>
          </p:nvSpPr>
          <p:spPr>
            <a:xfrm>
              <a:off x="522732" y="5365750"/>
              <a:ext cx="1004832"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Nứt dọc</a:t>
              </a:r>
            </a:p>
          </p:txBody>
        </p:sp>
      </p:grpSp>
      <p:grpSp>
        <p:nvGrpSpPr>
          <p:cNvPr id="13" name="d10-example"/>
          <p:cNvGrpSpPr/>
          <p:nvPr/>
        </p:nvGrpSpPr>
        <p:grpSpPr>
          <a:xfrm>
            <a:off x="3358134" y="2009775"/>
            <a:ext cx="2623566" cy="3766693"/>
            <a:chOff x="3358134" y="2009775"/>
            <a:chExt cx="2623566" cy="3766693"/>
          </a:xfrm>
        </p:grpSpPr>
        <p:pic>
          <p:nvPicPr>
            <p:cNvPr id="10" name="Image 10"/>
            <p:cNvPicPr>
              <a:picLocks noChangeAspect="1"/>
            </p:cNvPicPr>
            <p:nvPr/>
          </p:nvPicPr>
          <p:blipFill>
            <a:blip r:embed="rId3"/>
            <a:stretch>
              <a:fillRect/>
            </a:stretch>
          </p:blipFill>
          <p:spPr>
            <a:xfrm>
              <a:off x="3371850" y="2009775"/>
              <a:ext cx="2609850" cy="2609850"/>
            </a:xfrm>
            <a:prstGeom prst="rect">
              <a:avLst/>
            </a:prstGeom>
          </p:spPr>
        </p:pic>
        <p:sp>
          <p:nvSpPr>
            <p:cNvPr id="11" name="TextBox 11"/>
            <p:cNvSpPr txBox="1"/>
            <p:nvPr/>
          </p:nvSpPr>
          <p:spPr>
            <a:xfrm>
              <a:off x="3358134" y="4832350"/>
              <a:ext cx="732006" cy="528066"/>
            </a:xfrm>
            <a:prstGeom prst="rect">
              <a:avLst/>
            </a:prstGeom>
            <a:noFill/>
            <a:ln>
              <a:noFill/>
            </a:ln>
          </p:spPr>
          <p:txBody>
            <a:bodyPr wrap="none" lIns="0" tIns="0" rIns="0" bIns="0" anchor="t" anchorCtr="0">
              <a:spAutoFit/>
            </a:bodyPr>
            <a:lstStyle/>
            <a:p>
              <a:pPr algn="l"/>
              <a:r>
                <a:rPr lang="vi-VN" sz="2700" b="1" dirty="0">
                  <a:solidFill>
                    <a:schemeClr val="accent2"/>
                  </a:solidFill>
                  <a:latin typeface="+mn-lt"/>
                  <a:ea typeface="+mn-ea"/>
                  <a:cs typeface="+mn-cs"/>
                </a:rPr>
                <a:t>D10</a:t>
              </a:r>
            </a:p>
          </p:txBody>
        </p:sp>
        <p:sp>
          <p:nvSpPr>
            <p:cNvPr id="12" name="TextBox 12"/>
            <p:cNvSpPr txBox="1"/>
            <p:nvPr/>
          </p:nvSpPr>
          <p:spPr>
            <a:xfrm>
              <a:off x="3361182" y="5365750"/>
              <a:ext cx="1335237"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Nứt ngang</a:t>
              </a:r>
            </a:p>
          </p:txBody>
        </p:sp>
      </p:grpSp>
      <p:grpSp>
        <p:nvGrpSpPr>
          <p:cNvPr id="17" name="d20-example"/>
          <p:cNvGrpSpPr/>
          <p:nvPr/>
        </p:nvGrpSpPr>
        <p:grpSpPr>
          <a:xfrm>
            <a:off x="6196584" y="2009775"/>
            <a:ext cx="2623566" cy="3766693"/>
            <a:chOff x="6196584" y="2009775"/>
            <a:chExt cx="2623566" cy="3766693"/>
          </a:xfrm>
        </p:grpSpPr>
        <p:pic>
          <p:nvPicPr>
            <p:cNvPr id="14" name="Image 14"/>
            <p:cNvPicPr>
              <a:picLocks noChangeAspect="1"/>
            </p:cNvPicPr>
            <p:nvPr/>
          </p:nvPicPr>
          <p:blipFill>
            <a:blip r:embed="rId4"/>
            <a:stretch>
              <a:fillRect/>
            </a:stretch>
          </p:blipFill>
          <p:spPr>
            <a:xfrm>
              <a:off x="6210300" y="2009775"/>
              <a:ext cx="2609850" cy="2609850"/>
            </a:xfrm>
            <a:prstGeom prst="rect">
              <a:avLst/>
            </a:prstGeom>
          </p:spPr>
        </p:pic>
        <p:sp>
          <p:nvSpPr>
            <p:cNvPr id="15" name="TextBox 15"/>
            <p:cNvSpPr txBox="1"/>
            <p:nvPr/>
          </p:nvSpPr>
          <p:spPr>
            <a:xfrm>
              <a:off x="6196584" y="4832350"/>
              <a:ext cx="732006" cy="528066"/>
            </a:xfrm>
            <a:prstGeom prst="rect">
              <a:avLst/>
            </a:prstGeom>
            <a:noFill/>
            <a:ln>
              <a:noFill/>
            </a:ln>
          </p:spPr>
          <p:txBody>
            <a:bodyPr wrap="none" lIns="0" tIns="0" rIns="0" bIns="0" anchor="t" anchorCtr="0">
              <a:spAutoFit/>
            </a:bodyPr>
            <a:lstStyle/>
            <a:p>
              <a:pPr algn="l"/>
              <a:r>
                <a:rPr lang="vi-VN" sz="2700" b="1" dirty="0">
                  <a:solidFill>
                    <a:schemeClr val="accent2"/>
                  </a:solidFill>
                  <a:latin typeface="+mn-lt"/>
                  <a:ea typeface="+mn-ea"/>
                  <a:cs typeface="+mn-cs"/>
                </a:rPr>
                <a:t>D20</a:t>
              </a:r>
            </a:p>
          </p:txBody>
        </p:sp>
        <p:sp>
          <p:nvSpPr>
            <p:cNvPr id="16" name="TextBox 16"/>
            <p:cNvSpPr txBox="1"/>
            <p:nvPr/>
          </p:nvSpPr>
          <p:spPr>
            <a:xfrm>
              <a:off x="6199632" y="5365750"/>
              <a:ext cx="1775651"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Nứt da cá sấu</a:t>
              </a:r>
            </a:p>
          </p:txBody>
        </p:sp>
      </p:grpSp>
      <p:grpSp>
        <p:nvGrpSpPr>
          <p:cNvPr id="21" name="d40-example"/>
          <p:cNvGrpSpPr/>
          <p:nvPr/>
        </p:nvGrpSpPr>
        <p:grpSpPr>
          <a:xfrm>
            <a:off x="9035034" y="2009775"/>
            <a:ext cx="2623566" cy="3766693"/>
            <a:chOff x="9035034" y="2009775"/>
            <a:chExt cx="2623566" cy="3766693"/>
          </a:xfrm>
        </p:grpSpPr>
        <p:pic>
          <p:nvPicPr>
            <p:cNvPr id="18" name="Image 18"/>
            <p:cNvPicPr>
              <a:picLocks noChangeAspect="1"/>
            </p:cNvPicPr>
            <p:nvPr/>
          </p:nvPicPr>
          <p:blipFill>
            <a:blip r:embed="rId5"/>
            <a:stretch>
              <a:fillRect/>
            </a:stretch>
          </p:blipFill>
          <p:spPr>
            <a:xfrm>
              <a:off x="9048750" y="2009775"/>
              <a:ext cx="2609850" cy="2609850"/>
            </a:xfrm>
            <a:prstGeom prst="rect">
              <a:avLst/>
            </a:prstGeom>
          </p:spPr>
        </p:pic>
        <p:sp>
          <p:nvSpPr>
            <p:cNvPr id="19" name="TextBox 19"/>
            <p:cNvSpPr txBox="1"/>
            <p:nvPr/>
          </p:nvSpPr>
          <p:spPr>
            <a:xfrm>
              <a:off x="9035034" y="4832350"/>
              <a:ext cx="732006" cy="528066"/>
            </a:xfrm>
            <a:prstGeom prst="rect">
              <a:avLst/>
            </a:prstGeom>
            <a:noFill/>
            <a:ln>
              <a:noFill/>
            </a:ln>
          </p:spPr>
          <p:txBody>
            <a:bodyPr wrap="none" lIns="0" tIns="0" rIns="0" bIns="0" anchor="t" anchorCtr="0">
              <a:spAutoFit/>
            </a:bodyPr>
            <a:lstStyle/>
            <a:p>
              <a:pPr algn="l"/>
              <a:r>
                <a:rPr lang="vi-VN" sz="2700" b="1" dirty="0">
                  <a:solidFill>
                    <a:schemeClr val="accent2"/>
                  </a:solidFill>
                  <a:latin typeface="+mn-lt"/>
                  <a:ea typeface="+mn-ea"/>
                  <a:cs typeface="+mn-cs"/>
                </a:rPr>
                <a:t>D40</a:t>
              </a:r>
            </a:p>
          </p:txBody>
        </p:sp>
        <p:sp>
          <p:nvSpPr>
            <p:cNvPr id="20" name="TextBox 20"/>
            <p:cNvSpPr txBox="1"/>
            <p:nvPr/>
          </p:nvSpPr>
          <p:spPr>
            <a:xfrm>
              <a:off x="9038082" y="5365750"/>
              <a:ext cx="645798"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Ổ gà</a:t>
              </a:r>
            </a:p>
          </p:txBody>
        </p:sp>
      </p:grpSp>
      <p:grpSp>
        <p:nvGrpSpPr>
          <p:cNvPr id="24" name="source"/>
          <p:cNvGrpSpPr/>
          <p:nvPr/>
        </p:nvGrpSpPr>
        <p:grpSpPr>
          <a:xfrm>
            <a:off x="528638" y="6467475"/>
            <a:ext cx="11129962" cy="261937"/>
            <a:chOff x="528638" y="6467475"/>
            <a:chExt cx="11129962" cy="261937"/>
          </a:xfrm>
        </p:grpSpPr>
        <p:sp>
          <p:nvSpPr>
            <p:cNvPr id="22" name="Line 22"/>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23" name="TextBox 23"/>
            <p:cNvSpPr txBox="1"/>
            <p:nvPr/>
          </p:nvSpPr>
          <p:spPr>
            <a:xfrm>
              <a:off x="528638" y="6553200"/>
              <a:ext cx="5441917"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ảnh nhãn validation YOLO11n D13/M13 · Crop giữ nhãn gốc; D40 được phóng vùng có nhãn</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189435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03 · DỮ LIỆU NGHIÊN CỨU</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08</a:t>
              </a:r>
            </a:p>
          </p:txBody>
        </p:sp>
        <p:sp>
          <p:nvSpPr>
            <p:cNvPr id="4" name="TextBox 4"/>
            <p:cNvSpPr txBox="1"/>
            <p:nvPr/>
          </p:nvSpPr>
          <p:spPr>
            <a:xfrm>
              <a:off x="518160" y="593725"/>
              <a:ext cx="10545166"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Số hộp nhãn và mức hỗ trợ lớp khác nhau giữa hai miền</a:t>
              </a:r>
            </a:p>
          </p:txBody>
        </p:sp>
      </p:grpSp>
      <p:grpSp>
        <p:nvGrpSpPr>
          <p:cNvPr id="25" name="data-table"/>
          <p:cNvGrpSpPr/>
          <p:nvPr/>
        </p:nvGrpSpPr>
        <p:grpSpPr>
          <a:xfrm>
            <a:off x="533400" y="2190750"/>
            <a:ext cx="7524750" cy="2014982"/>
            <a:chOff x="533400" y="2190750"/>
            <a:chExt cx="7524750" cy="2014982"/>
          </a:xfrm>
        </p:grpSpPr>
        <p:sp>
          <p:nvSpPr>
            <p:cNvPr id="6" name="Rectangle 6"/>
            <p:cNvSpPr/>
            <p:nvPr/>
          </p:nvSpPr>
          <p:spPr>
            <a:xfrm>
              <a:off x="533400" y="2190750"/>
              <a:ext cx="7524750" cy="723900"/>
            </a:xfrm>
            <a:prstGeom prst="rect">
              <a:avLst/>
            </a:prstGeom>
            <a:solidFill>
              <a:schemeClr val="lt2"/>
            </a:solidFill>
            <a:ln>
              <a:noFill/>
            </a:ln>
          </p:spPr>
        </p:sp>
        <p:grpSp>
          <p:nvGrpSpPr>
            <p:cNvPr id="12" name="class-header"/>
            <p:cNvGrpSpPr/>
            <p:nvPr/>
          </p:nvGrpSpPr>
          <p:grpSpPr>
            <a:xfrm>
              <a:off x="677418" y="2435225"/>
              <a:ext cx="7236714" cy="322707"/>
              <a:chOff x="677418" y="2435225"/>
              <a:chExt cx="7236714" cy="322707"/>
            </a:xfrm>
          </p:grpSpPr>
          <p:sp>
            <p:nvSpPr>
              <p:cNvPr id="7" name="TextBox 7"/>
              <p:cNvSpPr txBox="1"/>
              <p:nvPr/>
            </p:nvSpPr>
            <p:spPr>
              <a:xfrm>
                <a:off x="677418" y="2435225"/>
                <a:ext cx="937340"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Tập đích</a:t>
                </a:r>
              </a:p>
            </p:txBody>
          </p:sp>
          <p:sp>
            <p:nvSpPr>
              <p:cNvPr id="8" name="TextBox 8"/>
              <p:cNvSpPr txBox="1"/>
              <p:nvPr/>
            </p:nvSpPr>
            <p:spPr>
              <a:xfrm>
                <a:off x="3752045" y="2435225"/>
                <a:ext cx="447337"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D00</a:t>
                </a:r>
              </a:p>
            </p:txBody>
          </p:sp>
          <p:sp>
            <p:nvSpPr>
              <p:cNvPr id="9" name="TextBox 9"/>
              <p:cNvSpPr txBox="1"/>
              <p:nvPr/>
            </p:nvSpPr>
            <p:spPr>
              <a:xfrm>
                <a:off x="4990295" y="2435225"/>
                <a:ext cx="447337"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D10</a:t>
                </a:r>
              </a:p>
            </p:txBody>
          </p:sp>
          <p:sp>
            <p:nvSpPr>
              <p:cNvPr id="10" name="TextBox 10"/>
              <p:cNvSpPr txBox="1"/>
              <p:nvPr/>
            </p:nvSpPr>
            <p:spPr>
              <a:xfrm>
                <a:off x="6228545" y="2435225"/>
                <a:ext cx="447337"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D20</a:t>
                </a:r>
              </a:p>
            </p:txBody>
          </p:sp>
          <p:sp>
            <p:nvSpPr>
              <p:cNvPr id="11" name="TextBox 11"/>
              <p:cNvSpPr txBox="1"/>
              <p:nvPr/>
            </p:nvSpPr>
            <p:spPr>
              <a:xfrm>
                <a:off x="7466795" y="2435225"/>
                <a:ext cx="447337"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D40</a:t>
                </a:r>
              </a:p>
            </p:txBody>
          </p:sp>
        </p:grpSp>
        <p:grpSp>
          <p:nvGrpSpPr>
            <p:cNvPr id="18" name="drone-support"/>
            <p:cNvGrpSpPr/>
            <p:nvPr/>
          </p:nvGrpSpPr>
          <p:grpSpPr>
            <a:xfrm>
              <a:off x="677418" y="3159125"/>
              <a:ext cx="7236714" cy="322707"/>
              <a:chOff x="677418" y="3159125"/>
              <a:chExt cx="7236714" cy="322707"/>
            </a:xfrm>
          </p:grpSpPr>
          <p:sp>
            <p:nvSpPr>
              <p:cNvPr id="13" name="TextBox 13"/>
              <p:cNvSpPr txBox="1"/>
              <p:nvPr/>
            </p:nvSpPr>
            <p:spPr>
              <a:xfrm>
                <a:off x="677418" y="3159125"/>
                <a:ext cx="112929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Drone Test</a:t>
                </a:r>
              </a:p>
            </p:txBody>
          </p:sp>
          <p:sp>
            <p:nvSpPr>
              <p:cNvPr id="14" name="TextBox 14"/>
              <p:cNvSpPr txBox="1"/>
              <p:nvPr/>
            </p:nvSpPr>
            <p:spPr>
              <a:xfrm>
                <a:off x="3811984" y="3159125"/>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214</a:t>
                </a:r>
              </a:p>
            </p:txBody>
          </p:sp>
          <p:sp>
            <p:nvSpPr>
              <p:cNvPr id="15" name="TextBox 15"/>
              <p:cNvSpPr txBox="1"/>
              <p:nvPr/>
            </p:nvSpPr>
            <p:spPr>
              <a:xfrm>
                <a:off x="5050234" y="3159125"/>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189</a:t>
                </a:r>
              </a:p>
            </p:txBody>
          </p:sp>
          <p:sp>
            <p:nvSpPr>
              <p:cNvPr id="16" name="TextBox 16"/>
              <p:cNvSpPr txBox="1"/>
              <p:nvPr/>
            </p:nvSpPr>
            <p:spPr>
              <a:xfrm>
                <a:off x="6412028" y="3159125"/>
                <a:ext cx="263854"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44</a:t>
                </a:r>
              </a:p>
            </p:txBody>
          </p:sp>
          <p:sp>
            <p:nvSpPr>
              <p:cNvPr id="17" name="TextBox 17"/>
              <p:cNvSpPr txBox="1"/>
              <p:nvPr/>
            </p:nvSpPr>
            <p:spPr>
              <a:xfrm>
                <a:off x="7650278" y="3159125"/>
                <a:ext cx="263854"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17</a:t>
                </a:r>
              </a:p>
            </p:txBody>
          </p:sp>
        </p:grpSp>
        <p:grpSp>
          <p:nvGrpSpPr>
            <p:cNvPr id="24" name="motorbike-support"/>
            <p:cNvGrpSpPr/>
            <p:nvPr/>
          </p:nvGrpSpPr>
          <p:grpSpPr>
            <a:xfrm>
              <a:off x="677418" y="3883025"/>
              <a:ext cx="7236714" cy="322707"/>
              <a:chOff x="677418" y="3883025"/>
              <a:chExt cx="7236714" cy="322707"/>
            </a:xfrm>
          </p:grpSpPr>
          <p:sp>
            <p:nvSpPr>
              <p:cNvPr id="19" name="TextBox 19"/>
              <p:cNvSpPr txBox="1"/>
              <p:nvPr/>
            </p:nvSpPr>
            <p:spPr>
              <a:xfrm>
                <a:off x="677418" y="3883025"/>
                <a:ext cx="1529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MotorBike Test</a:t>
                </a:r>
              </a:p>
            </p:txBody>
          </p:sp>
          <p:sp>
            <p:nvSpPr>
              <p:cNvPr id="20" name="TextBox 20"/>
              <p:cNvSpPr txBox="1"/>
              <p:nvPr/>
            </p:nvSpPr>
            <p:spPr>
              <a:xfrm>
                <a:off x="3811984" y="3883025"/>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403</a:t>
                </a:r>
              </a:p>
            </p:txBody>
          </p:sp>
          <p:sp>
            <p:nvSpPr>
              <p:cNvPr id="21" name="TextBox 21"/>
              <p:cNvSpPr txBox="1"/>
              <p:nvPr/>
            </p:nvSpPr>
            <p:spPr>
              <a:xfrm>
                <a:off x="5050234" y="3883025"/>
                <a:ext cx="387398"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165</a:t>
                </a:r>
              </a:p>
            </p:txBody>
          </p:sp>
          <p:sp>
            <p:nvSpPr>
              <p:cNvPr id="22" name="TextBox 22"/>
              <p:cNvSpPr txBox="1"/>
              <p:nvPr/>
            </p:nvSpPr>
            <p:spPr>
              <a:xfrm>
                <a:off x="6412028" y="3883025"/>
                <a:ext cx="263854"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96</a:t>
                </a:r>
              </a:p>
            </p:txBody>
          </p:sp>
          <p:sp>
            <p:nvSpPr>
              <p:cNvPr id="23" name="TextBox 23"/>
              <p:cNvSpPr txBox="1"/>
              <p:nvPr/>
            </p:nvSpPr>
            <p:spPr>
              <a:xfrm>
                <a:off x="7650278" y="3883025"/>
                <a:ext cx="263854"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35</a:t>
                </a:r>
              </a:p>
            </p:txBody>
          </p:sp>
        </p:grpSp>
      </p:grpSp>
      <p:grpSp>
        <p:nvGrpSpPr>
          <p:cNvPr id="30" name="sparse-support"/>
          <p:cNvGrpSpPr/>
          <p:nvPr/>
        </p:nvGrpSpPr>
        <p:grpSpPr>
          <a:xfrm>
            <a:off x="8667750" y="2190750"/>
            <a:ext cx="2555415" cy="2174113"/>
            <a:chOff x="8667750" y="2190750"/>
            <a:chExt cx="2555415" cy="2174113"/>
          </a:xfrm>
        </p:grpSpPr>
        <p:sp>
          <p:nvSpPr>
            <p:cNvPr id="26" name="Line 26"/>
            <p:cNvSpPr/>
            <p:nvPr/>
          </p:nvSpPr>
          <p:spPr>
            <a:xfrm>
              <a:off x="8667750" y="2190750"/>
              <a:ext cx="9525" cy="2171700"/>
            </a:xfrm>
            <a:custGeom>
              <a:avLst/>
              <a:gdLst/>
              <a:ahLst/>
              <a:cxnLst/>
              <a:rect l="l" t="t" r="r" b="b"/>
              <a:pathLst>
                <a:path w="9525" h="2171700">
                  <a:moveTo>
                    <a:pt x="0" y="0"/>
                  </a:moveTo>
                  <a:lnTo>
                    <a:pt x="0" y="2171700"/>
                  </a:lnTo>
                </a:path>
              </a:pathLst>
            </a:custGeom>
            <a:noFill/>
            <a:ln w="19050">
              <a:solidFill>
                <a:schemeClr val="accent6"/>
              </a:solidFill>
            </a:ln>
          </p:spPr>
        </p:sp>
        <p:sp>
          <p:nvSpPr>
            <p:cNvPr id="27" name="TextBox 27"/>
            <p:cNvSpPr txBox="1"/>
            <p:nvPr/>
          </p:nvSpPr>
          <p:spPr>
            <a:xfrm>
              <a:off x="8983218" y="2263775"/>
              <a:ext cx="1627101"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D40 trên Drone</a:t>
              </a:r>
            </a:p>
          </p:txBody>
        </p:sp>
        <p:sp>
          <p:nvSpPr>
            <p:cNvPr id="28" name="TextBox 28"/>
            <p:cNvSpPr txBox="1"/>
            <p:nvPr/>
          </p:nvSpPr>
          <p:spPr>
            <a:xfrm>
              <a:off x="8972550" y="2774950"/>
              <a:ext cx="2250615" cy="990600"/>
            </a:xfrm>
            <a:prstGeom prst="rect">
              <a:avLst/>
            </a:prstGeom>
            <a:noFill/>
            <a:ln>
              <a:noFill/>
            </a:ln>
          </p:spPr>
          <p:txBody>
            <a:bodyPr wrap="none" lIns="0" tIns="0" rIns="0" bIns="0" anchor="t" anchorCtr="0">
              <a:spAutoFit/>
            </a:bodyPr>
            <a:lstStyle/>
            <a:p>
              <a:pPr algn="l"/>
              <a:r>
                <a:rPr lang="vi-VN" sz="5100" b="1" dirty="0">
                  <a:solidFill>
                    <a:schemeClr val="dk1"/>
                  </a:solidFill>
                  <a:latin typeface="+mn-lt"/>
                  <a:ea typeface="+mn-ea"/>
                  <a:cs typeface="+mn-cs"/>
                </a:rPr>
                <a:t>17 hộp</a:t>
              </a:r>
            </a:p>
          </p:txBody>
        </p:sp>
        <p:sp>
          <p:nvSpPr>
            <p:cNvPr id="29" name="TextBox 29"/>
            <p:cNvSpPr txBox="1"/>
            <p:nvPr/>
          </p:nvSpPr>
          <p:spPr>
            <a:xfrm>
              <a:off x="8973312" y="3660775"/>
              <a:ext cx="1249416" cy="704088"/>
            </a:xfrm>
            <a:prstGeom prst="rect">
              <a:avLst/>
            </a:prstGeom>
            <a:noFill/>
            <a:ln>
              <a:noFill/>
            </a:ln>
          </p:spPr>
          <p:txBody>
            <a:bodyPr wrap="none" lIns="0" tIns="0" rIns="0" bIns="0" anchor="t" anchorCtr="0">
              <a:spAutoFit/>
            </a:bodyPr>
            <a:lstStyle/>
            <a:p>
              <a:pPr algn="l"/>
              <a:r>
                <a:rPr lang="vi-VN" sz="3600" dirty="0">
                  <a:solidFill>
                    <a:schemeClr val="dk1"/>
                  </a:solidFill>
                  <a:latin typeface="+mn-lt"/>
                  <a:ea typeface="+mn-ea"/>
                  <a:cs typeface="+mn-cs"/>
                </a:rPr>
                <a:t>9 ảnh</a:t>
              </a:r>
            </a:p>
          </p:txBody>
        </p:sp>
      </p:grpSp>
      <p:grpSp>
        <p:nvGrpSpPr>
          <p:cNvPr id="32" name="support-caution"/>
          <p:cNvGrpSpPr/>
          <p:nvPr/>
        </p:nvGrpSpPr>
        <p:grpSpPr>
          <a:xfrm>
            <a:off x="523239" y="4832350"/>
            <a:ext cx="8075214" cy="734109"/>
            <a:chOff x="523239" y="4832350"/>
            <a:chExt cx="8075214" cy="734109"/>
          </a:xfrm>
        </p:grpSpPr>
        <p:sp>
          <p:nvSpPr>
            <p:cNvPr id="31" name="TextBox 31"/>
            <p:cNvSpPr txBox="1"/>
            <p:nvPr/>
          </p:nvSpPr>
          <p:spPr>
            <a:xfrm>
              <a:off x="523239" y="4832350"/>
              <a:ext cx="8075214" cy="734109"/>
            </a:xfrm>
            <a:prstGeom prst="rect">
              <a:avLst/>
            </a:prstGeom>
            <a:noFill/>
            <a:ln>
              <a:noFill/>
            </a:ln>
          </p:spPr>
          <p:txBody>
            <a:bodyPr wrap="none" lIns="0" tIns="0" rIns="0" bIns="0" anchor="t" anchorCtr="0">
              <a:spAutoFit/>
            </a:bodyPr>
            <a:lstStyle/>
            <a:p>
              <a:pPr algn="l">
                <a:lnSpc>
                  <a:spcPts val="2700"/>
                </a:lnSpc>
              </a:pPr>
              <a:r>
                <a:rPr lang="vi-VN" sz="2000" dirty="0">
                  <a:solidFill>
                    <a:schemeClr val="dk1"/>
                  </a:solidFill>
                  <a:latin typeface="+mn-lt"/>
                  <a:ea typeface="+mn-ea"/>
                  <a:cs typeface="+mn-cs"/>
                </a:rPr>
                <a:t>Phân bố lớp không cân bằng; AP của lớp hiếm có thể nhạy với</a:t>
              </a:r>
              <a:br>
                <a:rPr lang="vi-VN" sz="2000" dirty="0">
                  <a:solidFill>
                    <a:schemeClr val="dk1"/>
                  </a:solidFill>
                  <a:latin typeface="+mn-lt"/>
                  <a:ea typeface="+mn-ea"/>
                  <a:cs typeface="+mn-cs"/>
                </a:rPr>
              </a:br>
              <a:r>
                <a:rPr lang="vi-VN" sz="2000" dirty="0">
                  <a:solidFill>
                    <a:schemeClr val="dk1"/>
                  </a:solidFill>
                  <a:latin typeface="+mn-lt"/>
                  <a:ea typeface="+mn-ea"/>
                  <a:cs typeface="+mn-cs"/>
                </a:rPr>
                <a:t>một số ít phát hiện.</a:t>
              </a:r>
            </a:p>
          </p:txBody>
        </p:sp>
      </p:grpSp>
      <p:grpSp>
        <p:nvGrpSpPr>
          <p:cNvPr id="34" name="takeaway"/>
          <p:cNvGrpSpPr/>
          <p:nvPr/>
        </p:nvGrpSpPr>
        <p:grpSpPr>
          <a:xfrm>
            <a:off x="525018" y="5930900"/>
            <a:ext cx="10192838" cy="322707"/>
            <a:chOff x="525018" y="5930900"/>
            <a:chExt cx="10192838" cy="322707"/>
          </a:xfrm>
        </p:grpSpPr>
        <p:sp>
          <p:nvSpPr>
            <p:cNvPr id="33" name="TextBox 33"/>
            <p:cNvSpPr txBox="1"/>
            <p:nvPr/>
          </p:nvSpPr>
          <p:spPr>
            <a:xfrm>
              <a:off x="525018" y="5930900"/>
              <a:ext cx="10192838"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Không quy toàn bộ khác biệt hiệu năng cho góc nhìn: dữ liệu và thành phần cảnh cùng thay đổi.</a:t>
              </a:r>
            </a:p>
          </p:txBody>
        </p:sp>
      </p:grpSp>
      <p:grpSp>
        <p:nvGrpSpPr>
          <p:cNvPr id="37" name="source"/>
          <p:cNvGrpSpPr/>
          <p:nvPr/>
        </p:nvGrpSpPr>
        <p:grpSpPr>
          <a:xfrm>
            <a:off x="528638" y="6467475"/>
            <a:ext cx="11129962" cy="261937"/>
            <a:chOff x="528638" y="6467475"/>
            <a:chExt cx="11129962" cy="261937"/>
          </a:xfrm>
        </p:grpSpPr>
        <p:sp>
          <p:nvSpPr>
            <p:cNvPr id="35" name="Line 35"/>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36" name="TextBox 36"/>
            <p:cNvSpPr txBox="1"/>
            <p:nvPr/>
          </p:nvSpPr>
          <p:spPr>
            <a:xfrm>
              <a:off x="528638" y="6553200"/>
              <a:ext cx="3862752"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Bảng II · Số bounding box của bốn lớp trên tập test khóa</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408933"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04 · PHƯƠNG PHÁP NGHIÊN CỨU</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09</a:t>
              </a:r>
            </a:p>
          </p:txBody>
        </p:sp>
        <p:sp>
          <p:nvSpPr>
            <p:cNvPr id="4" name="TextBox 4"/>
            <p:cNvSpPr txBox="1"/>
            <p:nvPr/>
          </p:nvSpPr>
          <p:spPr>
            <a:xfrm>
              <a:off x="518160" y="593725"/>
              <a:ext cx="8750447"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Giao thức hai chiều so sánh trên cùng tập đích</a:t>
              </a:r>
            </a:p>
          </p:txBody>
        </p:sp>
      </p:grpSp>
      <p:grpSp>
        <p:nvGrpSpPr>
          <p:cNvPr id="9" name="scene-review"/>
          <p:cNvGrpSpPr/>
          <p:nvPr/>
        </p:nvGrpSpPr>
        <p:grpSpPr>
          <a:xfrm>
            <a:off x="533400" y="1733550"/>
            <a:ext cx="3143250" cy="1352550"/>
            <a:chOff x="533400" y="1733550"/>
            <a:chExt cx="3143250" cy="1352550"/>
          </a:xfrm>
        </p:grpSpPr>
        <p:sp>
          <p:nvSpPr>
            <p:cNvPr id="6" name="Rectangle 6"/>
            <p:cNvSpPr/>
            <p:nvPr/>
          </p:nvSpPr>
          <p:spPr>
            <a:xfrm>
              <a:off x="533400" y="1733550"/>
              <a:ext cx="3143250" cy="1352550"/>
            </a:xfrm>
            <a:prstGeom prst="rect">
              <a:avLst/>
            </a:prstGeom>
            <a:solidFill>
              <a:schemeClr val="lt2"/>
            </a:solidFill>
            <a:ln>
              <a:noFill/>
            </a:ln>
          </p:spPr>
        </p:sp>
        <p:sp>
          <p:nvSpPr>
            <p:cNvPr id="7" name="TextBox 7"/>
            <p:cNvSpPr txBox="1"/>
            <p:nvPr/>
          </p:nvSpPr>
          <p:spPr>
            <a:xfrm>
              <a:off x="732282" y="1870075"/>
              <a:ext cx="1790890"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Rà soát cảnh</a:t>
              </a:r>
            </a:p>
          </p:txBody>
        </p:sp>
        <p:sp>
          <p:nvSpPr>
            <p:cNvPr id="8" name="TextBox 8"/>
            <p:cNvSpPr txBox="1"/>
            <p:nvPr/>
          </p:nvSpPr>
          <p:spPr>
            <a:xfrm>
              <a:off x="734568" y="2355850"/>
              <a:ext cx="2227345"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Giữ nhóm cảnh</a:t>
              </a:r>
              <a:br>
                <a:rPr lang="vi-VN" sz="1650" dirty="0">
                  <a:solidFill>
                    <a:schemeClr val="dk1"/>
                  </a:solidFill>
                  <a:latin typeface="+mn-lt"/>
                  <a:ea typeface="+mn-ea"/>
                  <a:cs typeface="+mn-cs"/>
                </a:rPr>
              </a:br>
              <a:r>
                <a:rPr lang="vi-VN" sz="1650" dirty="0">
                  <a:solidFill>
                    <a:schemeClr val="dk1"/>
                  </a:solidFill>
                  <a:latin typeface="+mn-lt"/>
                  <a:ea typeface="+mn-ea"/>
                  <a:cs typeface="+mn-cs"/>
                </a:rPr>
                <a:t>trong một phân vùng</a:t>
              </a:r>
            </a:p>
          </p:txBody>
        </p:sp>
      </p:grpSp>
      <p:grpSp>
        <p:nvGrpSpPr>
          <p:cNvPr id="13" name="split-lock"/>
          <p:cNvGrpSpPr/>
          <p:nvPr/>
        </p:nvGrpSpPr>
        <p:grpSpPr>
          <a:xfrm>
            <a:off x="4524375" y="1733550"/>
            <a:ext cx="3143250" cy="1352550"/>
            <a:chOff x="4524375" y="1733550"/>
            <a:chExt cx="3143250" cy="1352550"/>
          </a:xfrm>
        </p:grpSpPr>
        <p:sp>
          <p:nvSpPr>
            <p:cNvPr id="10" name="Rectangle 10"/>
            <p:cNvSpPr/>
            <p:nvPr/>
          </p:nvSpPr>
          <p:spPr>
            <a:xfrm>
              <a:off x="4524375" y="1733550"/>
              <a:ext cx="3143250" cy="1352550"/>
            </a:xfrm>
            <a:prstGeom prst="rect">
              <a:avLst/>
            </a:prstGeom>
            <a:solidFill>
              <a:schemeClr val="lt2"/>
            </a:solidFill>
            <a:ln>
              <a:noFill/>
            </a:ln>
          </p:spPr>
        </p:sp>
        <p:sp>
          <p:nvSpPr>
            <p:cNvPr id="11" name="TextBox 11"/>
            <p:cNvSpPr txBox="1"/>
            <p:nvPr/>
          </p:nvSpPr>
          <p:spPr>
            <a:xfrm>
              <a:off x="4723257" y="1870075"/>
              <a:ext cx="2246129"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Khóa phân vùng</a:t>
              </a:r>
            </a:p>
          </p:txBody>
        </p:sp>
        <p:sp>
          <p:nvSpPr>
            <p:cNvPr id="12" name="TextBox 12"/>
            <p:cNvSpPr txBox="1"/>
            <p:nvPr/>
          </p:nvSpPr>
          <p:spPr>
            <a:xfrm>
              <a:off x="4725543" y="2355850"/>
              <a:ext cx="2374151"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Train / validation / test</a:t>
              </a:r>
              <a:br>
                <a:rPr lang="vi-VN" sz="1650" dirty="0">
                  <a:solidFill>
                    <a:schemeClr val="dk1"/>
                  </a:solidFill>
                  <a:latin typeface="+mn-lt"/>
                  <a:ea typeface="+mn-ea"/>
                  <a:cs typeface="+mn-cs"/>
                </a:rPr>
              </a:br>
              <a:r>
                <a:rPr lang="vi-VN" sz="1650" dirty="0">
                  <a:solidFill>
                    <a:schemeClr val="dk1"/>
                  </a:solidFill>
                  <a:latin typeface="+mn-lt"/>
                  <a:ea typeface="+mn-ea"/>
                  <a:cs typeface="+mn-cs"/>
                </a:rPr>
                <a:t>cho từng miền</a:t>
              </a:r>
            </a:p>
          </p:txBody>
        </p:sp>
      </p:grpSp>
      <p:grpSp>
        <p:nvGrpSpPr>
          <p:cNvPr id="17" name="fine-tune"/>
          <p:cNvGrpSpPr/>
          <p:nvPr/>
        </p:nvGrpSpPr>
        <p:grpSpPr>
          <a:xfrm>
            <a:off x="8515350" y="1733550"/>
            <a:ext cx="3143250" cy="1352550"/>
            <a:chOff x="8515350" y="1733550"/>
            <a:chExt cx="3143250" cy="1352550"/>
          </a:xfrm>
        </p:grpSpPr>
        <p:sp>
          <p:nvSpPr>
            <p:cNvPr id="14" name="Rectangle 14"/>
            <p:cNvSpPr/>
            <p:nvPr/>
          </p:nvSpPr>
          <p:spPr>
            <a:xfrm>
              <a:off x="8515350" y="1733550"/>
              <a:ext cx="3143250" cy="1352550"/>
            </a:xfrm>
            <a:prstGeom prst="rect">
              <a:avLst/>
            </a:prstGeom>
            <a:solidFill>
              <a:schemeClr val="lt2"/>
            </a:solidFill>
            <a:ln>
              <a:noFill/>
            </a:ln>
          </p:spPr>
        </p:sp>
        <p:sp>
          <p:nvSpPr>
            <p:cNvPr id="15" name="TextBox 15"/>
            <p:cNvSpPr txBox="1"/>
            <p:nvPr/>
          </p:nvSpPr>
          <p:spPr>
            <a:xfrm>
              <a:off x="8714232" y="1870075"/>
              <a:ext cx="2370891"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Fine-tune độc lập</a:t>
              </a:r>
            </a:p>
          </p:txBody>
        </p:sp>
        <p:sp>
          <p:nvSpPr>
            <p:cNvPr id="16" name="TextBox 16"/>
            <p:cNvSpPr txBox="1"/>
            <p:nvPr/>
          </p:nvSpPr>
          <p:spPr>
            <a:xfrm>
              <a:off x="8716518" y="2355850"/>
              <a:ext cx="1872088"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3 model × 2 miền</a:t>
              </a:r>
              <a:br>
                <a:rPr lang="vi-VN" sz="1650" dirty="0">
                  <a:solidFill>
                    <a:schemeClr val="dk1"/>
                  </a:solidFill>
                  <a:latin typeface="+mn-lt"/>
                  <a:ea typeface="+mn-ea"/>
                  <a:cs typeface="+mn-cs"/>
                </a:rPr>
              </a:br>
              <a:r>
                <a:rPr lang="vi-VN" sz="1650" dirty="0">
                  <a:solidFill>
                    <a:schemeClr val="dk1"/>
                  </a:solidFill>
                  <a:latin typeface="+mn-lt"/>
                  <a:ea typeface="+mn-ea"/>
                  <a:cs typeface="+mn-cs"/>
                </a:rPr>
                <a:t>× 3 seed</a:t>
              </a:r>
            </a:p>
          </p:txBody>
        </p:sp>
      </p:grpSp>
      <p:grpSp>
        <p:nvGrpSpPr>
          <p:cNvPr id="19" name="first-process-arrow"/>
          <p:cNvGrpSpPr/>
          <p:nvPr/>
        </p:nvGrpSpPr>
        <p:grpSpPr>
          <a:xfrm>
            <a:off x="3929634" y="2184400"/>
            <a:ext cx="390906" cy="528066"/>
            <a:chOff x="3929634" y="2184400"/>
            <a:chExt cx="390906" cy="528066"/>
          </a:xfrm>
        </p:grpSpPr>
        <p:sp>
          <p:nvSpPr>
            <p:cNvPr id="18" name="TextBox 18"/>
            <p:cNvSpPr txBox="1"/>
            <p:nvPr/>
          </p:nvSpPr>
          <p:spPr>
            <a:xfrm>
              <a:off x="3929634" y="2184400"/>
              <a:ext cx="390906"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a:t>
              </a:r>
            </a:p>
          </p:txBody>
        </p:sp>
      </p:grpSp>
      <p:grpSp>
        <p:nvGrpSpPr>
          <p:cNvPr id="21" name="second-process-arrow"/>
          <p:cNvGrpSpPr/>
          <p:nvPr/>
        </p:nvGrpSpPr>
        <p:grpSpPr>
          <a:xfrm>
            <a:off x="7920609" y="2184400"/>
            <a:ext cx="390906" cy="528066"/>
            <a:chOff x="7920609" y="2184400"/>
            <a:chExt cx="390906" cy="528066"/>
          </a:xfrm>
        </p:grpSpPr>
        <p:sp>
          <p:nvSpPr>
            <p:cNvPr id="20" name="TextBox 20"/>
            <p:cNvSpPr txBox="1"/>
            <p:nvPr/>
          </p:nvSpPr>
          <p:spPr>
            <a:xfrm>
              <a:off x="7920609" y="2184400"/>
              <a:ext cx="390906"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a:t>
              </a:r>
            </a:p>
          </p:txBody>
        </p:sp>
      </p:grpSp>
      <p:grpSp>
        <p:nvGrpSpPr>
          <p:cNvPr id="35" name="data-table"/>
          <p:cNvGrpSpPr/>
          <p:nvPr/>
        </p:nvGrpSpPr>
        <p:grpSpPr>
          <a:xfrm>
            <a:off x="533400" y="3533775"/>
            <a:ext cx="11125200" cy="1948307"/>
            <a:chOff x="533400" y="3533775"/>
            <a:chExt cx="11125200" cy="1948307"/>
          </a:xfrm>
        </p:grpSpPr>
        <p:sp>
          <p:nvSpPr>
            <p:cNvPr id="22" name="Rectangle 22"/>
            <p:cNvSpPr/>
            <p:nvPr/>
          </p:nvSpPr>
          <p:spPr>
            <a:xfrm>
              <a:off x="533400" y="3533775"/>
              <a:ext cx="11125200" cy="695325"/>
            </a:xfrm>
            <a:prstGeom prst="rect">
              <a:avLst/>
            </a:prstGeom>
            <a:solidFill>
              <a:schemeClr val="lt2"/>
            </a:solidFill>
            <a:ln>
              <a:noFill/>
            </a:ln>
          </p:spPr>
        </p:sp>
        <p:grpSp>
          <p:nvGrpSpPr>
            <p:cNvPr id="26" name="target-header"/>
            <p:cNvGrpSpPr/>
            <p:nvPr/>
          </p:nvGrpSpPr>
          <p:grpSpPr>
            <a:xfrm>
              <a:off x="677418" y="3768725"/>
              <a:ext cx="9855564" cy="322707"/>
              <a:chOff x="677418" y="3768725"/>
              <a:chExt cx="9855564" cy="322707"/>
            </a:xfrm>
          </p:grpSpPr>
          <p:sp>
            <p:nvSpPr>
              <p:cNvPr id="23" name="TextBox 23"/>
              <p:cNvSpPr txBox="1"/>
              <p:nvPr/>
            </p:nvSpPr>
            <p:spPr>
              <a:xfrm>
                <a:off x="677418" y="3768725"/>
                <a:ext cx="1961820"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Nguồn huấn luyện</a:t>
                </a:r>
              </a:p>
            </p:txBody>
          </p:sp>
          <p:sp>
            <p:nvSpPr>
              <p:cNvPr id="24" name="TextBox 24"/>
              <p:cNvSpPr txBox="1"/>
              <p:nvPr/>
            </p:nvSpPr>
            <p:spPr>
              <a:xfrm>
                <a:off x="3915918" y="3768725"/>
                <a:ext cx="2222177"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Drone Test · 361 ảnh</a:t>
                </a:r>
              </a:p>
            </p:txBody>
          </p:sp>
          <p:sp>
            <p:nvSpPr>
              <p:cNvPr id="25" name="TextBox 25"/>
              <p:cNvSpPr txBox="1"/>
              <p:nvPr/>
            </p:nvSpPr>
            <p:spPr>
              <a:xfrm>
                <a:off x="7859268" y="3768725"/>
                <a:ext cx="2673714"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MotorBike Test · 297 ảnh</a:t>
                </a:r>
              </a:p>
            </p:txBody>
          </p:sp>
        </p:grpSp>
        <p:grpSp>
          <p:nvGrpSpPr>
            <p:cNvPr id="30" name="drone-row"/>
            <p:cNvGrpSpPr/>
            <p:nvPr/>
          </p:nvGrpSpPr>
          <p:grpSpPr>
            <a:xfrm>
              <a:off x="677418" y="4464050"/>
              <a:ext cx="9216718" cy="322707"/>
              <a:chOff x="677418" y="4464050"/>
              <a:chExt cx="9216718" cy="322707"/>
            </a:xfrm>
          </p:grpSpPr>
          <p:sp>
            <p:nvSpPr>
              <p:cNvPr id="27" name="TextBox 27"/>
              <p:cNvSpPr txBox="1"/>
              <p:nvPr/>
            </p:nvSpPr>
            <p:spPr>
              <a:xfrm>
                <a:off x="677418" y="4464050"/>
                <a:ext cx="6286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Drone</a:t>
                </a:r>
              </a:p>
            </p:txBody>
          </p:sp>
          <p:sp>
            <p:nvSpPr>
              <p:cNvPr id="28" name="TextBox 28"/>
              <p:cNvSpPr txBox="1"/>
              <p:nvPr/>
            </p:nvSpPr>
            <p:spPr>
              <a:xfrm>
                <a:off x="3915918" y="4464050"/>
                <a:ext cx="191242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Cùng miền: D → D</a:t>
                </a:r>
              </a:p>
            </p:txBody>
          </p:sp>
          <p:sp>
            <p:nvSpPr>
              <p:cNvPr id="29" name="TextBox 29"/>
              <p:cNvSpPr txBox="1"/>
              <p:nvPr/>
            </p:nvSpPr>
            <p:spPr>
              <a:xfrm>
                <a:off x="7859268" y="4464050"/>
                <a:ext cx="203486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Xuyên miền: D → M</a:t>
                </a:r>
              </a:p>
            </p:txBody>
          </p:sp>
        </p:grpSp>
        <p:grpSp>
          <p:nvGrpSpPr>
            <p:cNvPr id="34" name="motorbike-row"/>
            <p:cNvGrpSpPr/>
            <p:nvPr/>
          </p:nvGrpSpPr>
          <p:grpSpPr>
            <a:xfrm>
              <a:off x="677418" y="5159375"/>
              <a:ext cx="9144337" cy="322707"/>
              <a:chOff x="677418" y="5159375"/>
              <a:chExt cx="9144337" cy="322707"/>
            </a:xfrm>
          </p:grpSpPr>
          <p:sp>
            <p:nvSpPr>
              <p:cNvPr id="31" name="TextBox 31"/>
              <p:cNvSpPr txBox="1"/>
              <p:nvPr/>
            </p:nvSpPr>
            <p:spPr>
              <a:xfrm>
                <a:off x="677418" y="5159375"/>
                <a:ext cx="102925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MotorBike</a:t>
                </a:r>
              </a:p>
            </p:txBody>
          </p:sp>
          <p:sp>
            <p:nvSpPr>
              <p:cNvPr id="32" name="TextBox 32"/>
              <p:cNvSpPr txBox="1"/>
              <p:nvPr/>
            </p:nvSpPr>
            <p:spPr>
              <a:xfrm>
                <a:off x="3915918" y="5159375"/>
                <a:ext cx="203486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Xuyên miền: M → D</a:t>
                </a:r>
              </a:p>
            </p:txBody>
          </p:sp>
          <p:sp>
            <p:nvSpPr>
              <p:cNvPr id="33" name="TextBox 33"/>
              <p:cNvSpPr txBox="1"/>
              <p:nvPr/>
            </p:nvSpPr>
            <p:spPr>
              <a:xfrm>
                <a:off x="7859268" y="5159375"/>
                <a:ext cx="19624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Cùng miền: M → M</a:t>
                </a:r>
              </a:p>
            </p:txBody>
          </p:sp>
        </p:grpSp>
      </p:grpSp>
      <p:grpSp>
        <p:nvGrpSpPr>
          <p:cNvPr id="37" name="takeaway"/>
          <p:cNvGrpSpPr/>
          <p:nvPr/>
        </p:nvGrpSpPr>
        <p:grpSpPr>
          <a:xfrm>
            <a:off x="525018" y="5940425"/>
            <a:ext cx="9675197" cy="322707"/>
            <a:chOff x="525018" y="5940425"/>
            <a:chExt cx="9675197" cy="322707"/>
          </a:xfrm>
        </p:grpSpPr>
        <p:sp>
          <p:nvSpPr>
            <p:cNvPr id="36" name="TextBox 36"/>
            <p:cNvSpPr txBox="1"/>
            <p:nvPr/>
          </p:nvSpPr>
          <p:spPr>
            <a:xfrm>
              <a:off x="525018" y="5940425"/>
              <a:ext cx="9675197"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Trong mỗi cột test, hai mô hình được chấm trên cùng ảnh; ghép cặp theo seed khi tính gap.</a:t>
              </a:r>
            </a:p>
          </p:txBody>
        </p:sp>
      </p:grpSp>
      <p:grpSp>
        <p:nvGrpSpPr>
          <p:cNvPr id="40" name="source"/>
          <p:cNvGrpSpPr/>
          <p:nvPr/>
        </p:nvGrpSpPr>
        <p:grpSpPr>
          <a:xfrm>
            <a:off x="528638" y="6467475"/>
            <a:ext cx="11129962" cy="261937"/>
            <a:chOff x="528638" y="6467475"/>
            <a:chExt cx="11129962" cy="261937"/>
          </a:xfrm>
        </p:grpSpPr>
        <p:sp>
          <p:nvSpPr>
            <p:cNvPr id="38" name="Line 38"/>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39" name="TextBox 39"/>
            <p:cNvSpPr txBox="1"/>
            <p:nvPr/>
          </p:nvSpPr>
          <p:spPr>
            <a:xfrm>
              <a:off x="528638" y="6553200"/>
              <a:ext cx="4780956"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phần II · Chia tập theo cảnh; checkpoint chọn bằng validation miền nguồn</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408933"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04 · PHƯƠNG PHÁP NGHIÊN CỨU</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10</a:t>
              </a:r>
            </a:p>
          </p:txBody>
        </p:sp>
        <p:sp>
          <p:nvSpPr>
            <p:cNvPr id="4" name="TextBox 4"/>
            <p:cNvSpPr txBox="1"/>
            <p:nvPr/>
          </p:nvSpPr>
          <p:spPr>
            <a:xfrm>
              <a:off x="518160" y="593725"/>
              <a:ext cx="9523620"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Gap được tính bằng chênh lệch trên cùng ảnh đích</a:t>
              </a:r>
            </a:p>
          </p:txBody>
        </p:sp>
      </p:grpSp>
      <p:grpSp>
        <p:nvGrpSpPr>
          <p:cNvPr id="8" name="gap-equation"/>
          <p:cNvGrpSpPr/>
          <p:nvPr/>
        </p:nvGrpSpPr>
        <p:grpSpPr>
          <a:xfrm>
            <a:off x="533400" y="1857375"/>
            <a:ext cx="11125200" cy="1162050"/>
            <a:chOff x="533400" y="1857375"/>
            <a:chExt cx="11125200" cy="1162050"/>
          </a:xfrm>
        </p:grpSpPr>
        <p:sp>
          <p:nvSpPr>
            <p:cNvPr id="6" name="Rectangle 6"/>
            <p:cNvSpPr/>
            <p:nvPr/>
          </p:nvSpPr>
          <p:spPr>
            <a:xfrm>
              <a:off x="533400" y="1857375"/>
              <a:ext cx="11125200" cy="1162050"/>
            </a:xfrm>
            <a:prstGeom prst="rect">
              <a:avLst/>
            </a:prstGeom>
            <a:solidFill>
              <a:schemeClr val="lt2"/>
            </a:solidFill>
            <a:ln>
              <a:noFill/>
            </a:ln>
          </p:spPr>
        </p:sp>
        <p:sp>
          <p:nvSpPr>
            <p:cNvPr id="7" name="TextBox 7"/>
            <p:cNvSpPr txBox="1"/>
            <p:nvPr/>
          </p:nvSpPr>
          <p:spPr>
            <a:xfrm>
              <a:off x="2685216" y="2203450"/>
              <a:ext cx="6821569" cy="586740"/>
            </a:xfrm>
            <a:prstGeom prst="rect">
              <a:avLst/>
            </a:prstGeom>
            <a:noFill/>
            <a:ln>
              <a:noFill/>
            </a:ln>
          </p:spPr>
          <p:txBody>
            <a:bodyPr wrap="none" lIns="0" tIns="0" rIns="0" bIns="0" anchor="t" anchorCtr="0">
              <a:spAutoFit/>
            </a:bodyPr>
            <a:lstStyle/>
            <a:p>
              <a:pPr algn="ctr"/>
              <a:r>
                <a:rPr lang="vi-VN" sz="3000" b="1" dirty="0">
                  <a:solidFill>
                    <a:schemeClr val="accent2"/>
                  </a:solidFill>
                  <a:latin typeface="+mn-lt"/>
                  <a:ea typeface="+mn-ea"/>
                  <a:cs typeface="+mn-cs"/>
                </a:rPr>
                <a:t>G(Y) = mAP(Y → Y) − mAP(X → Y)</a:t>
              </a:r>
            </a:p>
          </p:txBody>
        </p:sp>
      </p:grpSp>
      <p:grpSp>
        <p:nvGrpSpPr>
          <p:cNvPr id="11" name="primary-metric"/>
          <p:cNvGrpSpPr/>
          <p:nvPr/>
        </p:nvGrpSpPr>
        <p:grpSpPr>
          <a:xfrm>
            <a:off x="522732" y="3489325"/>
            <a:ext cx="4032239" cy="1642159"/>
            <a:chOff x="522732" y="3489325"/>
            <a:chExt cx="4032239" cy="1642159"/>
          </a:xfrm>
        </p:grpSpPr>
        <p:sp>
          <p:nvSpPr>
            <p:cNvPr id="9" name="TextBox 9"/>
            <p:cNvSpPr txBox="1"/>
            <p:nvPr/>
          </p:nvSpPr>
          <p:spPr>
            <a:xfrm>
              <a:off x="522732" y="3489325"/>
              <a:ext cx="1727092"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Chỉ số chính</a:t>
              </a:r>
            </a:p>
          </p:txBody>
        </p:sp>
        <p:sp>
          <p:nvSpPr>
            <p:cNvPr id="10" name="TextBox 10"/>
            <p:cNvSpPr txBox="1"/>
            <p:nvPr/>
          </p:nvSpPr>
          <p:spPr>
            <a:xfrm>
              <a:off x="523239" y="4016375"/>
              <a:ext cx="4031732" cy="1115109"/>
            </a:xfrm>
            <a:prstGeom prst="rect">
              <a:avLst/>
            </a:prstGeom>
            <a:noFill/>
            <a:ln>
              <a:noFill/>
            </a:ln>
          </p:spPr>
          <p:txBody>
            <a:bodyPr wrap="none" lIns="0" tIns="0" rIns="0" bIns="0" anchor="t" anchorCtr="0">
              <a:spAutoFit/>
            </a:bodyPr>
            <a:lstStyle/>
            <a:p>
              <a:pPr algn="l">
                <a:lnSpc>
                  <a:spcPts val="2850"/>
                </a:lnSpc>
              </a:pPr>
              <a:r>
                <a:rPr lang="vi-VN" sz="2000" dirty="0">
                  <a:solidFill>
                    <a:schemeClr val="dk1"/>
                  </a:solidFill>
                  <a:latin typeface="+mn-lt"/>
                  <a:ea typeface="+mn-ea"/>
                  <a:cs typeface="+mn-cs"/>
                </a:rPr>
                <a:t>mAP@50:95 (%)</a:t>
              </a:r>
              <a:br>
                <a:rPr lang="vi-VN" sz="2000" dirty="0">
                  <a:solidFill>
                    <a:schemeClr val="dk1"/>
                  </a:solidFill>
                  <a:latin typeface="+mn-lt"/>
                  <a:ea typeface="+mn-ea"/>
                  <a:cs typeface="+mn-cs"/>
                </a:rPr>
              </a:br>
              <a:r>
                <a:rPr lang="vi-VN" sz="2000" dirty="0">
                  <a:solidFill>
                    <a:schemeClr val="dk1"/>
                  </a:solidFill>
                  <a:latin typeface="+mn-lt"/>
                  <a:ea typeface="+mn-ea"/>
                  <a:cs typeface="+mn-cs"/>
                </a:rPr>
                <a:t>Trung bình AP của 4 lớp</a:t>
              </a:r>
              <a:br>
                <a:rPr lang="vi-VN" sz="2000" dirty="0">
                  <a:solidFill>
                    <a:schemeClr val="dk1"/>
                  </a:solidFill>
                  <a:latin typeface="+mn-lt"/>
                  <a:ea typeface="+mn-ea"/>
                  <a:cs typeface="+mn-cs"/>
                </a:rPr>
              </a:br>
              <a:r>
                <a:rPr lang="vi-VN" sz="2000" dirty="0">
                  <a:solidFill>
                    <a:schemeClr val="dk1"/>
                  </a:solidFill>
                  <a:latin typeface="+mn-lt"/>
                  <a:ea typeface="+mn-ea"/>
                  <a:cs typeface="+mn-cs"/>
                </a:rPr>
                <a:t>trên các ngưỡng IoU 0,50–0,95</a:t>
              </a:r>
            </a:p>
          </p:txBody>
        </p:sp>
      </p:grpSp>
      <p:grpSp>
        <p:nvGrpSpPr>
          <p:cNvPr id="14" name="aggregation"/>
          <p:cNvGrpSpPr/>
          <p:nvPr/>
        </p:nvGrpSpPr>
        <p:grpSpPr>
          <a:xfrm>
            <a:off x="6466332" y="3489325"/>
            <a:ext cx="3918261" cy="1642159"/>
            <a:chOff x="6466332" y="3489325"/>
            <a:chExt cx="3918261" cy="1642159"/>
          </a:xfrm>
        </p:grpSpPr>
        <p:sp>
          <p:nvSpPr>
            <p:cNvPr id="12" name="TextBox 12"/>
            <p:cNvSpPr txBox="1"/>
            <p:nvPr/>
          </p:nvSpPr>
          <p:spPr>
            <a:xfrm>
              <a:off x="6466332" y="3489325"/>
              <a:ext cx="2010092"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Cách tổng hợp</a:t>
              </a:r>
            </a:p>
          </p:txBody>
        </p:sp>
        <p:sp>
          <p:nvSpPr>
            <p:cNvPr id="13" name="TextBox 13"/>
            <p:cNvSpPr txBox="1"/>
            <p:nvPr/>
          </p:nvSpPr>
          <p:spPr>
            <a:xfrm>
              <a:off x="6466839" y="4016375"/>
              <a:ext cx="3917754" cy="1115109"/>
            </a:xfrm>
            <a:prstGeom prst="rect">
              <a:avLst/>
            </a:prstGeom>
            <a:noFill/>
            <a:ln>
              <a:noFill/>
            </a:ln>
          </p:spPr>
          <p:txBody>
            <a:bodyPr wrap="none" lIns="0" tIns="0" rIns="0" bIns="0" anchor="t" anchorCtr="0">
              <a:spAutoFit/>
            </a:bodyPr>
            <a:lstStyle/>
            <a:p>
              <a:pPr algn="l">
                <a:lnSpc>
                  <a:spcPts val="2850"/>
                </a:lnSpc>
              </a:pPr>
              <a:r>
                <a:rPr lang="vi-VN" sz="2000" dirty="0">
                  <a:solidFill>
                    <a:schemeClr val="dk1"/>
                  </a:solidFill>
                  <a:latin typeface="+mn-lt"/>
                  <a:ea typeface="+mn-ea"/>
                  <a:cs typeface="+mn-cs"/>
                </a:rPr>
                <a:t>Gap cho từng seed ghép cặp</a:t>
              </a:r>
              <a:br>
                <a:rPr lang="vi-VN" sz="2000" dirty="0">
                  <a:solidFill>
                    <a:schemeClr val="dk1"/>
                  </a:solidFill>
                  <a:latin typeface="+mn-lt"/>
                  <a:ea typeface="+mn-ea"/>
                  <a:cs typeface="+mn-cs"/>
                </a:rPr>
              </a:br>
              <a:r>
                <a:rPr lang="vi-VN" sz="2000" dirty="0">
                  <a:solidFill>
                    <a:schemeClr val="dk1"/>
                  </a:solidFill>
                  <a:latin typeface="+mn-lt"/>
                  <a:ea typeface="+mn-ea"/>
                  <a:cs typeface="+mn-cs"/>
                </a:rPr>
                <a:t>Báo cáo trung bình ± SD</a:t>
              </a:r>
              <a:br>
                <a:rPr lang="vi-VN" sz="2000" dirty="0">
                  <a:solidFill>
                    <a:schemeClr val="dk1"/>
                  </a:solidFill>
                  <a:latin typeface="+mn-lt"/>
                  <a:ea typeface="+mn-ea"/>
                  <a:cs typeface="+mn-cs"/>
                </a:rPr>
              </a:br>
              <a:r>
                <a:rPr lang="vi-VN" sz="2000" dirty="0">
                  <a:solidFill>
                    <a:schemeClr val="dk1"/>
                  </a:solidFill>
                  <a:latin typeface="+mn-lt"/>
                  <a:ea typeface="+mn-ea"/>
                  <a:cs typeface="+mn-cs"/>
                </a:rPr>
                <a:t>SD qua 3 seed, không phải CI</a:t>
              </a:r>
            </a:p>
          </p:txBody>
        </p:sp>
      </p:grpSp>
      <p:grpSp>
        <p:nvGrpSpPr>
          <p:cNvPr id="16" name="interpretation"/>
          <p:cNvGrpSpPr/>
          <p:nvPr/>
        </p:nvGrpSpPr>
        <p:grpSpPr>
          <a:xfrm>
            <a:off x="525018" y="5699125"/>
            <a:ext cx="5318861" cy="617982"/>
            <a:chOff x="525018" y="5699125"/>
            <a:chExt cx="5318861" cy="617982"/>
          </a:xfrm>
        </p:grpSpPr>
        <p:sp>
          <p:nvSpPr>
            <p:cNvPr id="15" name="TextBox 15"/>
            <p:cNvSpPr txBox="1"/>
            <p:nvPr/>
          </p:nvSpPr>
          <p:spPr>
            <a:xfrm>
              <a:off x="525018" y="5699125"/>
              <a:ext cx="5318861" cy="617982"/>
            </a:xfrm>
            <a:prstGeom prst="rect">
              <a:avLst/>
            </a:prstGeom>
            <a:noFill/>
            <a:ln>
              <a:noFill/>
            </a:ln>
          </p:spPr>
          <p:txBody>
            <a:bodyPr wrap="none" lIns="0" tIns="0" rIns="0" bIns="0" anchor="t" anchorCtr="0">
              <a:spAutoFit/>
            </a:bodyPr>
            <a:lstStyle/>
            <a:p>
              <a:pPr algn="l">
                <a:lnSpc>
                  <a:spcPts val="2325"/>
                </a:lnSpc>
              </a:pPr>
              <a:r>
                <a:rPr lang="vi-VN" sz="1650" b="1" dirty="0">
                  <a:solidFill>
                    <a:schemeClr val="accent2"/>
                  </a:solidFill>
                  <a:latin typeface="+mn-lt"/>
                  <a:ea typeface="+mn-ea"/>
                  <a:cs typeface="+mn-cs"/>
                </a:rPr>
                <a:t>G(Y) &gt; 0: huấn luyện trên miền đích có lợi thế;</a:t>
              </a:r>
              <a:br>
                <a:rPr lang="vi-VN" sz="1650" b="1" dirty="0">
                  <a:solidFill>
                    <a:schemeClr val="accent2"/>
                  </a:solidFill>
                  <a:latin typeface="+mn-lt"/>
                  <a:ea typeface="+mn-ea"/>
                  <a:cs typeface="+mn-cs"/>
                </a:rPr>
              </a:br>
              <a:r>
                <a:rPr lang="vi-VN" sz="1650" b="1" dirty="0">
                  <a:solidFill>
                    <a:schemeClr val="accent2"/>
                  </a:solidFill>
                  <a:latin typeface="+mn-lt"/>
                  <a:ea typeface="+mn-ea"/>
                  <a:cs typeface="+mn-cs"/>
                </a:rPr>
                <a:t>giảm tương đối (%) = 100 × G(Y) / mAP(Y → Y).</a:t>
              </a:r>
            </a:p>
          </p:txBody>
        </p:sp>
      </p:grpSp>
      <p:grpSp>
        <p:nvGrpSpPr>
          <p:cNvPr id="19" name="source"/>
          <p:cNvGrpSpPr/>
          <p:nvPr/>
        </p:nvGrpSpPr>
        <p:grpSpPr>
          <a:xfrm>
            <a:off x="528638" y="6467475"/>
            <a:ext cx="11129962" cy="261937"/>
            <a:chOff x="528638" y="6467475"/>
            <a:chExt cx="11129962" cy="261937"/>
          </a:xfrm>
        </p:grpSpPr>
        <p:sp>
          <p:nvSpPr>
            <p:cNvPr id="17" name="Line 17"/>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18" name="TextBox 18"/>
            <p:cNvSpPr txBox="1"/>
            <p:nvPr/>
          </p:nvSpPr>
          <p:spPr>
            <a:xfrm>
              <a:off x="528638" y="6553200"/>
              <a:ext cx="4700870"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định nghĩa fixed-target gap và Bảng V · Đơn vị gap: điểm phần trăm (pp)</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1396365"/>
            <a:chOff x="518160" y="244475"/>
            <a:chExt cx="11147298" cy="1396365"/>
          </a:xfrm>
        </p:grpSpPr>
        <p:sp>
          <p:nvSpPr>
            <p:cNvPr id="2" name="TextBox 2"/>
            <p:cNvSpPr txBox="1"/>
            <p:nvPr/>
          </p:nvSpPr>
          <p:spPr>
            <a:xfrm>
              <a:off x="528066" y="282575"/>
              <a:ext cx="222624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05 · MÔ HÌNH VÀ HUẤN LUYỆN</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11</a:t>
              </a:r>
            </a:p>
          </p:txBody>
        </p:sp>
        <p:sp>
          <p:nvSpPr>
            <p:cNvPr id="4" name="TextBox 4"/>
            <p:cNvSpPr txBox="1"/>
            <p:nvPr/>
          </p:nvSpPr>
          <p:spPr>
            <a:xfrm>
              <a:off x="518160" y="606425"/>
              <a:ext cx="9342351" cy="1034415"/>
            </a:xfrm>
            <a:prstGeom prst="rect">
              <a:avLst/>
            </a:prstGeom>
            <a:noFill/>
            <a:ln>
              <a:noFill/>
            </a:ln>
          </p:spPr>
          <p:txBody>
            <a:bodyPr wrap="none" lIns="0" tIns="0" rIns="0" bIns="0" anchor="t" anchorCtr="0">
              <a:spAutoFit/>
            </a:bodyPr>
            <a:lstStyle/>
            <a:p>
              <a:pPr algn="l">
                <a:lnSpc>
                  <a:spcPts val="3525"/>
                </a:lnSpc>
              </a:pPr>
              <a:r>
                <a:rPr lang="vi-VN" sz="3000" dirty="0">
                  <a:solidFill>
                    <a:schemeClr val="dk1"/>
                  </a:solidFill>
                  <a:latin typeface="+mj-lt"/>
                  <a:ea typeface="+mj-ea"/>
                  <a:cs typeface="+mj-cs"/>
                </a:rPr>
                <a:t>Ba biến thể nano dùng chung cấu hình fine-tune</a:t>
              </a:r>
              <a:br>
                <a:rPr lang="vi-VN" sz="3000" dirty="0">
                  <a:solidFill>
                    <a:schemeClr val="dk1"/>
                  </a:solidFill>
                  <a:latin typeface="+mj-lt"/>
                  <a:ea typeface="+mj-ea"/>
                  <a:cs typeface="+mj-cs"/>
                </a:rPr>
              </a:br>
              <a:r>
                <a:rPr lang="vi-VN" sz="3000" dirty="0">
                  <a:solidFill>
                    <a:schemeClr val="dk1"/>
                  </a:solidFill>
                  <a:latin typeface="+mj-lt"/>
                  <a:ea typeface="+mj-ea"/>
                  <a:cs typeface="+mj-cs"/>
                </a:rPr>
                <a:t>tường minh</a:t>
              </a:r>
            </a:p>
          </p:txBody>
        </p:sp>
      </p:grpSp>
      <p:grpSp>
        <p:nvGrpSpPr>
          <p:cNvPr id="10" name="model-masthead"/>
          <p:cNvGrpSpPr/>
          <p:nvPr/>
        </p:nvGrpSpPr>
        <p:grpSpPr>
          <a:xfrm>
            <a:off x="519684" y="1851025"/>
            <a:ext cx="11138916" cy="568325"/>
            <a:chOff x="519684" y="1851025"/>
            <a:chExt cx="11138916" cy="568325"/>
          </a:xfrm>
        </p:grpSpPr>
        <p:sp>
          <p:nvSpPr>
            <p:cNvPr id="6" name="TextBox 6"/>
            <p:cNvSpPr txBox="1"/>
            <p:nvPr/>
          </p:nvSpPr>
          <p:spPr>
            <a:xfrm>
              <a:off x="519684" y="1851025"/>
              <a:ext cx="1758636" cy="528066"/>
            </a:xfrm>
            <a:prstGeom prst="rect">
              <a:avLst/>
            </a:prstGeom>
            <a:noFill/>
            <a:ln>
              <a:noFill/>
            </a:ln>
          </p:spPr>
          <p:txBody>
            <a:bodyPr wrap="none" lIns="0" tIns="0" rIns="0" bIns="0" anchor="t" anchorCtr="0">
              <a:spAutoFit/>
            </a:bodyPr>
            <a:lstStyle/>
            <a:p>
              <a:pPr algn="l"/>
              <a:r>
                <a:rPr lang="vi-VN" sz="2700" b="1" dirty="0">
                  <a:solidFill>
                    <a:srgbClr val="176B87"/>
                  </a:solidFill>
                  <a:latin typeface="+mn-lt"/>
                  <a:ea typeface="+mn-ea"/>
                  <a:cs typeface="+mn-cs"/>
                </a:rPr>
                <a:t>YOLO11n</a:t>
              </a:r>
            </a:p>
          </p:txBody>
        </p:sp>
        <p:sp>
          <p:nvSpPr>
            <p:cNvPr id="7" name="TextBox 7"/>
            <p:cNvSpPr txBox="1"/>
            <p:nvPr/>
          </p:nvSpPr>
          <p:spPr>
            <a:xfrm>
              <a:off x="4672584" y="1851025"/>
              <a:ext cx="1746136" cy="528066"/>
            </a:xfrm>
            <a:prstGeom prst="rect">
              <a:avLst/>
            </a:prstGeom>
            <a:noFill/>
            <a:ln>
              <a:noFill/>
            </a:ln>
          </p:spPr>
          <p:txBody>
            <a:bodyPr wrap="none" lIns="0" tIns="0" rIns="0" bIns="0" anchor="t" anchorCtr="0">
              <a:spAutoFit/>
            </a:bodyPr>
            <a:lstStyle/>
            <a:p>
              <a:pPr algn="l"/>
              <a:r>
                <a:rPr lang="vi-VN" sz="2700" b="1" dirty="0">
                  <a:solidFill>
                    <a:srgbClr val="61899C"/>
                  </a:solidFill>
                  <a:latin typeface="+mn-lt"/>
                  <a:ea typeface="+mn-ea"/>
                  <a:cs typeface="+mn-cs"/>
                </a:rPr>
                <a:t>YOLOv8n</a:t>
              </a:r>
            </a:p>
          </p:txBody>
        </p:sp>
        <p:sp>
          <p:nvSpPr>
            <p:cNvPr id="8" name="TextBox 8"/>
            <p:cNvSpPr txBox="1"/>
            <p:nvPr/>
          </p:nvSpPr>
          <p:spPr>
            <a:xfrm>
              <a:off x="8835009" y="1851025"/>
              <a:ext cx="1758636" cy="528066"/>
            </a:xfrm>
            <a:prstGeom prst="rect">
              <a:avLst/>
            </a:prstGeom>
            <a:noFill/>
            <a:ln>
              <a:noFill/>
            </a:ln>
          </p:spPr>
          <p:txBody>
            <a:bodyPr wrap="none" lIns="0" tIns="0" rIns="0" bIns="0" anchor="t" anchorCtr="0">
              <a:spAutoFit/>
            </a:bodyPr>
            <a:lstStyle/>
            <a:p>
              <a:pPr algn="l"/>
              <a:r>
                <a:rPr lang="vi-VN" sz="2700" b="1" dirty="0">
                  <a:solidFill>
                    <a:schemeClr val="accent3"/>
                  </a:solidFill>
                  <a:latin typeface="+mn-lt"/>
                  <a:ea typeface="+mn-ea"/>
                  <a:cs typeface="+mn-cs"/>
                </a:rPr>
                <a:t>YOLO26n</a:t>
              </a:r>
            </a:p>
          </p:txBody>
        </p:sp>
        <p:sp>
          <p:nvSpPr>
            <p:cNvPr id="9" name="Line 9"/>
            <p:cNvSpPr/>
            <p:nvPr/>
          </p:nvSpPr>
          <p:spPr>
            <a:xfrm>
              <a:off x="533400" y="2409825"/>
              <a:ext cx="11125200" cy="9525"/>
            </a:xfrm>
            <a:custGeom>
              <a:avLst/>
              <a:gdLst/>
              <a:ahLst/>
              <a:cxnLst/>
              <a:rect l="l" t="t" r="r" b="b"/>
              <a:pathLst>
                <a:path w="11125200" h="9525">
                  <a:moveTo>
                    <a:pt x="0" y="0"/>
                  </a:moveTo>
                  <a:lnTo>
                    <a:pt x="11125200" y="0"/>
                  </a:lnTo>
                </a:path>
              </a:pathLst>
            </a:custGeom>
            <a:noFill/>
            <a:ln w="9525">
              <a:solidFill>
                <a:schemeClr val="accent6"/>
              </a:solidFill>
            </a:ln>
          </p:spPr>
        </p:sp>
      </p:grpSp>
      <p:grpSp>
        <p:nvGrpSpPr>
          <p:cNvPr id="27" name="data-table"/>
          <p:cNvGrpSpPr/>
          <p:nvPr/>
        </p:nvGrpSpPr>
        <p:grpSpPr>
          <a:xfrm>
            <a:off x="533400" y="2714625"/>
            <a:ext cx="11125200" cy="2691257"/>
            <a:chOff x="533400" y="2714625"/>
            <a:chExt cx="11125200" cy="2691257"/>
          </a:xfrm>
        </p:grpSpPr>
        <p:sp>
          <p:nvSpPr>
            <p:cNvPr id="11" name="Rectangle 11"/>
            <p:cNvSpPr/>
            <p:nvPr/>
          </p:nvSpPr>
          <p:spPr>
            <a:xfrm>
              <a:off x="533400" y="2714625"/>
              <a:ext cx="11125200" cy="552450"/>
            </a:xfrm>
            <a:prstGeom prst="rect">
              <a:avLst/>
            </a:prstGeom>
            <a:solidFill>
              <a:schemeClr val="lt2"/>
            </a:solidFill>
            <a:ln>
              <a:noFill/>
            </a:ln>
          </p:spPr>
        </p:sp>
        <p:grpSp>
          <p:nvGrpSpPr>
            <p:cNvPr id="14" name="config-header"/>
            <p:cNvGrpSpPr/>
            <p:nvPr/>
          </p:nvGrpSpPr>
          <p:grpSpPr>
            <a:xfrm>
              <a:off x="677418" y="2873375"/>
              <a:ext cx="3736761" cy="322707"/>
              <a:chOff x="677418" y="2873375"/>
              <a:chExt cx="3736761" cy="322707"/>
            </a:xfrm>
          </p:grpSpPr>
          <p:sp>
            <p:nvSpPr>
              <p:cNvPr id="12" name="TextBox 12"/>
              <p:cNvSpPr txBox="1"/>
              <p:nvPr/>
            </p:nvSpPr>
            <p:spPr>
              <a:xfrm>
                <a:off x="677418" y="2873375"/>
                <a:ext cx="1283184"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Thành phần</a:t>
                </a:r>
              </a:p>
            </p:txBody>
          </p:sp>
          <p:sp>
            <p:nvSpPr>
              <p:cNvPr id="13" name="TextBox 13"/>
              <p:cNvSpPr txBox="1"/>
              <p:nvPr/>
            </p:nvSpPr>
            <p:spPr>
              <a:xfrm>
                <a:off x="3439668" y="2873375"/>
                <a:ext cx="974511"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Cấu hình</a:t>
                </a:r>
              </a:p>
            </p:txBody>
          </p:sp>
        </p:grpSp>
        <p:grpSp>
          <p:nvGrpSpPr>
            <p:cNvPr id="17" name="initialization"/>
            <p:cNvGrpSpPr/>
            <p:nvPr/>
          </p:nvGrpSpPr>
          <p:grpSpPr>
            <a:xfrm>
              <a:off x="677418" y="3425825"/>
              <a:ext cx="6524352" cy="322707"/>
              <a:chOff x="677418" y="3425825"/>
              <a:chExt cx="6524352" cy="322707"/>
            </a:xfrm>
          </p:grpSpPr>
          <p:sp>
            <p:nvSpPr>
              <p:cNvPr id="15" name="TextBox 15"/>
              <p:cNvSpPr txBox="1"/>
              <p:nvPr/>
            </p:nvSpPr>
            <p:spPr>
              <a:xfrm>
                <a:off x="677418" y="3425825"/>
                <a:ext cx="18021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Khởi tạo / thư viện</a:t>
                </a:r>
              </a:p>
            </p:txBody>
          </p:sp>
          <p:sp>
            <p:nvSpPr>
              <p:cNvPr id="16" name="TextBox 16"/>
              <p:cNvSpPr txBox="1"/>
              <p:nvPr/>
            </p:nvSpPr>
            <p:spPr>
              <a:xfrm>
                <a:off x="3439668" y="3425825"/>
                <a:ext cx="376210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COCO-pretrained · Ultralytics 8.4.190</a:t>
                </a:r>
              </a:p>
            </p:txBody>
          </p:sp>
        </p:grpSp>
        <p:grpSp>
          <p:nvGrpSpPr>
            <p:cNvPr id="20" name="budget"/>
            <p:cNvGrpSpPr/>
            <p:nvPr/>
          </p:nvGrpSpPr>
          <p:grpSpPr>
            <a:xfrm>
              <a:off x="677418" y="3978275"/>
              <a:ext cx="7156881" cy="322707"/>
              <a:chOff x="677418" y="3978275"/>
              <a:chExt cx="7156881" cy="322707"/>
            </a:xfrm>
          </p:grpSpPr>
          <p:sp>
            <p:nvSpPr>
              <p:cNvPr id="18" name="TextBox 18"/>
              <p:cNvSpPr txBox="1"/>
              <p:nvPr/>
            </p:nvSpPr>
            <p:spPr>
              <a:xfrm>
                <a:off x="677418" y="3978275"/>
                <a:ext cx="10862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Ngân sách</a:t>
                </a:r>
              </a:p>
            </p:txBody>
          </p:sp>
          <p:sp>
            <p:nvSpPr>
              <p:cNvPr id="19" name="TextBox 19"/>
              <p:cNvSpPr txBox="1"/>
              <p:nvPr/>
            </p:nvSpPr>
            <p:spPr>
              <a:xfrm>
                <a:off x="3439668" y="3978275"/>
                <a:ext cx="439463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150 epoch · batch 8 · ảnh 640 · patience = 0</a:t>
                </a:r>
              </a:p>
            </p:txBody>
          </p:sp>
        </p:grpSp>
        <p:grpSp>
          <p:nvGrpSpPr>
            <p:cNvPr id="23" name="optimization"/>
            <p:cNvGrpSpPr/>
            <p:nvPr/>
          </p:nvGrpSpPr>
          <p:grpSpPr>
            <a:xfrm>
              <a:off x="677418" y="4530725"/>
              <a:ext cx="8274744" cy="322707"/>
              <a:chOff x="677418" y="4530725"/>
              <a:chExt cx="8274744" cy="322707"/>
            </a:xfrm>
          </p:grpSpPr>
          <p:sp>
            <p:nvSpPr>
              <p:cNvPr id="21" name="TextBox 21"/>
              <p:cNvSpPr txBox="1"/>
              <p:nvPr/>
            </p:nvSpPr>
            <p:spPr>
              <a:xfrm>
                <a:off x="677418" y="4530725"/>
                <a:ext cx="6411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Tối ưu</a:t>
                </a:r>
              </a:p>
            </p:txBody>
          </p:sp>
          <p:sp>
            <p:nvSpPr>
              <p:cNvPr id="22" name="TextBox 22"/>
              <p:cNvSpPr txBox="1"/>
              <p:nvPr/>
            </p:nvSpPr>
            <p:spPr>
              <a:xfrm>
                <a:off x="3439668" y="4530725"/>
                <a:ext cx="55124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SGD · lr 0,01 · momentum 0,937 · weight decay 0,0005</a:t>
                </a:r>
              </a:p>
            </p:txBody>
          </p:sp>
        </p:grpSp>
        <p:grpSp>
          <p:nvGrpSpPr>
            <p:cNvPr id="26" name="augmentation"/>
            <p:cNvGrpSpPr/>
            <p:nvPr/>
          </p:nvGrpSpPr>
          <p:grpSpPr>
            <a:xfrm>
              <a:off x="677418" y="5083175"/>
              <a:ext cx="8927279" cy="322707"/>
              <a:chOff x="677418" y="5083175"/>
              <a:chExt cx="8927279" cy="322707"/>
            </a:xfrm>
          </p:grpSpPr>
          <p:sp>
            <p:nvSpPr>
              <p:cNvPr id="24" name="TextBox 24"/>
              <p:cNvSpPr txBox="1"/>
              <p:nvPr/>
            </p:nvSpPr>
            <p:spPr>
              <a:xfrm>
                <a:off x="677418" y="5083175"/>
                <a:ext cx="12588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Biến đổi ảnh</a:t>
                </a:r>
              </a:p>
            </p:txBody>
          </p:sp>
          <p:sp>
            <p:nvSpPr>
              <p:cNvPr id="25" name="TextBox 25"/>
              <p:cNvSpPr txBox="1"/>
              <p:nvPr/>
            </p:nvSpPr>
            <p:spPr>
              <a:xfrm>
                <a:off x="3439668" y="5083175"/>
                <a:ext cx="616502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Tắt mosaic, mixup, HSV · translate 0,05 · scale 0,15 · fliplr 0,5</a:t>
                </a:r>
              </a:p>
            </p:txBody>
          </p:sp>
        </p:grpSp>
      </p:grpSp>
      <p:grpSp>
        <p:nvGrpSpPr>
          <p:cNvPr id="29" name="matched-seeds"/>
          <p:cNvGrpSpPr/>
          <p:nvPr/>
        </p:nvGrpSpPr>
        <p:grpSpPr>
          <a:xfrm>
            <a:off x="525018" y="5940425"/>
            <a:ext cx="8013871" cy="322707"/>
            <a:chOff x="525018" y="5940425"/>
            <a:chExt cx="8013871" cy="322707"/>
          </a:xfrm>
        </p:grpSpPr>
        <p:sp>
          <p:nvSpPr>
            <p:cNvPr id="28" name="TextBox 28"/>
            <p:cNvSpPr txBox="1"/>
            <p:nvPr/>
          </p:nvSpPr>
          <p:spPr>
            <a:xfrm>
              <a:off x="525018" y="5940425"/>
              <a:ext cx="8013871"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Seed dùng lại: 13, 37, 71; mỗi model có 2 miền huấn luyện × 3 seed = 6 lượt.</a:t>
              </a:r>
            </a:p>
          </p:txBody>
        </p:sp>
      </p:grpSp>
      <p:grpSp>
        <p:nvGrpSpPr>
          <p:cNvPr id="32" name="source"/>
          <p:cNvGrpSpPr/>
          <p:nvPr/>
        </p:nvGrpSpPr>
        <p:grpSpPr>
          <a:xfrm>
            <a:off x="528638" y="6467475"/>
            <a:ext cx="11129962" cy="261937"/>
            <a:chOff x="528638" y="6467475"/>
            <a:chExt cx="11129962" cy="261937"/>
          </a:xfrm>
        </p:grpSpPr>
        <p:sp>
          <p:nvSpPr>
            <p:cNvPr id="30" name="Line 30"/>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31" name="TextBox 31"/>
            <p:cNvSpPr txBox="1"/>
            <p:nvPr/>
          </p:nvSpPr>
          <p:spPr>
            <a:xfrm>
              <a:off x="528638" y="6553200"/>
              <a:ext cx="4587655"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thiết lập thực nghiệm; data/training_audit.csv · 18/18 log đủ 150 epoch</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1396365"/>
            <a:chOff x="518160" y="244475"/>
            <a:chExt cx="11147298" cy="1396365"/>
          </a:xfrm>
        </p:grpSpPr>
        <p:sp>
          <p:nvSpPr>
            <p:cNvPr id="2" name="TextBox 2"/>
            <p:cNvSpPr txBox="1"/>
            <p:nvPr/>
          </p:nvSpPr>
          <p:spPr>
            <a:xfrm>
              <a:off x="528066" y="282575"/>
              <a:ext cx="222624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05 · MÔ HÌNH VÀ HUẤN LUYỆN</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12</a:t>
              </a:r>
            </a:p>
          </p:txBody>
        </p:sp>
        <p:sp>
          <p:nvSpPr>
            <p:cNvPr id="4" name="TextBox 4"/>
            <p:cNvSpPr txBox="1"/>
            <p:nvPr/>
          </p:nvSpPr>
          <p:spPr>
            <a:xfrm>
              <a:off x="518160" y="606425"/>
              <a:ext cx="8507850" cy="1034415"/>
            </a:xfrm>
            <a:prstGeom prst="rect">
              <a:avLst/>
            </a:prstGeom>
            <a:noFill/>
            <a:ln>
              <a:noFill/>
            </a:ln>
          </p:spPr>
          <p:txBody>
            <a:bodyPr wrap="none" lIns="0" tIns="0" rIns="0" bIns="0" anchor="t" anchorCtr="0">
              <a:spAutoFit/>
            </a:bodyPr>
            <a:lstStyle/>
            <a:p>
              <a:pPr algn="l">
                <a:lnSpc>
                  <a:spcPts val="3525"/>
                </a:lnSpc>
              </a:pPr>
              <a:r>
                <a:rPr lang="vi-VN" sz="3000" dirty="0">
                  <a:solidFill>
                    <a:schemeClr val="dk1"/>
                  </a:solidFill>
                  <a:latin typeface="+mj-lt"/>
                  <a:ea typeface="+mj-ea"/>
                  <a:cs typeface="+mj-cs"/>
                </a:rPr>
                <a:t>Log đủ 150 epoch; đỉnh validation xuất hiện</a:t>
              </a:r>
              <a:br>
                <a:rPr lang="vi-VN" sz="3000" dirty="0">
                  <a:solidFill>
                    <a:schemeClr val="dk1"/>
                  </a:solidFill>
                  <a:latin typeface="+mj-lt"/>
                  <a:ea typeface="+mj-ea"/>
                  <a:cs typeface="+mj-cs"/>
                </a:rPr>
              </a:br>
              <a:r>
                <a:rPr lang="vi-VN" sz="3000" dirty="0">
                  <a:solidFill>
                    <a:schemeClr val="dk1"/>
                  </a:solidFill>
                  <a:latin typeface="+mj-lt"/>
                  <a:ea typeface="+mj-ea"/>
                  <a:cs typeface="+mj-cs"/>
                </a:rPr>
                <a:t>trước khi kết thúc</a:t>
              </a:r>
            </a:p>
          </p:txBody>
        </p:sp>
      </p:grpSp>
      <p:grpSp>
        <p:nvGrpSpPr>
          <p:cNvPr id="7" name="training-history"/>
          <p:cNvGrpSpPr/>
          <p:nvPr/>
        </p:nvGrpSpPr>
        <p:grpSpPr>
          <a:xfrm>
            <a:off x="533400" y="1704975"/>
            <a:ext cx="11125200" cy="3476625"/>
            <a:chOff x="533400" y="1704975"/>
            <a:chExt cx="11125200" cy="3476625"/>
          </a:xfrm>
        </p:grpSpPr>
        <p:pic>
          <p:nvPicPr>
            <p:cNvPr id="6" name="Image 6"/>
            <p:cNvPicPr>
              <a:picLocks noChangeAspect="1"/>
            </p:cNvPicPr>
            <p:nvPr/>
          </p:nvPicPr>
          <p:blipFill>
            <a:blip r:embed="rId2"/>
            <a:stretch>
              <a:fillRect/>
            </a:stretch>
          </p:blipFill>
          <p:spPr>
            <a:xfrm>
              <a:off x="533400" y="1704975"/>
              <a:ext cx="11125200" cy="3476625"/>
            </a:xfrm>
            <a:prstGeom prst="rect">
              <a:avLst/>
            </a:prstGeom>
          </p:spPr>
        </p:pic>
      </p:grpSp>
      <p:grpSp>
        <p:nvGrpSpPr>
          <p:cNvPr id="9" name="validation-peaks"/>
          <p:cNvGrpSpPr/>
          <p:nvPr/>
        </p:nvGrpSpPr>
        <p:grpSpPr>
          <a:xfrm>
            <a:off x="522732" y="5327650"/>
            <a:ext cx="8320305" cy="410718"/>
            <a:chOff x="522732" y="5327650"/>
            <a:chExt cx="8320305" cy="410718"/>
          </a:xfrm>
        </p:grpSpPr>
        <p:sp>
          <p:nvSpPr>
            <p:cNvPr id="8" name="TextBox 8"/>
            <p:cNvSpPr txBox="1"/>
            <p:nvPr/>
          </p:nvSpPr>
          <p:spPr>
            <a:xfrm>
              <a:off x="522732" y="5327650"/>
              <a:ext cx="8320305"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YOLO11n–Drone: đỉnh mAP validation ở epoch 110 / 92 / 111.</a:t>
              </a:r>
            </a:p>
          </p:txBody>
        </p:sp>
      </p:grpSp>
      <p:grpSp>
        <p:nvGrpSpPr>
          <p:cNvPr id="11" name="takeaway"/>
          <p:cNvGrpSpPr/>
          <p:nvPr/>
        </p:nvGrpSpPr>
        <p:grpSpPr>
          <a:xfrm>
            <a:off x="525018" y="5940425"/>
            <a:ext cx="9780653" cy="322707"/>
            <a:chOff x="525018" y="5940425"/>
            <a:chExt cx="9780653" cy="322707"/>
          </a:xfrm>
        </p:grpSpPr>
        <p:sp>
          <p:nvSpPr>
            <p:cNvPr id="10" name="TextBox 10"/>
            <p:cNvSpPr txBox="1"/>
            <p:nvPr/>
          </p:nvSpPr>
          <p:spPr>
            <a:xfrm>
              <a:off x="525018" y="5940425"/>
              <a:ext cx="97806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điểm tròn là cực đại mAP validation được ghi trong log; chưa chứng minh hội tụ tối ưu toàn cục.</a:t>
              </a:r>
            </a:p>
          </p:txBody>
        </p:sp>
      </p:grpSp>
      <p:grpSp>
        <p:nvGrpSpPr>
          <p:cNvPr id="14" name="source"/>
          <p:cNvGrpSpPr/>
          <p:nvPr/>
        </p:nvGrpSpPr>
        <p:grpSpPr>
          <a:xfrm>
            <a:off x="528638" y="6467475"/>
            <a:ext cx="11129962" cy="261937"/>
            <a:chOff x="528638" y="6467475"/>
            <a:chExt cx="11129962" cy="261937"/>
          </a:xfrm>
        </p:grpSpPr>
        <p:sp>
          <p:nvSpPr>
            <p:cNvPr id="12" name="Line 12"/>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13" name="TextBox 13"/>
            <p:cNvSpPr txBox="1"/>
            <p:nvPr/>
          </p:nvSpPr>
          <p:spPr>
            <a:xfrm>
              <a:off x="528638" y="6553200"/>
              <a:ext cx="5243315"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Vẽ lại từ log YOLO11n–Drone, seed 13/37/71 · Tương ứng paper, Hình 1; đường không làm mượt</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076804"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06 · KẾT QUẢ THỰC NGHIỆM</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13</a:t>
              </a:r>
            </a:p>
          </p:txBody>
        </p:sp>
        <p:sp>
          <p:nvSpPr>
            <p:cNvPr id="4" name="TextBox 4"/>
            <p:cNvSpPr txBox="1"/>
            <p:nvPr/>
          </p:nvSpPr>
          <p:spPr>
            <a:xfrm>
              <a:off x="518160" y="593725"/>
              <a:ext cx="9818903"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Huấn luyện đúng miền đích có lợi thế ở cả ba model</a:t>
              </a:r>
            </a:p>
          </p:txBody>
        </p:sp>
      </p:grpSp>
      <p:grpSp>
        <p:nvGrpSpPr>
          <p:cNvPr id="51" name="drone-performance"/>
          <p:cNvGrpSpPr/>
          <p:nvPr/>
        </p:nvGrpSpPr>
        <p:grpSpPr>
          <a:xfrm>
            <a:off x="522732" y="1812925"/>
            <a:ext cx="4865359" cy="3810508"/>
            <a:chOff x="522732" y="1812925"/>
            <a:chExt cx="4865359" cy="3810508"/>
          </a:xfrm>
        </p:grpSpPr>
        <p:sp>
          <p:nvSpPr>
            <p:cNvPr id="6" name="TextBox 6"/>
            <p:cNvSpPr txBox="1"/>
            <p:nvPr/>
          </p:nvSpPr>
          <p:spPr>
            <a:xfrm>
              <a:off x="522732" y="1812925"/>
              <a:ext cx="1516519"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Drone Test</a:t>
              </a:r>
            </a:p>
          </p:txBody>
        </p:sp>
        <p:grpSp>
          <p:nvGrpSpPr>
            <p:cNvPr id="36" name="drone-performance-chartArea"/>
            <p:cNvGrpSpPr/>
            <p:nvPr/>
          </p:nvGrpSpPr>
          <p:grpSpPr>
            <a:xfrm>
              <a:off x="1762125" y="2381250"/>
              <a:ext cx="2390775" cy="2838450"/>
              <a:chOff x="1762125" y="2381250"/>
              <a:chExt cx="2390775" cy="2838450"/>
            </a:xfrm>
          </p:grpSpPr>
          <p:sp>
            <p:nvSpPr>
              <p:cNvPr id="7" name="Line 7"/>
              <p:cNvSpPr/>
              <p:nvPr/>
            </p:nvSpPr>
            <p:spPr>
              <a:xfrm>
                <a:off x="1762125"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8" name="Line 8"/>
              <p:cNvSpPr/>
              <p:nvPr/>
            </p:nvSpPr>
            <p:spPr>
              <a:xfrm>
                <a:off x="2555872"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9" name="Line 9"/>
              <p:cNvSpPr/>
              <p:nvPr/>
            </p:nvSpPr>
            <p:spPr>
              <a:xfrm>
                <a:off x="3349628"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10" name="Line 10"/>
              <p:cNvSpPr/>
              <p:nvPr/>
            </p:nvSpPr>
            <p:spPr>
              <a:xfrm>
                <a:off x="4143375"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11" name="drone-in-11"/>
              <p:cNvSpPr/>
              <p:nvPr/>
            </p:nvSpPr>
            <p:spPr>
              <a:xfrm>
                <a:off x="1762125" y="2543175"/>
                <a:ext cx="888454" cy="190500"/>
              </a:xfrm>
              <a:prstGeom prst="rect">
                <a:avLst/>
              </a:prstGeom>
              <a:solidFill>
                <a:schemeClr val="accent2"/>
              </a:solidFill>
              <a:ln>
                <a:noFill/>
              </a:ln>
            </p:spPr>
          </p:sp>
          <p:sp>
            <p:nvSpPr>
              <p:cNvPr id="12" name="drone-cross-11"/>
              <p:cNvSpPr/>
              <p:nvPr/>
            </p:nvSpPr>
            <p:spPr>
              <a:xfrm>
                <a:off x="1762125" y="2876550"/>
                <a:ext cx="287817" cy="190500"/>
              </a:xfrm>
              <a:prstGeom prst="rect">
                <a:avLst/>
              </a:prstGeom>
              <a:solidFill>
                <a:srgbClr val="AABCC8"/>
              </a:solidFill>
              <a:ln>
                <a:noFill/>
              </a:ln>
            </p:spPr>
          </p:sp>
          <p:sp>
            <p:nvSpPr>
              <p:cNvPr id="13" name="drone-in-8"/>
              <p:cNvSpPr/>
              <p:nvPr/>
            </p:nvSpPr>
            <p:spPr>
              <a:xfrm>
                <a:off x="1762125" y="3524250"/>
                <a:ext cx="849659" cy="190500"/>
              </a:xfrm>
              <a:prstGeom prst="rect">
                <a:avLst/>
              </a:prstGeom>
              <a:solidFill>
                <a:schemeClr val="accent2"/>
              </a:solidFill>
              <a:ln>
                <a:noFill/>
              </a:ln>
            </p:spPr>
          </p:sp>
          <p:sp>
            <p:nvSpPr>
              <p:cNvPr id="14" name="drone-cross-8"/>
              <p:cNvSpPr/>
              <p:nvPr/>
            </p:nvSpPr>
            <p:spPr>
              <a:xfrm>
                <a:off x="1762125" y="3857625"/>
                <a:ext cx="260032" cy="190500"/>
              </a:xfrm>
              <a:prstGeom prst="rect">
                <a:avLst/>
              </a:prstGeom>
              <a:solidFill>
                <a:srgbClr val="AABCC8"/>
              </a:solidFill>
              <a:ln>
                <a:noFill/>
              </a:ln>
            </p:spPr>
          </p:sp>
          <p:sp>
            <p:nvSpPr>
              <p:cNvPr id="15" name="drone-in-26"/>
              <p:cNvSpPr/>
              <p:nvPr/>
            </p:nvSpPr>
            <p:spPr>
              <a:xfrm>
                <a:off x="1762125" y="4505325"/>
                <a:ext cx="971807" cy="190500"/>
              </a:xfrm>
              <a:prstGeom prst="rect">
                <a:avLst/>
              </a:prstGeom>
              <a:solidFill>
                <a:schemeClr val="accent2"/>
              </a:solidFill>
              <a:ln>
                <a:noFill/>
              </a:ln>
            </p:spPr>
          </p:sp>
          <p:sp>
            <p:nvSpPr>
              <p:cNvPr id="16" name="drone-cross-26"/>
              <p:cNvSpPr/>
              <p:nvPr/>
            </p:nvSpPr>
            <p:spPr>
              <a:xfrm>
                <a:off x="1762125" y="4838700"/>
                <a:ext cx="300857" cy="190500"/>
              </a:xfrm>
              <a:prstGeom prst="rect">
                <a:avLst/>
              </a:prstGeom>
              <a:solidFill>
                <a:srgbClr val="AABCC8"/>
              </a:solidFill>
              <a:ln>
                <a:noFill/>
              </a:ln>
            </p:spPr>
          </p:sp>
          <p:grpSp>
            <p:nvGrpSpPr>
              <p:cNvPr id="35" name="drone-sd"/>
              <p:cNvGrpSpPr/>
              <p:nvPr/>
            </p:nvGrpSpPr>
            <p:grpSpPr>
              <a:xfrm>
                <a:off x="1905286" y="2590800"/>
                <a:ext cx="867346" cy="2390775"/>
                <a:chOff x="1905286" y="2590800"/>
                <a:chExt cx="867346" cy="2390775"/>
              </a:xfrm>
            </p:grpSpPr>
            <p:sp>
              <p:nvSpPr>
                <p:cNvPr id="17" name="Line 17"/>
                <p:cNvSpPr/>
                <p:nvPr/>
              </p:nvSpPr>
              <p:spPr>
                <a:xfrm>
                  <a:off x="2578322" y="2638425"/>
                  <a:ext cx="144504" cy="9525"/>
                </a:xfrm>
                <a:custGeom>
                  <a:avLst/>
                  <a:gdLst/>
                  <a:ahLst/>
                  <a:cxnLst/>
                  <a:rect l="l" t="t" r="r" b="b"/>
                  <a:pathLst>
                    <a:path w="144504" h="9525">
                      <a:moveTo>
                        <a:pt x="0" y="0"/>
                      </a:moveTo>
                      <a:lnTo>
                        <a:pt x="144504" y="0"/>
                      </a:lnTo>
                    </a:path>
                  </a:pathLst>
                </a:custGeom>
                <a:noFill/>
                <a:ln w="14288">
                  <a:solidFill>
                    <a:schemeClr val="accent1"/>
                  </a:solidFill>
                </a:ln>
              </p:spPr>
            </p:sp>
            <p:sp>
              <p:nvSpPr>
                <p:cNvPr id="18" name="Line 18"/>
                <p:cNvSpPr/>
                <p:nvPr/>
              </p:nvSpPr>
              <p:spPr>
                <a:xfrm>
                  <a:off x="2578322" y="259080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19" name="Line 19"/>
                <p:cNvSpPr/>
                <p:nvPr/>
              </p:nvSpPr>
              <p:spPr>
                <a:xfrm>
                  <a:off x="2722826" y="259080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20" name="Line 20"/>
                <p:cNvSpPr/>
                <p:nvPr/>
              </p:nvSpPr>
              <p:spPr>
                <a:xfrm>
                  <a:off x="1905286" y="2971800"/>
                  <a:ext cx="289322" cy="9525"/>
                </a:xfrm>
                <a:custGeom>
                  <a:avLst/>
                  <a:gdLst/>
                  <a:ahLst/>
                  <a:cxnLst/>
                  <a:rect l="l" t="t" r="r" b="b"/>
                  <a:pathLst>
                    <a:path w="289322" h="9525">
                      <a:moveTo>
                        <a:pt x="0" y="0"/>
                      </a:moveTo>
                      <a:lnTo>
                        <a:pt x="289322" y="0"/>
                      </a:lnTo>
                    </a:path>
                  </a:pathLst>
                </a:custGeom>
                <a:noFill/>
                <a:ln w="14288">
                  <a:solidFill>
                    <a:schemeClr val="accent1"/>
                  </a:solidFill>
                </a:ln>
              </p:spPr>
            </p:sp>
            <p:sp>
              <p:nvSpPr>
                <p:cNvPr id="21" name="Line 21"/>
                <p:cNvSpPr/>
                <p:nvPr/>
              </p:nvSpPr>
              <p:spPr>
                <a:xfrm>
                  <a:off x="1905286" y="29241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22" name="Line 22"/>
                <p:cNvSpPr/>
                <p:nvPr/>
              </p:nvSpPr>
              <p:spPr>
                <a:xfrm>
                  <a:off x="2194608" y="29241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23" name="Line 23"/>
                <p:cNvSpPr/>
                <p:nvPr/>
              </p:nvSpPr>
              <p:spPr>
                <a:xfrm>
                  <a:off x="2543727" y="3619500"/>
                  <a:ext cx="136112" cy="9525"/>
                </a:xfrm>
                <a:custGeom>
                  <a:avLst/>
                  <a:gdLst/>
                  <a:ahLst/>
                  <a:cxnLst/>
                  <a:rect l="l" t="t" r="r" b="b"/>
                  <a:pathLst>
                    <a:path w="136112" h="9525">
                      <a:moveTo>
                        <a:pt x="0" y="0"/>
                      </a:moveTo>
                      <a:lnTo>
                        <a:pt x="136112" y="0"/>
                      </a:lnTo>
                    </a:path>
                  </a:pathLst>
                </a:custGeom>
                <a:noFill/>
                <a:ln w="14288">
                  <a:solidFill>
                    <a:schemeClr val="accent1"/>
                  </a:solidFill>
                </a:ln>
              </p:spPr>
            </p:sp>
            <p:sp>
              <p:nvSpPr>
                <p:cNvPr id="24" name="Line 24"/>
                <p:cNvSpPr/>
                <p:nvPr/>
              </p:nvSpPr>
              <p:spPr>
                <a:xfrm>
                  <a:off x="2543727" y="35718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25" name="Line 25"/>
                <p:cNvSpPr/>
                <p:nvPr/>
              </p:nvSpPr>
              <p:spPr>
                <a:xfrm>
                  <a:off x="2679840" y="35718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26" name="Line 26"/>
                <p:cNvSpPr/>
                <p:nvPr/>
              </p:nvSpPr>
              <p:spPr>
                <a:xfrm>
                  <a:off x="1919183" y="3952875"/>
                  <a:ext cx="205940" cy="9525"/>
                </a:xfrm>
                <a:custGeom>
                  <a:avLst/>
                  <a:gdLst/>
                  <a:ahLst/>
                  <a:cxnLst/>
                  <a:rect l="l" t="t" r="r" b="b"/>
                  <a:pathLst>
                    <a:path w="205940" h="9525">
                      <a:moveTo>
                        <a:pt x="0" y="0"/>
                      </a:moveTo>
                      <a:lnTo>
                        <a:pt x="205940" y="0"/>
                      </a:lnTo>
                    </a:path>
                  </a:pathLst>
                </a:custGeom>
                <a:noFill/>
                <a:ln w="14288">
                  <a:solidFill>
                    <a:schemeClr val="accent1"/>
                  </a:solidFill>
                </a:ln>
              </p:spPr>
            </p:sp>
            <p:sp>
              <p:nvSpPr>
                <p:cNvPr id="27" name="Line 27"/>
                <p:cNvSpPr/>
                <p:nvPr/>
              </p:nvSpPr>
              <p:spPr>
                <a:xfrm>
                  <a:off x="1919183" y="39052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28" name="Line 28"/>
                <p:cNvSpPr/>
                <p:nvPr/>
              </p:nvSpPr>
              <p:spPr>
                <a:xfrm>
                  <a:off x="2125123" y="39052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29" name="Line 29"/>
                <p:cNvSpPr/>
                <p:nvPr/>
              </p:nvSpPr>
              <p:spPr>
                <a:xfrm>
                  <a:off x="2704748" y="4600575"/>
                  <a:ext cx="58360" cy="9525"/>
                </a:xfrm>
                <a:custGeom>
                  <a:avLst/>
                  <a:gdLst/>
                  <a:ahLst/>
                  <a:cxnLst/>
                  <a:rect l="l" t="t" r="r" b="b"/>
                  <a:pathLst>
                    <a:path w="58360" h="9525">
                      <a:moveTo>
                        <a:pt x="0" y="0"/>
                      </a:moveTo>
                      <a:lnTo>
                        <a:pt x="58360" y="0"/>
                      </a:lnTo>
                    </a:path>
                  </a:pathLst>
                </a:custGeom>
                <a:noFill/>
                <a:ln w="14288">
                  <a:solidFill>
                    <a:schemeClr val="accent1"/>
                  </a:solidFill>
                </a:ln>
              </p:spPr>
            </p:sp>
            <p:sp>
              <p:nvSpPr>
                <p:cNvPr id="30" name="Line 30"/>
                <p:cNvSpPr/>
                <p:nvPr/>
              </p:nvSpPr>
              <p:spPr>
                <a:xfrm>
                  <a:off x="2704748" y="45529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31" name="Line 31"/>
                <p:cNvSpPr/>
                <p:nvPr/>
              </p:nvSpPr>
              <p:spPr>
                <a:xfrm>
                  <a:off x="2763107" y="45529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32" name="Line 32"/>
                <p:cNvSpPr/>
                <p:nvPr/>
              </p:nvSpPr>
              <p:spPr>
                <a:xfrm>
                  <a:off x="2056952" y="4933950"/>
                  <a:ext cx="12068" cy="9525"/>
                </a:xfrm>
                <a:custGeom>
                  <a:avLst/>
                  <a:gdLst/>
                  <a:ahLst/>
                  <a:cxnLst/>
                  <a:rect l="l" t="t" r="r" b="b"/>
                  <a:pathLst>
                    <a:path w="12068" h="9525">
                      <a:moveTo>
                        <a:pt x="0" y="0"/>
                      </a:moveTo>
                      <a:lnTo>
                        <a:pt x="12068" y="0"/>
                      </a:lnTo>
                    </a:path>
                  </a:pathLst>
                </a:custGeom>
                <a:noFill/>
                <a:ln w="14288">
                  <a:solidFill>
                    <a:schemeClr val="accent1"/>
                  </a:solidFill>
                </a:ln>
              </p:spPr>
            </p:sp>
            <p:sp>
              <p:nvSpPr>
                <p:cNvPr id="33" name="Line 33"/>
                <p:cNvSpPr/>
                <p:nvPr/>
              </p:nvSpPr>
              <p:spPr>
                <a:xfrm>
                  <a:off x="2056952" y="488632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34" name="Line 34"/>
                <p:cNvSpPr/>
                <p:nvPr/>
              </p:nvSpPr>
              <p:spPr>
                <a:xfrm>
                  <a:off x="2069020" y="4886325"/>
                  <a:ext cx="9525" cy="95250"/>
                </a:xfrm>
                <a:custGeom>
                  <a:avLst/>
                  <a:gdLst/>
                  <a:ahLst/>
                  <a:cxnLst/>
                  <a:rect l="l" t="t" r="r" b="b"/>
                  <a:pathLst>
                    <a:path w="9525" h="95250">
                      <a:moveTo>
                        <a:pt x="0" y="0"/>
                      </a:moveTo>
                      <a:lnTo>
                        <a:pt x="0" y="95250"/>
                      </a:lnTo>
                    </a:path>
                  </a:pathLst>
                </a:custGeom>
                <a:noFill/>
                <a:ln w="14288">
                  <a:solidFill>
                    <a:schemeClr val="accent1"/>
                  </a:solidFill>
                </a:ln>
              </p:spPr>
            </p:sp>
          </p:grpSp>
        </p:grpSp>
        <p:grpSp>
          <p:nvGrpSpPr>
            <p:cNvPr id="50" name="drone-labels"/>
            <p:cNvGrpSpPr/>
            <p:nvPr/>
          </p:nvGrpSpPr>
          <p:grpSpPr>
            <a:xfrm>
              <a:off x="526542" y="2530475"/>
              <a:ext cx="4861549" cy="3092958"/>
              <a:chOff x="526542" y="2530475"/>
              <a:chExt cx="4861549" cy="3092958"/>
            </a:xfrm>
          </p:grpSpPr>
          <p:sp>
            <p:nvSpPr>
              <p:cNvPr id="37" name="TextBox 37"/>
              <p:cNvSpPr txBox="1"/>
              <p:nvPr/>
            </p:nvSpPr>
            <p:spPr>
              <a:xfrm>
                <a:off x="526542" y="2682875"/>
                <a:ext cx="879318" cy="264033"/>
              </a:xfrm>
              <a:prstGeom prst="rect">
                <a:avLst/>
              </a:prstGeom>
              <a:noFill/>
              <a:ln>
                <a:noFill/>
              </a:ln>
            </p:spPr>
            <p:txBody>
              <a:bodyPr wrap="none" lIns="0" tIns="0" rIns="0" bIns="0" anchor="t" anchorCtr="0">
                <a:spAutoFit/>
              </a:bodyPr>
              <a:lstStyle/>
              <a:p>
                <a:pPr algn="l"/>
                <a:r>
                  <a:rPr lang="vi-VN" sz="1350" b="1" dirty="0">
                    <a:solidFill>
                      <a:schemeClr val="dk1"/>
                    </a:solidFill>
                    <a:latin typeface="+mn-lt"/>
                    <a:ea typeface="+mn-ea"/>
                    <a:cs typeface="+mn-cs"/>
                  </a:rPr>
                  <a:t>YOLO11n</a:t>
                </a:r>
              </a:p>
            </p:txBody>
          </p:sp>
          <p:sp>
            <p:nvSpPr>
              <p:cNvPr id="38" name="TextBox 38"/>
              <p:cNvSpPr txBox="1"/>
              <p:nvPr/>
            </p:nvSpPr>
            <p:spPr>
              <a:xfrm>
                <a:off x="526542" y="3663950"/>
                <a:ext cx="873068" cy="264033"/>
              </a:xfrm>
              <a:prstGeom prst="rect">
                <a:avLst/>
              </a:prstGeom>
              <a:noFill/>
              <a:ln>
                <a:noFill/>
              </a:ln>
            </p:spPr>
            <p:txBody>
              <a:bodyPr wrap="none" lIns="0" tIns="0" rIns="0" bIns="0" anchor="t" anchorCtr="0">
                <a:spAutoFit/>
              </a:bodyPr>
              <a:lstStyle/>
              <a:p>
                <a:pPr algn="l"/>
                <a:r>
                  <a:rPr lang="vi-VN" sz="1350" b="1" dirty="0">
                    <a:solidFill>
                      <a:schemeClr val="dk1"/>
                    </a:solidFill>
                    <a:latin typeface="+mn-lt"/>
                    <a:ea typeface="+mn-ea"/>
                    <a:cs typeface="+mn-cs"/>
                  </a:rPr>
                  <a:t>YOLOv8n</a:t>
                </a:r>
              </a:p>
            </p:txBody>
          </p:sp>
          <p:sp>
            <p:nvSpPr>
              <p:cNvPr id="39" name="TextBox 39"/>
              <p:cNvSpPr txBox="1"/>
              <p:nvPr/>
            </p:nvSpPr>
            <p:spPr>
              <a:xfrm>
                <a:off x="526542" y="4645025"/>
                <a:ext cx="879318" cy="264033"/>
              </a:xfrm>
              <a:prstGeom prst="rect">
                <a:avLst/>
              </a:prstGeom>
              <a:noFill/>
              <a:ln>
                <a:noFill/>
              </a:ln>
            </p:spPr>
            <p:txBody>
              <a:bodyPr wrap="none" lIns="0" tIns="0" rIns="0" bIns="0" anchor="t" anchorCtr="0">
                <a:spAutoFit/>
              </a:bodyPr>
              <a:lstStyle/>
              <a:p>
                <a:pPr algn="l"/>
                <a:r>
                  <a:rPr lang="vi-VN" sz="1350" b="1" dirty="0">
                    <a:solidFill>
                      <a:schemeClr val="accent3"/>
                    </a:solidFill>
                    <a:latin typeface="+mn-lt"/>
                    <a:ea typeface="+mn-ea"/>
                    <a:cs typeface="+mn-cs"/>
                  </a:rPr>
                  <a:t>YOLO26n</a:t>
                </a:r>
              </a:p>
            </p:txBody>
          </p:sp>
          <p:sp>
            <p:nvSpPr>
              <p:cNvPr id="40" name="TextBox 40"/>
              <p:cNvSpPr txBox="1"/>
              <p:nvPr/>
            </p:nvSpPr>
            <p:spPr>
              <a:xfrm>
                <a:off x="4365117" y="2530475"/>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22.39 ± 1.82</a:t>
                </a:r>
              </a:p>
            </p:txBody>
          </p:sp>
          <p:sp>
            <p:nvSpPr>
              <p:cNvPr id="41" name="TextBox 41"/>
              <p:cNvSpPr txBox="1"/>
              <p:nvPr/>
            </p:nvSpPr>
            <p:spPr>
              <a:xfrm>
                <a:off x="4365117" y="2863850"/>
                <a:ext cx="921892"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7.25 ± 3.64</a:t>
                </a:r>
              </a:p>
            </p:txBody>
          </p:sp>
          <p:sp>
            <p:nvSpPr>
              <p:cNvPr id="42" name="TextBox 42"/>
              <p:cNvSpPr txBox="1"/>
              <p:nvPr/>
            </p:nvSpPr>
            <p:spPr>
              <a:xfrm>
                <a:off x="4365117" y="3511550"/>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21.41 ± 1.71</a:t>
                </a:r>
              </a:p>
            </p:txBody>
          </p:sp>
          <p:sp>
            <p:nvSpPr>
              <p:cNvPr id="43" name="TextBox 43"/>
              <p:cNvSpPr txBox="1"/>
              <p:nvPr/>
            </p:nvSpPr>
            <p:spPr>
              <a:xfrm>
                <a:off x="4365117" y="3844925"/>
                <a:ext cx="921892"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6.55 ± 2.59</a:t>
                </a:r>
              </a:p>
            </p:txBody>
          </p:sp>
          <p:sp>
            <p:nvSpPr>
              <p:cNvPr id="44" name="TextBox 44"/>
              <p:cNvSpPr txBox="1"/>
              <p:nvPr/>
            </p:nvSpPr>
            <p:spPr>
              <a:xfrm>
                <a:off x="4365117" y="4492625"/>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24.49 ± 0.74</a:t>
                </a:r>
              </a:p>
            </p:txBody>
          </p:sp>
          <p:sp>
            <p:nvSpPr>
              <p:cNvPr id="45" name="TextBox 45"/>
              <p:cNvSpPr txBox="1"/>
              <p:nvPr/>
            </p:nvSpPr>
            <p:spPr>
              <a:xfrm>
                <a:off x="4365117" y="4826000"/>
                <a:ext cx="921892"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7.58 ± 0.15</a:t>
                </a:r>
              </a:p>
            </p:txBody>
          </p:sp>
          <p:sp>
            <p:nvSpPr>
              <p:cNvPr id="46" name="TextBox 46"/>
              <p:cNvSpPr txBox="1"/>
              <p:nvPr/>
            </p:nvSpPr>
            <p:spPr>
              <a:xfrm>
                <a:off x="1704726" y="5359400"/>
                <a:ext cx="114798"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0</a:t>
                </a:r>
              </a:p>
            </p:txBody>
          </p:sp>
          <p:sp>
            <p:nvSpPr>
              <p:cNvPr id="47" name="TextBox 47"/>
              <p:cNvSpPr txBox="1"/>
              <p:nvPr/>
            </p:nvSpPr>
            <p:spPr>
              <a:xfrm>
                <a:off x="2447932" y="5359400"/>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20</a:t>
                </a:r>
              </a:p>
            </p:txBody>
          </p:sp>
          <p:sp>
            <p:nvSpPr>
              <p:cNvPr id="48" name="TextBox 48"/>
              <p:cNvSpPr txBox="1"/>
              <p:nvPr/>
            </p:nvSpPr>
            <p:spPr>
              <a:xfrm>
                <a:off x="3241688" y="5359400"/>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40</a:t>
                </a:r>
              </a:p>
            </p:txBody>
          </p:sp>
          <p:sp>
            <p:nvSpPr>
              <p:cNvPr id="49" name="TextBox 49"/>
              <p:cNvSpPr txBox="1"/>
              <p:nvPr/>
            </p:nvSpPr>
            <p:spPr>
              <a:xfrm>
                <a:off x="4035435" y="5359400"/>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60</a:t>
                </a:r>
              </a:p>
            </p:txBody>
          </p:sp>
        </p:grpSp>
      </p:grpSp>
      <p:grpSp>
        <p:nvGrpSpPr>
          <p:cNvPr id="97" name="motorbike-performance"/>
          <p:cNvGrpSpPr/>
          <p:nvPr/>
        </p:nvGrpSpPr>
        <p:grpSpPr>
          <a:xfrm>
            <a:off x="6332982" y="1812925"/>
            <a:ext cx="4865359" cy="3810508"/>
            <a:chOff x="6332982" y="1812925"/>
            <a:chExt cx="4865359" cy="3810508"/>
          </a:xfrm>
        </p:grpSpPr>
        <p:sp>
          <p:nvSpPr>
            <p:cNvPr id="52" name="TextBox 52"/>
            <p:cNvSpPr txBox="1"/>
            <p:nvPr/>
          </p:nvSpPr>
          <p:spPr>
            <a:xfrm>
              <a:off x="6332982" y="1812925"/>
              <a:ext cx="2090023"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MotorBike Test</a:t>
              </a:r>
            </a:p>
          </p:txBody>
        </p:sp>
        <p:grpSp>
          <p:nvGrpSpPr>
            <p:cNvPr id="82" name="motorbike-performance-chartArea"/>
            <p:cNvGrpSpPr/>
            <p:nvPr/>
          </p:nvGrpSpPr>
          <p:grpSpPr>
            <a:xfrm>
              <a:off x="7572375" y="2381250"/>
              <a:ext cx="2390775" cy="2838450"/>
              <a:chOff x="7572375" y="2381250"/>
              <a:chExt cx="2390775" cy="2838450"/>
            </a:xfrm>
          </p:grpSpPr>
          <p:sp>
            <p:nvSpPr>
              <p:cNvPr id="53" name="Line 53"/>
              <p:cNvSpPr/>
              <p:nvPr/>
            </p:nvSpPr>
            <p:spPr>
              <a:xfrm>
                <a:off x="7572375"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54" name="Line 54"/>
              <p:cNvSpPr/>
              <p:nvPr/>
            </p:nvSpPr>
            <p:spPr>
              <a:xfrm>
                <a:off x="8366122"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55" name="Line 55"/>
              <p:cNvSpPr/>
              <p:nvPr/>
            </p:nvSpPr>
            <p:spPr>
              <a:xfrm>
                <a:off x="9159878"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56" name="Line 56"/>
              <p:cNvSpPr/>
              <p:nvPr/>
            </p:nvSpPr>
            <p:spPr>
              <a:xfrm>
                <a:off x="9953625" y="2381250"/>
                <a:ext cx="9525" cy="2838450"/>
              </a:xfrm>
              <a:custGeom>
                <a:avLst/>
                <a:gdLst/>
                <a:ahLst/>
                <a:cxnLst/>
                <a:rect l="l" t="t" r="r" b="b"/>
                <a:pathLst>
                  <a:path w="9525" h="2838450">
                    <a:moveTo>
                      <a:pt x="0" y="0"/>
                    </a:moveTo>
                    <a:lnTo>
                      <a:pt x="0" y="2838450"/>
                    </a:lnTo>
                  </a:path>
                </a:pathLst>
              </a:custGeom>
              <a:noFill/>
              <a:ln w="9525">
                <a:solidFill>
                  <a:schemeClr val="accent6"/>
                </a:solidFill>
              </a:ln>
            </p:spPr>
          </p:sp>
          <p:sp>
            <p:nvSpPr>
              <p:cNvPr id="57" name="motorbike-in-11"/>
              <p:cNvSpPr/>
              <p:nvPr/>
            </p:nvSpPr>
            <p:spPr>
              <a:xfrm>
                <a:off x="7572375" y="2543175"/>
                <a:ext cx="2106787" cy="190500"/>
              </a:xfrm>
              <a:prstGeom prst="rect">
                <a:avLst/>
              </a:prstGeom>
              <a:solidFill>
                <a:schemeClr val="accent2"/>
              </a:solidFill>
              <a:ln>
                <a:noFill/>
              </a:ln>
            </p:spPr>
          </p:sp>
          <p:sp>
            <p:nvSpPr>
              <p:cNvPr id="58" name="motorbike-cross-11"/>
              <p:cNvSpPr/>
              <p:nvPr/>
            </p:nvSpPr>
            <p:spPr>
              <a:xfrm>
                <a:off x="7572375" y="2876550"/>
                <a:ext cx="402698" cy="190500"/>
              </a:xfrm>
              <a:prstGeom prst="rect">
                <a:avLst/>
              </a:prstGeom>
              <a:solidFill>
                <a:srgbClr val="AABCC8"/>
              </a:solidFill>
              <a:ln>
                <a:noFill/>
              </a:ln>
            </p:spPr>
          </p:sp>
          <p:sp>
            <p:nvSpPr>
              <p:cNvPr id="59" name="motorbike-in-8"/>
              <p:cNvSpPr/>
              <p:nvPr/>
            </p:nvSpPr>
            <p:spPr>
              <a:xfrm>
                <a:off x="7572375" y="3524250"/>
                <a:ext cx="2034092" cy="190500"/>
              </a:xfrm>
              <a:prstGeom prst="rect">
                <a:avLst/>
              </a:prstGeom>
              <a:solidFill>
                <a:schemeClr val="accent2"/>
              </a:solidFill>
              <a:ln>
                <a:noFill/>
              </a:ln>
            </p:spPr>
          </p:sp>
          <p:sp>
            <p:nvSpPr>
              <p:cNvPr id="60" name="motorbike-cross-8"/>
              <p:cNvSpPr/>
              <p:nvPr/>
            </p:nvSpPr>
            <p:spPr>
              <a:xfrm>
                <a:off x="7572375" y="3857625"/>
                <a:ext cx="397440" cy="190500"/>
              </a:xfrm>
              <a:prstGeom prst="rect">
                <a:avLst/>
              </a:prstGeom>
              <a:solidFill>
                <a:srgbClr val="AABCC8"/>
              </a:solidFill>
              <a:ln>
                <a:noFill/>
              </a:ln>
            </p:spPr>
          </p:sp>
          <p:sp>
            <p:nvSpPr>
              <p:cNvPr id="61" name="motorbike-in-26"/>
              <p:cNvSpPr/>
              <p:nvPr/>
            </p:nvSpPr>
            <p:spPr>
              <a:xfrm>
                <a:off x="7572375" y="4505325"/>
                <a:ext cx="2173043" cy="190500"/>
              </a:xfrm>
              <a:prstGeom prst="rect">
                <a:avLst/>
              </a:prstGeom>
              <a:solidFill>
                <a:schemeClr val="accent2"/>
              </a:solidFill>
              <a:ln>
                <a:noFill/>
              </a:ln>
            </p:spPr>
          </p:sp>
          <p:sp>
            <p:nvSpPr>
              <p:cNvPr id="62" name="motorbike-cross-26"/>
              <p:cNvSpPr/>
              <p:nvPr/>
            </p:nvSpPr>
            <p:spPr>
              <a:xfrm>
                <a:off x="7572375" y="4838700"/>
                <a:ext cx="495491" cy="190500"/>
              </a:xfrm>
              <a:prstGeom prst="rect">
                <a:avLst/>
              </a:prstGeom>
              <a:solidFill>
                <a:srgbClr val="AABCC8"/>
              </a:solidFill>
              <a:ln>
                <a:noFill/>
              </a:ln>
            </p:spPr>
          </p:sp>
          <p:grpSp>
            <p:nvGrpSpPr>
              <p:cNvPr id="81" name="motorbike-sd"/>
              <p:cNvGrpSpPr/>
              <p:nvPr/>
            </p:nvGrpSpPr>
            <p:grpSpPr>
              <a:xfrm>
                <a:off x="7921733" y="2590800"/>
                <a:ext cx="1882321" cy="2390775"/>
                <a:chOff x="7921733" y="2590800"/>
                <a:chExt cx="1882321" cy="2390775"/>
              </a:xfrm>
            </p:grpSpPr>
            <p:sp>
              <p:nvSpPr>
                <p:cNvPr id="63" name="Line 63"/>
                <p:cNvSpPr/>
                <p:nvPr/>
              </p:nvSpPr>
              <p:spPr>
                <a:xfrm>
                  <a:off x="9661693" y="2638425"/>
                  <a:ext cx="34947" cy="9525"/>
                </a:xfrm>
                <a:custGeom>
                  <a:avLst/>
                  <a:gdLst/>
                  <a:ahLst/>
                  <a:cxnLst/>
                  <a:rect l="l" t="t" r="r" b="b"/>
                  <a:pathLst>
                    <a:path w="34947" h="9525">
                      <a:moveTo>
                        <a:pt x="0" y="0"/>
                      </a:moveTo>
                      <a:lnTo>
                        <a:pt x="34947" y="0"/>
                      </a:lnTo>
                    </a:path>
                  </a:pathLst>
                </a:custGeom>
                <a:noFill/>
                <a:ln w="14288">
                  <a:solidFill>
                    <a:schemeClr val="accent1"/>
                  </a:solidFill>
                </a:ln>
              </p:spPr>
            </p:sp>
            <p:sp>
              <p:nvSpPr>
                <p:cNvPr id="64" name="Line 64"/>
                <p:cNvSpPr/>
                <p:nvPr/>
              </p:nvSpPr>
              <p:spPr>
                <a:xfrm>
                  <a:off x="9661693" y="259080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65" name="Line 65"/>
                <p:cNvSpPr/>
                <p:nvPr/>
              </p:nvSpPr>
              <p:spPr>
                <a:xfrm>
                  <a:off x="9696640" y="259080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66" name="Line 66"/>
                <p:cNvSpPr/>
                <p:nvPr/>
              </p:nvSpPr>
              <p:spPr>
                <a:xfrm>
                  <a:off x="7958147" y="2971800"/>
                  <a:ext cx="33861" cy="9525"/>
                </a:xfrm>
                <a:custGeom>
                  <a:avLst/>
                  <a:gdLst/>
                  <a:ahLst/>
                  <a:cxnLst/>
                  <a:rect l="l" t="t" r="r" b="b"/>
                  <a:pathLst>
                    <a:path w="33861" h="9525">
                      <a:moveTo>
                        <a:pt x="0" y="0"/>
                      </a:moveTo>
                      <a:lnTo>
                        <a:pt x="33861" y="0"/>
                      </a:lnTo>
                    </a:path>
                  </a:pathLst>
                </a:custGeom>
                <a:noFill/>
                <a:ln w="14288">
                  <a:solidFill>
                    <a:schemeClr val="accent1"/>
                  </a:solidFill>
                </a:ln>
              </p:spPr>
            </p:sp>
            <p:sp>
              <p:nvSpPr>
                <p:cNvPr id="67" name="Line 67"/>
                <p:cNvSpPr/>
                <p:nvPr/>
              </p:nvSpPr>
              <p:spPr>
                <a:xfrm>
                  <a:off x="7958147" y="29241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68" name="Line 68"/>
                <p:cNvSpPr/>
                <p:nvPr/>
              </p:nvSpPr>
              <p:spPr>
                <a:xfrm>
                  <a:off x="7992008" y="29241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69" name="Line 69"/>
                <p:cNvSpPr/>
                <p:nvPr/>
              </p:nvSpPr>
              <p:spPr>
                <a:xfrm>
                  <a:off x="9593980" y="3619500"/>
                  <a:ext cx="24965" cy="9525"/>
                </a:xfrm>
                <a:custGeom>
                  <a:avLst/>
                  <a:gdLst/>
                  <a:ahLst/>
                  <a:cxnLst/>
                  <a:rect l="l" t="t" r="r" b="b"/>
                  <a:pathLst>
                    <a:path w="24965" h="9525">
                      <a:moveTo>
                        <a:pt x="0" y="0"/>
                      </a:moveTo>
                      <a:lnTo>
                        <a:pt x="24965" y="0"/>
                      </a:lnTo>
                    </a:path>
                  </a:pathLst>
                </a:custGeom>
                <a:noFill/>
                <a:ln w="14288">
                  <a:solidFill>
                    <a:schemeClr val="accent1"/>
                  </a:solidFill>
                </a:ln>
              </p:spPr>
            </p:sp>
            <p:sp>
              <p:nvSpPr>
                <p:cNvPr id="70" name="Line 70"/>
                <p:cNvSpPr/>
                <p:nvPr/>
              </p:nvSpPr>
              <p:spPr>
                <a:xfrm>
                  <a:off x="9593980" y="35718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71" name="Line 71"/>
                <p:cNvSpPr/>
                <p:nvPr/>
              </p:nvSpPr>
              <p:spPr>
                <a:xfrm>
                  <a:off x="9618945" y="357187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72" name="Line 72"/>
                <p:cNvSpPr/>
                <p:nvPr/>
              </p:nvSpPr>
              <p:spPr>
                <a:xfrm>
                  <a:off x="7921733" y="3952875"/>
                  <a:ext cx="96164" cy="9525"/>
                </a:xfrm>
                <a:custGeom>
                  <a:avLst/>
                  <a:gdLst/>
                  <a:ahLst/>
                  <a:cxnLst/>
                  <a:rect l="l" t="t" r="r" b="b"/>
                  <a:pathLst>
                    <a:path w="96164" h="9525">
                      <a:moveTo>
                        <a:pt x="0" y="0"/>
                      </a:moveTo>
                      <a:lnTo>
                        <a:pt x="96164" y="0"/>
                      </a:lnTo>
                    </a:path>
                  </a:pathLst>
                </a:custGeom>
                <a:noFill/>
                <a:ln w="14288">
                  <a:solidFill>
                    <a:schemeClr val="accent1"/>
                  </a:solidFill>
                </a:ln>
              </p:spPr>
            </p:sp>
            <p:sp>
              <p:nvSpPr>
                <p:cNvPr id="73" name="Line 73"/>
                <p:cNvSpPr/>
                <p:nvPr/>
              </p:nvSpPr>
              <p:spPr>
                <a:xfrm>
                  <a:off x="7921733" y="39052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74" name="Line 74"/>
                <p:cNvSpPr/>
                <p:nvPr/>
              </p:nvSpPr>
              <p:spPr>
                <a:xfrm>
                  <a:off x="8017897" y="39052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75" name="Line 75"/>
                <p:cNvSpPr/>
                <p:nvPr/>
              </p:nvSpPr>
              <p:spPr>
                <a:xfrm>
                  <a:off x="9696317" y="4600575"/>
                  <a:ext cx="98212" cy="9525"/>
                </a:xfrm>
                <a:custGeom>
                  <a:avLst/>
                  <a:gdLst/>
                  <a:ahLst/>
                  <a:cxnLst/>
                  <a:rect l="l" t="t" r="r" b="b"/>
                  <a:pathLst>
                    <a:path w="98212" h="9525">
                      <a:moveTo>
                        <a:pt x="0" y="0"/>
                      </a:moveTo>
                      <a:lnTo>
                        <a:pt x="98212" y="0"/>
                      </a:lnTo>
                    </a:path>
                  </a:pathLst>
                </a:custGeom>
                <a:noFill/>
                <a:ln w="14288">
                  <a:solidFill>
                    <a:schemeClr val="accent1"/>
                  </a:solidFill>
                </a:ln>
              </p:spPr>
            </p:sp>
            <p:sp>
              <p:nvSpPr>
                <p:cNvPr id="76" name="Line 76"/>
                <p:cNvSpPr/>
                <p:nvPr/>
              </p:nvSpPr>
              <p:spPr>
                <a:xfrm>
                  <a:off x="9696317" y="45529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77" name="Line 77"/>
                <p:cNvSpPr/>
                <p:nvPr/>
              </p:nvSpPr>
              <p:spPr>
                <a:xfrm>
                  <a:off x="9794529" y="4552950"/>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78" name="Line 78"/>
                <p:cNvSpPr/>
                <p:nvPr/>
              </p:nvSpPr>
              <p:spPr>
                <a:xfrm>
                  <a:off x="8062827" y="4933950"/>
                  <a:ext cx="10087" cy="9525"/>
                </a:xfrm>
                <a:custGeom>
                  <a:avLst/>
                  <a:gdLst/>
                  <a:ahLst/>
                  <a:cxnLst/>
                  <a:rect l="l" t="t" r="r" b="b"/>
                  <a:pathLst>
                    <a:path w="10087" h="9525">
                      <a:moveTo>
                        <a:pt x="0" y="0"/>
                      </a:moveTo>
                      <a:lnTo>
                        <a:pt x="10087" y="0"/>
                      </a:lnTo>
                    </a:path>
                  </a:pathLst>
                </a:custGeom>
                <a:noFill/>
                <a:ln w="14288">
                  <a:solidFill>
                    <a:schemeClr val="accent1"/>
                  </a:solidFill>
                </a:ln>
              </p:spPr>
            </p:sp>
            <p:sp>
              <p:nvSpPr>
                <p:cNvPr id="79" name="Line 79"/>
                <p:cNvSpPr/>
                <p:nvPr/>
              </p:nvSpPr>
              <p:spPr>
                <a:xfrm>
                  <a:off x="8062827" y="4886325"/>
                  <a:ext cx="9525" cy="95250"/>
                </a:xfrm>
                <a:custGeom>
                  <a:avLst/>
                  <a:gdLst/>
                  <a:ahLst/>
                  <a:cxnLst/>
                  <a:rect l="l" t="t" r="r" b="b"/>
                  <a:pathLst>
                    <a:path w="9525" h="95250">
                      <a:moveTo>
                        <a:pt x="0" y="0"/>
                      </a:moveTo>
                      <a:lnTo>
                        <a:pt x="0" y="95250"/>
                      </a:lnTo>
                    </a:path>
                  </a:pathLst>
                </a:custGeom>
                <a:noFill/>
                <a:ln w="14288">
                  <a:solidFill>
                    <a:schemeClr val="accent1"/>
                  </a:solidFill>
                </a:ln>
              </p:spPr>
            </p:sp>
            <p:sp>
              <p:nvSpPr>
                <p:cNvPr id="80" name="Line 80"/>
                <p:cNvSpPr/>
                <p:nvPr/>
              </p:nvSpPr>
              <p:spPr>
                <a:xfrm>
                  <a:off x="8072914" y="4886325"/>
                  <a:ext cx="9525" cy="95250"/>
                </a:xfrm>
                <a:custGeom>
                  <a:avLst/>
                  <a:gdLst/>
                  <a:ahLst/>
                  <a:cxnLst/>
                  <a:rect l="l" t="t" r="r" b="b"/>
                  <a:pathLst>
                    <a:path w="9525" h="95250">
                      <a:moveTo>
                        <a:pt x="0" y="0"/>
                      </a:moveTo>
                      <a:lnTo>
                        <a:pt x="0" y="95250"/>
                      </a:lnTo>
                    </a:path>
                  </a:pathLst>
                </a:custGeom>
                <a:noFill/>
                <a:ln w="14288">
                  <a:solidFill>
                    <a:schemeClr val="accent1"/>
                  </a:solidFill>
                </a:ln>
              </p:spPr>
            </p:sp>
          </p:grpSp>
        </p:grpSp>
        <p:grpSp>
          <p:nvGrpSpPr>
            <p:cNvPr id="96" name="motorbike-labels"/>
            <p:cNvGrpSpPr/>
            <p:nvPr/>
          </p:nvGrpSpPr>
          <p:grpSpPr>
            <a:xfrm>
              <a:off x="6336792" y="2530475"/>
              <a:ext cx="4861549" cy="3092958"/>
              <a:chOff x="6336792" y="2530475"/>
              <a:chExt cx="4861549" cy="3092958"/>
            </a:xfrm>
          </p:grpSpPr>
          <p:sp>
            <p:nvSpPr>
              <p:cNvPr id="83" name="TextBox 83"/>
              <p:cNvSpPr txBox="1"/>
              <p:nvPr/>
            </p:nvSpPr>
            <p:spPr>
              <a:xfrm>
                <a:off x="6336792" y="2682875"/>
                <a:ext cx="879318" cy="264033"/>
              </a:xfrm>
              <a:prstGeom prst="rect">
                <a:avLst/>
              </a:prstGeom>
              <a:noFill/>
              <a:ln>
                <a:noFill/>
              </a:ln>
            </p:spPr>
            <p:txBody>
              <a:bodyPr wrap="none" lIns="0" tIns="0" rIns="0" bIns="0" anchor="t" anchorCtr="0">
                <a:spAutoFit/>
              </a:bodyPr>
              <a:lstStyle/>
              <a:p>
                <a:pPr algn="l"/>
                <a:r>
                  <a:rPr lang="vi-VN" sz="1350" b="1" dirty="0">
                    <a:solidFill>
                      <a:schemeClr val="dk1"/>
                    </a:solidFill>
                    <a:latin typeface="+mn-lt"/>
                    <a:ea typeface="+mn-ea"/>
                    <a:cs typeface="+mn-cs"/>
                  </a:rPr>
                  <a:t>YOLO11n</a:t>
                </a:r>
              </a:p>
            </p:txBody>
          </p:sp>
          <p:sp>
            <p:nvSpPr>
              <p:cNvPr id="84" name="TextBox 84"/>
              <p:cNvSpPr txBox="1"/>
              <p:nvPr/>
            </p:nvSpPr>
            <p:spPr>
              <a:xfrm>
                <a:off x="6336792" y="3663950"/>
                <a:ext cx="873068" cy="264033"/>
              </a:xfrm>
              <a:prstGeom prst="rect">
                <a:avLst/>
              </a:prstGeom>
              <a:noFill/>
              <a:ln>
                <a:noFill/>
              </a:ln>
            </p:spPr>
            <p:txBody>
              <a:bodyPr wrap="none" lIns="0" tIns="0" rIns="0" bIns="0" anchor="t" anchorCtr="0">
                <a:spAutoFit/>
              </a:bodyPr>
              <a:lstStyle/>
              <a:p>
                <a:pPr algn="l"/>
                <a:r>
                  <a:rPr lang="vi-VN" sz="1350" b="1" dirty="0">
                    <a:solidFill>
                      <a:schemeClr val="dk1"/>
                    </a:solidFill>
                    <a:latin typeface="+mn-lt"/>
                    <a:ea typeface="+mn-ea"/>
                    <a:cs typeface="+mn-cs"/>
                  </a:rPr>
                  <a:t>YOLOv8n</a:t>
                </a:r>
              </a:p>
            </p:txBody>
          </p:sp>
          <p:sp>
            <p:nvSpPr>
              <p:cNvPr id="85" name="TextBox 85"/>
              <p:cNvSpPr txBox="1"/>
              <p:nvPr/>
            </p:nvSpPr>
            <p:spPr>
              <a:xfrm>
                <a:off x="6336792" y="4645025"/>
                <a:ext cx="879318" cy="264033"/>
              </a:xfrm>
              <a:prstGeom prst="rect">
                <a:avLst/>
              </a:prstGeom>
              <a:noFill/>
              <a:ln>
                <a:noFill/>
              </a:ln>
            </p:spPr>
            <p:txBody>
              <a:bodyPr wrap="none" lIns="0" tIns="0" rIns="0" bIns="0" anchor="t" anchorCtr="0">
                <a:spAutoFit/>
              </a:bodyPr>
              <a:lstStyle/>
              <a:p>
                <a:pPr algn="l"/>
                <a:r>
                  <a:rPr lang="vi-VN" sz="1350" b="1" dirty="0">
                    <a:solidFill>
                      <a:schemeClr val="accent3"/>
                    </a:solidFill>
                    <a:latin typeface="+mn-lt"/>
                    <a:ea typeface="+mn-ea"/>
                    <a:cs typeface="+mn-cs"/>
                  </a:rPr>
                  <a:t>YOLO26n</a:t>
                </a:r>
              </a:p>
            </p:txBody>
          </p:sp>
          <p:sp>
            <p:nvSpPr>
              <p:cNvPr id="86" name="TextBox 86"/>
              <p:cNvSpPr txBox="1"/>
              <p:nvPr/>
            </p:nvSpPr>
            <p:spPr>
              <a:xfrm>
                <a:off x="10175367" y="2530475"/>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53.08 ± 0.44</a:t>
                </a:r>
              </a:p>
            </p:txBody>
          </p:sp>
          <p:sp>
            <p:nvSpPr>
              <p:cNvPr id="87" name="TextBox 87"/>
              <p:cNvSpPr txBox="1"/>
              <p:nvPr/>
            </p:nvSpPr>
            <p:spPr>
              <a:xfrm>
                <a:off x="10175367" y="2863850"/>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10.15 ± 0.43</a:t>
                </a:r>
              </a:p>
            </p:txBody>
          </p:sp>
          <p:sp>
            <p:nvSpPr>
              <p:cNvPr id="88" name="TextBox 88"/>
              <p:cNvSpPr txBox="1"/>
              <p:nvPr/>
            </p:nvSpPr>
            <p:spPr>
              <a:xfrm>
                <a:off x="10175367" y="3511550"/>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51.25 ± 0.31</a:t>
                </a:r>
              </a:p>
            </p:txBody>
          </p:sp>
          <p:sp>
            <p:nvSpPr>
              <p:cNvPr id="89" name="TextBox 89"/>
              <p:cNvSpPr txBox="1"/>
              <p:nvPr/>
            </p:nvSpPr>
            <p:spPr>
              <a:xfrm>
                <a:off x="10175367" y="3844925"/>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10.01 ± 1.21</a:t>
                </a:r>
              </a:p>
            </p:txBody>
          </p:sp>
          <p:sp>
            <p:nvSpPr>
              <p:cNvPr id="90" name="TextBox 90"/>
              <p:cNvSpPr txBox="1"/>
              <p:nvPr/>
            </p:nvSpPr>
            <p:spPr>
              <a:xfrm>
                <a:off x="10175367" y="4492625"/>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54.75 ± 1.24</a:t>
                </a:r>
              </a:p>
            </p:txBody>
          </p:sp>
          <p:sp>
            <p:nvSpPr>
              <p:cNvPr id="91" name="TextBox 91"/>
              <p:cNvSpPr txBox="1"/>
              <p:nvPr/>
            </p:nvSpPr>
            <p:spPr>
              <a:xfrm>
                <a:off x="10175367" y="4826000"/>
                <a:ext cx="10229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12.48 ± 0.13</a:t>
                </a:r>
              </a:p>
            </p:txBody>
          </p:sp>
          <p:sp>
            <p:nvSpPr>
              <p:cNvPr id="92" name="TextBox 92"/>
              <p:cNvSpPr txBox="1"/>
              <p:nvPr/>
            </p:nvSpPr>
            <p:spPr>
              <a:xfrm>
                <a:off x="7514976" y="5359400"/>
                <a:ext cx="114798"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0</a:t>
                </a:r>
              </a:p>
            </p:txBody>
          </p:sp>
          <p:sp>
            <p:nvSpPr>
              <p:cNvPr id="93" name="TextBox 93"/>
              <p:cNvSpPr txBox="1"/>
              <p:nvPr/>
            </p:nvSpPr>
            <p:spPr>
              <a:xfrm>
                <a:off x="8258182" y="5359400"/>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20</a:t>
                </a:r>
              </a:p>
            </p:txBody>
          </p:sp>
          <p:sp>
            <p:nvSpPr>
              <p:cNvPr id="94" name="TextBox 94"/>
              <p:cNvSpPr txBox="1"/>
              <p:nvPr/>
            </p:nvSpPr>
            <p:spPr>
              <a:xfrm>
                <a:off x="9051938" y="5359400"/>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40</a:t>
                </a:r>
              </a:p>
            </p:txBody>
          </p:sp>
          <p:sp>
            <p:nvSpPr>
              <p:cNvPr id="95" name="TextBox 95"/>
              <p:cNvSpPr txBox="1"/>
              <p:nvPr/>
            </p:nvSpPr>
            <p:spPr>
              <a:xfrm>
                <a:off x="9845685" y="5359400"/>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60</a:t>
                </a:r>
              </a:p>
            </p:txBody>
          </p:sp>
        </p:grpSp>
      </p:grpSp>
      <p:grpSp>
        <p:nvGrpSpPr>
          <p:cNvPr id="102" name="training-source-legend"/>
          <p:cNvGrpSpPr/>
          <p:nvPr/>
        </p:nvGrpSpPr>
        <p:grpSpPr>
          <a:xfrm>
            <a:off x="533400" y="5749925"/>
            <a:ext cx="7345134" cy="264033"/>
            <a:chOff x="533400" y="5749925"/>
            <a:chExt cx="7345134" cy="264033"/>
          </a:xfrm>
        </p:grpSpPr>
        <p:sp>
          <p:nvSpPr>
            <p:cNvPr id="98" name="Rectangle 98"/>
            <p:cNvSpPr/>
            <p:nvPr/>
          </p:nvSpPr>
          <p:spPr>
            <a:xfrm>
              <a:off x="533400" y="5772150"/>
              <a:ext cx="152400" cy="152400"/>
            </a:xfrm>
            <a:prstGeom prst="rect">
              <a:avLst/>
            </a:prstGeom>
            <a:solidFill>
              <a:schemeClr val="accent2"/>
            </a:solidFill>
            <a:ln>
              <a:noFill/>
            </a:ln>
          </p:spPr>
        </p:sp>
        <p:sp>
          <p:nvSpPr>
            <p:cNvPr id="99" name="TextBox 99"/>
            <p:cNvSpPr txBox="1"/>
            <p:nvPr/>
          </p:nvSpPr>
          <p:spPr>
            <a:xfrm>
              <a:off x="802767" y="5749925"/>
              <a:ext cx="21409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Huấn luyện trên miền đích</a:t>
              </a:r>
            </a:p>
          </p:txBody>
        </p:sp>
        <p:sp>
          <p:nvSpPr>
            <p:cNvPr id="100" name="Rectangle 100"/>
            <p:cNvSpPr/>
            <p:nvPr/>
          </p:nvSpPr>
          <p:spPr>
            <a:xfrm>
              <a:off x="5286375" y="5772150"/>
              <a:ext cx="152400" cy="152400"/>
            </a:xfrm>
            <a:prstGeom prst="rect">
              <a:avLst/>
            </a:prstGeom>
            <a:solidFill>
              <a:srgbClr val="AABCC8"/>
            </a:solidFill>
            <a:ln>
              <a:noFill/>
            </a:ln>
          </p:spPr>
        </p:sp>
        <p:sp>
          <p:nvSpPr>
            <p:cNvPr id="101" name="TextBox 101"/>
            <p:cNvSpPr txBox="1"/>
            <p:nvPr/>
          </p:nvSpPr>
          <p:spPr>
            <a:xfrm>
              <a:off x="5555742" y="5749925"/>
              <a:ext cx="2322792"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Huấn luyện trên miền còn lại</a:t>
              </a:r>
            </a:p>
          </p:txBody>
        </p:sp>
      </p:grpSp>
      <p:grpSp>
        <p:nvGrpSpPr>
          <p:cNvPr id="104" name="takeaway"/>
          <p:cNvGrpSpPr/>
          <p:nvPr/>
        </p:nvGrpSpPr>
        <p:grpSpPr>
          <a:xfrm>
            <a:off x="525018" y="6073775"/>
            <a:ext cx="10430136" cy="322707"/>
            <a:chOff x="525018" y="6073775"/>
            <a:chExt cx="10430136" cy="322707"/>
          </a:xfrm>
        </p:grpSpPr>
        <p:sp>
          <p:nvSpPr>
            <p:cNvPr id="103" name="TextBox 103"/>
            <p:cNvSpPr txBox="1"/>
            <p:nvPr/>
          </p:nvSpPr>
          <p:spPr>
            <a:xfrm>
              <a:off x="525018" y="6073775"/>
              <a:ext cx="10430136"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YOLO26n tăng mean cùng miền so với YOLOv8n: +3,08 pp trên Drone và +3,50 pp trên MotorBike.</a:t>
              </a:r>
            </a:p>
          </p:txBody>
        </p:sp>
      </p:grpSp>
      <p:grpSp>
        <p:nvGrpSpPr>
          <p:cNvPr id="107" name="source"/>
          <p:cNvGrpSpPr/>
          <p:nvPr/>
        </p:nvGrpSpPr>
        <p:grpSpPr>
          <a:xfrm>
            <a:off x="528638" y="6467475"/>
            <a:ext cx="11129962" cy="261937"/>
            <a:chOff x="528638" y="6467475"/>
            <a:chExt cx="11129962" cy="261937"/>
          </a:xfrm>
        </p:grpSpPr>
        <p:sp>
          <p:nvSpPr>
            <p:cNvPr id="105" name="Line 105"/>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106" name="TextBox 106"/>
            <p:cNvSpPr txBox="1"/>
            <p:nvPr/>
          </p:nvSpPr>
          <p:spPr>
            <a:xfrm>
              <a:off x="528638" y="6553200"/>
              <a:ext cx="5145883"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Bảng III / Hình 4; data/all_metrics.csv · mAP@50:95 (%), trung bình ± SD, n = 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076804"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06 · KẾT QUẢ THỰC NGHIỆM</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14</a:t>
              </a:r>
            </a:p>
          </p:txBody>
        </p:sp>
        <p:sp>
          <p:nvSpPr>
            <p:cNvPr id="4" name="TextBox 4"/>
            <p:cNvSpPr txBox="1"/>
            <p:nvPr/>
          </p:nvSpPr>
          <p:spPr>
            <a:xfrm>
              <a:off x="518160" y="593725"/>
              <a:ext cx="11081630"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Cả 18 gap theo seed đều dương; MotorBike có gap lớn hơn</a:t>
              </a:r>
            </a:p>
          </p:txBody>
        </p:sp>
      </p:grpSp>
      <p:grpSp>
        <p:nvGrpSpPr>
          <p:cNvPr id="65" name="seed-gap"/>
          <p:cNvGrpSpPr/>
          <p:nvPr/>
        </p:nvGrpSpPr>
        <p:grpSpPr>
          <a:xfrm>
            <a:off x="525018" y="1844675"/>
            <a:ext cx="11015592" cy="3959733"/>
            <a:chOff x="525018" y="1844675"/>
            <a:chExt cx="11015592" cy="3959733"/>
          </a:xfrm>
        </p:grpSpPr>
        <p:sp>
          <p:nvSpPr>
            <p:cNvPr id="6" name="TextBox 6"/>
            <p:cNvSpPr txBox="1"/>
            <p:nvPr/>
          </p:nvSpPr>
          <p:spPr>
            <a:xfrm>
              <a:off x="10707243" y="1844675"/>
              <a:ext cx="833367"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Gap TB</a:t>
              </a:r>
            </a:p>
          </p:txBody>
        </p:sp>
        <p:grpSp>
          <p:nvGrpSpPr>
            <p:cNvPr id="43" name="seed-gap-chartArea"/>
            <p:cNvGrpSpPr/>
            <p:nvPr/>
          </p:nvGrpSpPr>
          <p:grpSpPr>
            <a:xfrm>
              <a:off x="3143250" y="2238375"/>
              <a:ext cx="7153275" cy="3171825"/>
              <a:chOff x="3143250" y="2238375"/>
              <a:chExt cx="7153275" cy="3171825"/>
            </a:xfrm>
          </p:grpSpPr>
          <p:sp>
            <p:nvSpPr>
              <p:cNvPr id="7" name="Line 7"/>
              <p:cNvSpPr/>
              <p:nvPr/>
            </p:nvSpPr>
            <p:spPr>
              <a:xfrm>
                <a:off x="3143250" y="2238375"/>
                <a:ext cx="9525" cy="3171825"/>
              </a:xfrm>
              <a:custGeom>
                <a:avLst/>
                <a:gdLst/>
                <a:ahLst/>
                <a:cxnLst/>
                <a:rect l="l" t="t" r="r" b="b"/>
                <a:pathLst>
                  <a:path w="9525" h="3171825">
                    <a:moveTo>
                      <a:pt x="0" y="0"/>
                    </a:moveTo>
                    <a:lnTo>
                      <a:pt x="0" y="3171825"/>
                    </a:lnTo>
                  </a:path>
                </a:pathLst>
              </a:custGeom>
              <a:noFill/>
              <a:ln w="9525">
                <a:solidFill>
                  <a:schemeClr val="accent6"/>
                </a:solidFill>
              </a:ln>
            </p:spPr>
          </p:sp>
          <p:sp>
            <p:nvSpPr>
              <p:cNvPr id="8" name="Line 8"/>
              <p:cNvSpPr/>
              <p:nvPr/>
            </p:nvSpPr>
            <p:spPr>
              <a:xfrm>
                <a:off x="4572000" y="2238375"/>
                <a:ext cx="9525" cy="3171825"/>
              </a:xfrm>
              <a:custGeom>
                <a:avLst/>
                <a:gdLst/>
                <a:ahLst/>
                <a:cxnLst/>
                <a:rect l="l" t="t" r="r" b="b"/>
                <a:pathLst>
                  <a:path w="9525" h="3171825">
                    <a:moveTo>
                      <a:pt x="0" y="0"/>
                    </a:moveTo>
                    <a:lnTo>
                      <a:pt x="0" y="3171825"/>
                    </a:lnTo>
                  </a:path>
                </a:pathLst>
              </a:custGeom>
              <a:noFill/>
              <a:ln w="9525">
                <a:solidFill>
                  <a:schemeClr val="accent6"/>
                </a:solidFill>
              </a:ln>
            </p:spPr>
          </p:sp>
          <p:sp>
            <p:nvSpPr>
              <p:cNvPr id="9" name="Line 9"/>
              <p:cNvSpPr/>
              <p:nvPr/>
            </p:nvSpPr>
            <p:spPr>
              <a:xfrm>
                <a:off x="6000750" y="2238375"/>
                <a:ext cx="9525" cy="3171825"/>
              </a:xfrm>
              <a:custGeom>
                <a:avLst/>
                <a:gdLst/>
                <a:ahLst/>
                <a:cxnLst/>
                <a:rect l="l" t="t" r="r" b="b"/>
                <a:pathLst>
                  <a:path w="9525" h="3171825">
                    <a:moveTo>
                      <a:pt x="0" y="0"/>
                    </a:moveTo>
                    <a:lnTo>
                      <a:pt x="0" y="3171825"/>
                    </a:lnTo>
                  </a:path>
                </a:pathLst>
              </a:custGeom>
              <a:noFill/>
              <a:ln w="9525">
                <a:solidFill>
                  <a:schemeClr val="accent6"/>
                </a:solidFill>
              </a:ln>
            </p:spPr>
          </p:sp>
          <p:sp>
            <p:nvSpPr>
              <p:cNvPr id="10" name="Line 10"/>
              <p:cNvSpPr/>
              <p:nvPr/>
            </p:nvSpPr>
            <p:spPr>
              <a:xfrm>
                <a:off x="7429500" y="2238375"/>
                <a:ext cx="9525" cy="3171825"/>
              </a:xfrm>
              <a:custGeom>
                <a:avLst/>
                <a:gdLst/>
                <a:ahLst/>
                <a:cxnLst/>
                <a:rect l="l" t="t" r="r" b="b"/>
                <a:pathLst>
                  <a:path w="9525" h="3171825">
                    <a:moveTo>
                      <a:pt x="0" y="0"/>
                    </a:moveTo>
                    <a:lnTo>
                      <a:pt x="0" y="3171825"/>
                    </a:lnTo>
                  </a:path>
                </a:pathLst>
              </a:custGeom>
              <a:noFill/>
              <a:ln w="9525">
                <a:solidFill>
                  <a:schemeClr val="accent6"/>
                </a:solidFill>
              </a:ln>
            </p:spPr>
          </p:sp>
          <p:sp>
            <p:nvSpPr>
              <p:cNvPr id="11" name="Line 11"/>
              <p:cNvSpPr/>
              <p:nvPr/>
            </p:nvSpPr>
            <p:spPr>
              <a:xfrm>
                <a:off x="8858250" y="2238375"/>
                <a:ext cx="9525" cy="3171825"/>
              </a:xfrm>
              <a:custGeom>
                <a:avLst/>
                <a:gdLst/>
                <a:ahLst/>
                <a:cxnLst/>
                <a:rect l="l" t="t" r="r" b="b"/>
                <a:pathLst>
                  <a:path w="9525" h="3171825">
                    <a:moveTo>
                      <a:pt x="0" y="0"/>
                    </a:moveTo>
                    <a:lnTo>
                      <a:pt x="0" y="3171825"/>
                    </a:lnTo>
                  </a:path>
                </a:pathLst>
              </a:custGeom>
              <a:noFill/>
              <a:ln w="9525">
                <a:solidFill>
                  <a:schemeClr val="accent6"/>
                </a:solidFill>
              </a:ln>
            </p:spPr>
          </p:sp>
          <p:sp>
            <p:nvSpPr>
              <p:cNvPr id="12" name="Line 12"/>
              <p:cNvSpPr/>
              <p:nvPr/>
            </p:nvSpPr>
            <p:spPr>
              <a:xfrm>
                <a:off x="10287000" y="2238375"/>
                <a:ext cx="9525" cy="3171825"/>
              </a:xfrm>
              <a:custGeom>
                <a:avLst/>
                <a:gdLst/>
                <a:ahLst/>
                <a:cxnLst/>
                <a:rect l="l" t="t" r="r" b="b"/>
                <a:pathLst>
                  <a:path w="9525" h="3171825">
                    <a:moveTo>
                      <a:pt x="0" y="0"/>
                    </a:moveTo>
                    <a:lnTo>
                      <a:pt x="0" y="3171825"/>
                    </a:lnTo>
                  </a:path>
                </a:pathLst>
              </a:custGeom>
              <a:noFill/>
              <a:ln w="9525">
                <a:solidFill>
                  <a:schemeClr val="accent6"/>
                </a:solidFill>
              </a:ln>
            </p:spPr>
          </p:sp>
          <p:grpSp>
            <p:nvGrpSpPr>
              <p:cNvPr id="17" name="drone-seed11"/>
              <p:cNvGrpSpPr/>
              <p:nvPr/>
            </p:nvGrpSpPr>
            <p:grpSpPr>
              <a:xfrm>
                <a:off x="4644523" y="2400300"/>
                <a:ext cx="1159898" cy="152400"/>
                <a:chOff x="4644523" y="2400300"/>
                <a:chExt cx="1159898" cy="152400"/>
              </a:xfrm>
            </p:grpSpPr>
            <p:sp>
              <p:nvSpPr>
                <p:cNvPr id="13" name="Line 13"/>
                <p:cNvSpPr/>
                <p:nvPr/>
              </p:nvSpPr>
              <p:spPr>
                <a:xfrm>
                  <a:off x="4692148" y="2476500"/>
                  <a:ext cx="1064647" cy="9525"/>
                </a:xfrm>
                <a:custGeom>
                  <a:avLst/>
                  <a:gdLst/>
                  <a:ahLst/>
                  <a:cxnLst/>
                  <a:rect l="l" t="t" r="r" b="b"/>
                  <a:pathLst>
                    <a:path w="1064647" h="9525">
                      <a:moveTo>
                        <a:pt x="0" y="0"/>
                      </a:moveTo>
                      <a:lnTo>
                        <a:pt x="1064647" y="0"/>
                      </a:lnTo>
                    </a:path>
                  </a:pathLst>
                </a:custGeom>
                <a:noFill/>
                <a:ln w="19050">
                  <a:solidFill>
                    <a:srgbClr val="176B87"/>
                  </a:solidFill>
                </a:ln>
              </p:spPr>
            </p:sp>
            <p:sp>
              <p:nvSpPr>
                <p:cNvPr id="14" name="Ellipse 14"/>
                <p:cNvSpPr/>
                <p:nvPr/>
              </p:nvSpPr>
              <p:spPr>
                <a:xfrm>
                  <a:off x="5420011" y="2400300"/>
                  <a:ext cx="95250" cy="95250"/>
                </a:xfrm>
                <a:prstGeom prst="ellipse">
                  <a:avLst/>
                </a:prstGeom>
                <a:solidFill>
                  <a:srgbClr val="176B87"/>
                </a:solidFill>
                <a:ln>
                  <a:noFill/>
                </a:ln>
              </p:spPr>
            </p:sp>
            <p:sp>
              <p:nvSpPr>
                <p:cNvPr id="15" name="Ellipse 15"/>
                <p:cNvSpPr/>
                <p:nvPr/>
              </p:nvSpPr>
              <p:spPr>
                <a:xfrm>
                  <a:off x="4644523" y="2428875"/>
                  <a:ext cx="95250" cy="95250"/>
                </a:xfrm>
                <a:prstGeom prst="ellipse">
                  <a:avLst/>
                </a:prstGeom>
                <a:solidFill>
                  <a:srgbClr val="176B87"/>
                </a:solidFill>
                <a:ln>
                  <a:noFill/>
                </a:ln>
              </p:spPr>
            </p:sp>
            <p:sp>
              <p:nvSpPr>
                <p:cNvPr id="16" name="Ellipse 16"/>
                <p:cNvSpPr/>
                <p:nvPr/>
              </p:nvSpPr>
              <p:spPr>
                <a:xfrm>
                  <a:off x="5709171" y="2457450"/>
                  <a:ext cx="95250" cy="95250"/>
                </a:xfrm>
                <a:prstGeom prst="ellipse">
                  <a:avLst/>
                </a:prstGeom>
                <a:solidFill>
                  <a:srgbClr val="176B87"/>
                </a:solidFill>
                <a:ln>
                  <a:noFill/>
                </a:ln>
              </p:spPr>
            </p:sp>
          </p:grpSp>
          <p:grpSp>
            <p:nvGrpSpPr>
              <p:cNvPr id="22" name="drone-seed8"/>
              <p:cNvGrpSpPr/>
              <p:nvPr/>
            </p:nvGrpSpPr>
            <p:grpSpPr>
              <a:xfrm>
                <a:off x="5027857" y="2876550"/>
                <a:ext cx="450828" cy="152400"/>
                <a:chOff x="5027857" y="2876550"/>
                <a:chExt cx="450828" cy="152400"/>
              </a:xfrm>
            </p:grpSpPr>
            <p:sp>
              <p:nvSpPr>
                <p:cNvPr id="18" name="Line 18"/>
                <p:cNvSpPr/>
                <p:nvPr/>
              </p:nvSpPr>
              <p:spPr>
                <a:xfrm>
                  <a:off x="5075482" y="2952750"/>
                  <a:ext cx="355578" cy="9525"/>
                </a:xfrm>
                <a:custGeom>
                  <a:avLst/>
                  <a:gdLst/>
                  <a:ahLst/>
                  <a:cxnLst/>
                  <a:rect l="l" t="t" r="r" b="b"/>
                  <a:pathLst>
                    <a:path w="355578" h="9525">
                      <a:moveTo>
                        <a:pt x="0" y="0"/>
                      </a:moveTo>
                      <a:lnTo>
                        <a:pt x="355578" y="0"/>
                      </a:lnTo>
                    </a:path>
                  </a:pathLst>
                </a:custGeom>
                <a:noFill/>
                <a:ln w="19050">
                  <a:solidFill>
                    <a:srgbClr val="61899C"/>
                  </a:solidFill>
                </a:ln>
              </p:spPr>
            </p:sp>
            <p:sp>
              <p:nvSpPr>
                <p:cNvPr id="19" name="Ellipse 19"/>
                <p:cNvSpPr/>
                <p:nvPr/>
              </p:nvSpPr>
              <p:spPr>
                <a:xfrm>
                  <a:off x="5243532" y="2876550"/>
                  <a:ext cx="95250" cy="95250"/>
                </a:xfrm>
                <a:prstGeom prst="ellipse">
                  <a:avLst/>
                </a:prstGeom>
                <a:solidFill>
                  <a:srgbClr val="61899C"/>
                </a:solidFill>
                <a:ln>
                  <a:noFill/>
                </a:ln>
              </p:spPr>
            </p:sp>
            <p:sp>
              <p:nvSpPr>
                <p:cNvPr id="20" name="Ellipse 20"/>
                <p:cNvSpPr/>
                <p:nvPr/>
              </p:nvSpPr>
              <p:spPr>
                <a:xfrm>
                  <a:off x="5027857" y="2905125"/>
                  <a:ext cx="95250" cy="95250"/>
                </a:xfrm>
                <a:prstGeom prst="ellipse">
                  <a:avLst/>
                </a:prstGeom>
                <a:solidFill>
                  <a:srgbClr val="61899C"/>
                </a:solidFill>
                <a:ln>
                  <a:noFill/>
                </a:ln>
              </p:spPr>
            </p:sp>
            <p:sp>
              <p:nvSpPr>
                <p:cNvPr id="21" name="Ellipse 21"/>
                <p:cNvSpPr/>
                <p:nvPr/>
              </p:nvSpPr>
              <p:spPr>
                <a:xfrm>
                  <a:off x="5383435" y="2933700"/>
                  <a:ext cx="95250" cy="95250"/>
                </a:xfrm>
                <a:prstGeom prst="ellipse">
                  <a:avLst/>
                </a:prstGeom>
                <a:solidFill>
                  <a:srgbClr val="61899C"/>
                </a:solidFill>
                <a:ln>
                  <a:noFill/>
                </a:ln>
              </p:spPr>
            </p:sp>
          </p:grpSp>
          <p:grpSp>
            <p:nvGrpSpPr>
              <p:cNvPr id="27" name="drone-seed26"/>
              <p:cNvGrpSpPr/>
              <p:nvPr/>
            </p:nvGrpSpPr>
            <p:grpSpPr>
              <a:xfrm>
                <a:off x="5396198" y="3352800"/>
                <a:ext cx="324765" cy="152400"/>
                <a:chOff x="5396198" y="3352800"/>
                <a:chExt cx="324765" cy="152400"/>
              </a:xfrm>
            </p:grpSpPr>
            <p:sp>
              <p:nvSpPr>
                <p:cNvPr id="23" name="Line 23"/>
                <p:cNvSpPr/>
                <p:nvPr/>
              </p:nvSpPr>
              <p:spPr>
                <a:xfrm>
                  <a:off x="5443823" y="3429000"/>
                  <a:ext cx="229514" cy="9525"/>
                </a:xfrm>
                <a:custGeom>
                  <a:avLst/>
                  <a:gdLst/>
                  <a:ahLst/>
                  <a:cxnLst/>
                  <a:rect l="l" t="t" r="r" b="b"/>
                  <a:pathLst>
                    <a:path w="229514" h="9525">
                      <a:moveTo>
                        <a:pt x="0" y="0"/>
                      </a:moveTo>
                      <a:lnTo>
                        <a:pt x="229514" y="0"/>
                      </a:lnTo>
                    </a:path>
                  </a:pathLst>
                </a:custGeom>
                <a:noFill/>
                <a:ln w="19050">
                  <a:solidFill>
                    <a:schemeClr val="accent3"/>
                  </a:solidFill>
                </a:ln>
              </p:spPr>
            </p:sp>
            <p:sp>
              <p:nvSpPr>
                <p:cNvPr id="24" name="Ellipse 24"/>
                <p:cNvSpPr/>
                <p:nvPr/>
              </p:nvSpPr>
              <p:spPr>
                <a:xfrm>
                  <a:off x="5511155" y="3352800"/>
                  <a:ext cx="95250" cy="95250"/>
                </a:xfrm>
                <a:prstGeom prst="ellipse">
                  <a:avLst/>
                </a:prstGeom>
                <a:solidFill>
                  <a:schemeClr val="accent3"/>
                </a:solidFill>
                <a:ln>
                  <a:noFill/>
                </a:ln>
              </p:spPr>
            </p:sp>
            <p:sp>
              <p:nvSpPr>
                <p:cNvPr id="25" name="Ellipse 25"/>
                <p:cNvSpPr/>
                <p:nvPr/>
              </p:nvSpPr>
              <p:spPr>
                <a:xfrm>
                  <a:off x="5396198" y="3381375"/>
                  <a:ext cx="95250" cy="95250"/>
                </a:xfrm>
                <a:prstGeom prst="ellipse">
                  <a:avLst/>
                </a:prstGeom>
                <a:solidFill>
                  <a:schemeClr val="accent3"/>
                </a:solidFill>
                <a:ln>
                  <a:noFill/>
                </a:ln>
              </p:spPr>
            </p:sp>
            <p:sp>
              <p:nvSpPr>
                <p:cNvPr id="26" name="Ellipse 26"/>
                <p:cNvSpPr/>
                <p:nvPr/>
              </p:nvSpPr>
              <p:spPr>
                <a:xfrm>
                  <a:off x="5625713" y="3409950"/>
                  <a:ext cx="95250" cy="95250"/>
                </a:xfrm>
                <a:prstGeom prst="ellipse">
                  <a:avLst/>
                </a:prstGeom>
                <a:solidFill>
                  <a:schemeClr val="accent3"/>
                </a:solidFill>
                <a:ln>
                  <a:noFill/>
                </a:ln>
              </p:spPr>
            </p:sp>
          </p:grpSp>
          <p:grpSp>
            <p:nvGrpSpPr>
              <p:cNvPr id="32" name="motorbike-seed11"/>
              <p:cNvGrpSpPr/>
              <p:nvPr/>
            </p:nvGrpSpPr>
            <p:grpSpPr>
              <a:xfrm>
                <a:off x="9163136" y="4114800"/>
                <a:ext cx="241849" cy="152400"/>
                <a:chOff x="9163136" y="4114800"/>
                <a:chExt cx="241849" cy="152400"/>
              </a:xfrm>
            </p:grpSpPr>
            <p:sp>
              <p:nvSpPr>
                <p:cNvPr id="28" name="Line 28"/>
                <p:cNvSpPr/>
                <p:nvPr/>
              </p:nvSpPr>
              <p:spPr>
                <a:xfrm>
                  <a:off x="9210761" y="4191000"/>
                  <a:ext cx="146599" cy="9525"/>
                </a:xfrm>
                <a:custGeom>
                  <a:avLst/>
                  <a:gdLst/>
                  <a:ahLst/>
                  <a:cxnLst/>
                  <a:rect l="l" t="t" r="r" b="b"/>
                  <a:pathLst>
                    <a:path w="146599" h="9525">
                      <a:moveTo>
                        <a:pt x="0" y="0"/>
                      </a:moveTo>
                      <a:lnTo>
                        <a:pt x="146599" y="0"/>
                      </a:lnTo>
                    </a:path>
                  </a:pathLst>
                </a:custGeom>
                <a:noFill/>
                <a:ln w="19050">
                  <a:solidFill>
                    <a:srgbClr val="176B87"/>
                  </a:solidFill>
                </a:ln>
              </p:spPr>
            </p:sp>
            <p:sp>
              <p:nvSpPr>
                <p:cNvPr id="29" name="Ellipse 29"/>
                <p:cNvSpPr/>
                <p:nvPr/>
              </p:nvSpPr>
              <p:spPr>
                <a:xfrm>
                  <a:off x="9309735" y="4114800"/>
                  <a:ext cx="95250" cy="95250"/>
                </a:xfrm>
                <a:prstGeom prst="ellipse">
                  <a:avLst/>
                </a:prstGeom>
                <a:solidFill>
                  <a:srgbClr val="176B87"/>
                </a:solidFill>
                <a:ln>
                  <a:noFill/>
                </a:ln>
              </p:spPr>
            </p:sp>
            <p:sp>
              <p:nvSpPr>
                <p:cNvPr id="30" name="Ellipse 30"/>
                <p:cNvSpPr/>
                <p:nvPr/>
              </p:nvSpPr>
              <p:spPr>
                <a:xfrm>
                  <a:off x="9163136" y="4143375"/>
                  <a:ext cx="95250" cy="95250"/>
                </a:xfrm>
                <a:prstGeom prst="ellipse">
                  <a:avLst/>
                </a:prstGeom>
                <a:solidFill>
                  <a:srgbClr val="176B87"/>
                </a:solidFill>
                <a:ln>
                  <a:noFill/>
                </a:ln>
              </p:spPr>
            </p:sp>
            <p:sp>
              <p:nvSpPr>
                <p:cNvPr id="31" name="Ellipse 31"/>
                <p:cNvSpPr/>
                <p:nvPr/>
              </p:nvSpPr>
              <p:spPr>
                <a:xfrm>
                  <a:off x="9218190" y="4171950"/>
                  <a:ext cx="95250" cy="95250"/>
                </a:xfrm>
                <a:prstGeom prst="ellipse">
                  <a:avLst/>
                </a:prstGeom>
                <a:solidFill>
                  <a:srgbClr val="176B87"/>
                </a:solidFill>
                <a:ln>
                  <a:noFill/>
                </a:ln>
              </p:spPr>
            </p:sp>
          </p:grpSp>
          <p:grpSp>
            <p:nvGrpSpPr>
              <p:cNvPr id="37" name="motorbike-seed8"/>
              <p:cNvGrpSpPr/>
              <p:nvPr/>
            </p:nvGrpSpPr>
            <p:grpSpPr>
              <a:xfrm>
                <a:off x="8866337" y="4591050"/>
                <a:ext cx="382086" cy="152400"/>
                <a:chOff x="8866337" y="4591050"/>
                <a:chExt cx="382086" cy="152400"/>
              </a:xfrm>
            </p:grpSpPr>
            <p:sp>
              <p:nvSpPr>
                <p:cNvPr id="33" name="Line 33"/>
                <p:cNvSpPr/>
                <p:nvPr/>
              </p:nvSpPr>
              <p:spPr>
                <a:xfrm>
                  <a:off x="8913962" y="4667250"/>
                  <a:ext cx="286836" cy="9525"/>
                </a:xfrm>
                <a:custGeom>
                  <a:avLst/>
                  <a:gdLst/>
                  <a:ahLst/>
                  <a:cxnLst/>
                  <a:rect l="l" t="t" r="r" b="b"/>
                  <a:pathLst>
                    <a:path w="286836" h="9525">
                      <a:moveTo>
                        <a:pt x="0" y="0"/>
                      </a:moveTo>
                      <a:lnTo>
                        <a:pt x="286836" y="0"/>
                      </a:lnTo>
                    </a:path>
                  </a:pathLst>
                </a:custGeom>
                <a:noFill/>
                <a:ln w="19050">
                  <a:solidFill>
                    <a:srgbClr val="61899C"/>
                  </a:solidFill>
                </a:ln>
              </p:spPr>
            </p:sp>
            <p:sp>
              <p:nvSpPr>
                <p:cNvPr id="34" name="Ellipse 34"/>
                <p:cNvSpPr/>
                <p:nvPr/>
              </p:nvSpPr>
              <p:spPr>
                <a:xfrm>
                  <a:off x="8866337" y="4591050"/>
                  <a:ext cx="95250" cy="95250"/>
                </a:xfrm>
                <a:prstGeom prst="ellipse">
                  <a:avLst/>
                </a:prstGeom>
                <a:solidFill>
                  <a:srgbClr val="61899C"/>
                </a:solidFill>
                <a:ln>
                  <a:noFill/>
                </a:ln>
              </p:spPr>
            </p:sp>
            <p:sp>
              <p:nvSpPr>
                <p:cNvPr id="35" name="Ellipse 35"/>
                <p:cNvSpPr/>
                <p:nvPr/>
              </p:nvSpPr>
              <p:spPr>
                <a:xfrm>
                  <a:off x="9153173" y="4619625"/>
                  <a:ext cx="95250" cy="95250"/>
                </a:xfrm>
                <a:prstGeom prst="ellipse">
                  <a:avLst/>
                </a:prstGeom>
                <a:solidFill>
                  <a:srgbClr val="61899C"/>
                </a:solidFill>
                <a:ln>
                  <a:noFill/>
                </a:ln>
              </p:spPr>
            </p:sp>
            <p:sp>
              <p:nvSpPr>
                <p:cNvPr id="36" name="Ellipse 36"/>
                <p:cNvSpPr/>
                <p:nvPr/>
              </p:nvSpPr>
              <p:spPr>
                <a:xfrm>
                  <a:off x="8943156" y="4648200"/>
                  <a:ext cx="95250" cy="95250"/>
                </a:xfrm>
                <a:prstGeom prst="ellipse">
                  <a:avLst/>
                </a:prstGeom>
                <a:solidFill>
                  <a:srgbClr val="61899C"/>
                </a:solidFill>
                <a:ln>
                  <a:noFill/>
                </a:ln>
              </p:spPr>
            </p:sp>
          </p:grpSp>
          <p:grpSp>
            <p:nvGrpSpPr>
              <p:cNvPr id="42" name="motorbike-seed26"/>
              <p:cNvGrpSpPr/>
              <p:nvPr/>
            </p:nvGrpSpPr>
            <p:grpSpPr>
              <a:xfrm>
                <a:off x="8924954" y="5067300"/>
                <a:ext cx="429177" cy="152400"/>
                <a:chOff x="8924954" y="5067300"/>
                <a:chExt cx="429177" cy="152400"/>
              </a:xfrm>
            </p:grpSpPr>
            <p:sp>
              <p:nvSpPr>
                <p:cNvPr id="38" name="Line 38"/>
                <p:cNvSpPr/>
                <p:nvPr/>
              </p:nvSpPr>
              <p:spPr>
                <a:xfrm>
                  <a:off x="8972579" y="5143500"/>
                  <a:ext cx="333927" cy="9525"/>
                </a:xfrm>
                <a:custGeom>
                  <a:avLst/>
                  <a:gdLst/>
                  <a:ahLst/>
                  <a:cxnLst/>
                  <a:rect l="l" t="t" r="r" b="b"/>
                  <a:pathLst>
                    <a:path w="333927" h="9525">
                      <a:moveTo>
                        <a:pt x="0" y="0"/>
                      </a:moveTo>
                      <a:lnTo>
                        <a:pt x="333927" y="0"/>
                      </a:lnTo>
                    </a:path>
                  </a:pathLst>
                </a:custGeom>
                <a:noFill/>
                <a:ln w="19050">
                  <a:solidFill>
                    <a:schemeClr val="accent3"/>
                  </a:solidFill>
                </a:ln>
              </p:spPr>
            </p:sp>
            <p:sp>
              <p:nvSpPr>
                <p:cNvPr id="39" name="Ellipse 39"/>
                <p:cNvSpPr/>
                <p:nvPr/>
              </p:nvSpPr>
              <p:spPr>
                <a:xfrm>
                  <a:off x="9258881" y="5067300"/>
                  <a:ext cx="95250" cy="95250"/>
                </a:xfrm>
                <a:prstGeom prst="ellipse">
                  <a:avLst/>
                </a:prstGeom>
                <a:solidFill>
                  <a:schemeClr val="accent3"/>
                </a:solidFill>
                <a:ln>
                  <a:noFill/>
                </a:ln>
              </p:spPr>
            </p:sp>
            <p:sp>
              <p:nvSpPr>
                <p:cNvPr id="40" name="Ellipse 40"/>
                <p:cNvSpPr/>
                <p:nvPr/>
              </p:nvSpPr>
              <p:spPr>
                <a:xfrm>
                  <a:off x="9220619" y="5095875"/>
                  <a:ext cx="95250" cy="95250"/>
                </a:xfrm>
                <a:prstGeom prst="ellipse">
                  <a:avLst/>
                </a:prstGeom>
                <a:solidFill>
                  <a:schemeClr val="accent3"/>
                </a:solidFill>
                <a:ln>
                  <a:noFill/>
                </a:ln>
              </p:spPr>
            </p:sp>
            <p:sp>
              <p:nvSpPr>
                <p:cNvPr id="41" name="Ellipse 41"/>
                <p:cNvSpPr/>
                <p:nvPr/>
              </p:nvSpPr>
              <p:spPr>
                <a:xfrm>
                  <a:off x="8924954" y="5124450"/>
                  <a:ext cx="95250" cy="95250"/>
                </a:xfrm>
                <a:prstGeom prst="ellipse">
                  <a:avLst/>
                </a:prstGeom>
                <a:solidFill>
                  <a:schemeClr val="accent3"/>
                </a:solidFill>
                <a:ln>
                  <a:noFill/>
                </a:ln>
              </p:spPr>
            </p:sp>
          </p:grpSp>
        </p:grpSp>
        <p:grpSp>
          <p:nvGrpSpPr>
            <p:cNvPr id="50" name="row-labels"/>
            <p:cNvGrpSpPr/>
            <p:nvPr/>
          </p:nvGrpSpPr>
          <p:grpSpPr>
            <a:xfrm>
              <a:off x="525018" y="2349500"/>
              <a:ext cx="2367958" cy="2989707"/>
              <a:chOff x="525018" y="2349500"/>
              <a:chExt cx="2367958" cy="2989707"/>
            </a:xfrm>
          </p:grpSpPr>
          <p:sp>
            <p:nvSpPr>
              <p:cNvPr id="44" name="TextBox 44"/>
              <p:cNvSpPr txBox="1"/>
              <p:nvPr/>
            </p:nvSpPr>
            <p:spPr>
              <a:xfrm>
                <a:off x="525018" y="2349500"/>
                <a:ext cx="18576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Drone · YOLO11n</a:t>
                </a:r>
              </a:p>
            </p:txBody>
          </p:sp>
          <p:sp>
            <p:nvSpPr>
              <p:cNvPr id="45" name="TextBox 45"/>
              <p:cNvSpPr txBox="1"/>
              <p:nvPr/>
            </p:nvSpPr>
            <p:spPr>
              <a:xfrm>
                <a:off x="525018" y="2825750"/>
                <a:ext cx="18402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Drone · YOLOv8n</a:t>
                </a:r>
              </a:p>
            </p:txBody>
          </p:sp>
          <p:sp>
            <p:nvSpPr>
              <p:cNvPr id="46" name="TextBox 46"/>
              <p:cNvSpPr txBox="1"/>
              <p:nvPr/>
            </p:nvSpPr>
            <p:spPr>
              <a:xfrm>
                <a:off x="525018" y="3302000"/>
                <a:ext cx="1920420"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Drone · YOLO26n</a:t>
                </a:r>
              </a:p>
            </p:txBody>
          </p:sp>
          <p:sp>
            <p:nvSpPr>
              <p:cNvPr id="47" name="TextBox 47"/>
              <p:cNvSpPr txBox="1"/>
              <p:nvPr/>
            </p:nvSpPr>
            <p:spPr>
              <a:xfrm>
                <a:off x="525018" y="4064000"/>
                <a:ext cx="22549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MotorBike · YOLO11n</a:t>
                </a:r>
              </a:p>
            </p:txBody>
          </p:sp>
          <p:sp>
            <p:nvSpPr>
              <p:cNvPr id="48" name="TextBox 48"/>
              <p:cNvSpPr txBox="1"/>
              <p:nvPr/>
            </p:nvSpPr>
            <p:spPr>
              <a:xfrm>
                <a:off x="525018" y="4540250"/>
                <a:ext cx="223863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MotorBike · YOLOv8n</a:t>
                </a:r>
              </a:p>
            </p:txBody>
          </p:sp>
          <p:sp>
            <p:nvSpPr>
              <p:cNvPr id="49" name="TextBox 49"/>
              <p:cNvSpPr txBox="1"/>
              <p:nvPr/>
            </p:nvSpPr>
            <p:spPr>
              <a:xfrm>
                <a:off x="525018" y="5016500"/>
                <a:ext cx="2367958"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MotorBike · YOLO26n</a:t>
                </a:r>
              </a:p>
            </p:txBody>
          </p:sp>
        </p:grpSp>
        <p:grpSp>
          <p:nvGrpSpPr>
            <p:cNvPr id="57" name="mean-labels"/>
            <p:cNvGrpSpPr/>
            <p:nvPr/>
          </p:nvGrpSpPr>
          <p:grpSpPr>
            <a:xfrm>
              <a:off x="10707243" y="2349500"/>
              <a:ext cx="572649" cy="2989707"/>
              <a:chOff x="10707243" y="2349500"/>
              <a:chExt cx="572649" cy="2989707"/>
            </a:xfrm>
          </p:grpSpPr>
          <p:sp>
            <p:nvSpPr>
              <p:cNvPr id="51" name="TextBox 51"/>
              <p:cNvSpPr txBox="1"/>
              <p:nvPr/>
            </p:nvSpPr>
            <p:spPr>
              <a:xfrm>
                <a:off x="10707243" y="2349500"/>
                <a:ext cx="572649"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15.13</a:t>
                </a:r>
              </a:p>
            </p:txBody>
          </p:sp>
          <p:sp>
            <p:nvSpPr>
              <p:cNvPr id="52" name="TextBox 52"/>
              <p:cNvSpPr txBox="1"/>
              <p:nvPr/>
            </p:nvSpPr>
            <p:spPr>
              <a:xfrm>
                <a:off x="10707243" y="2825750"/>
                <a:ext cx="572649"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14.86</a:t>
                </a:r>
              </a:p>
            </p:txBody>
          </p:sp>
          <p:sp>
            <p:nvSpPr>
              <p:cNvPr id="53" name="TextBox 53"/>
              <p:cNvSpPr txBox="1"/>
              <p:nvPr/>
            </p:nvSpPr>
            <p:spPr>
              <a:xfrm>
                <a:off x="10707243" y="3302000"/>
                <a:ext cx="572649"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16.91</a:t>
                </a:r>
              </a:p>
            </p:txBody>
          </p:sp>
          <p:sp>
            <p:nvSpPr>
              <p:cNvPr id="54" name="TextBox 54"/>
              <p:cNvSpPr txBox="1"/>
              <p:nvPr/>
            </p:nvSpPr>
            <p:spPr>
              <a:xfrm>
                <a:off x="10707243" y="4064000"/>
                <a:ext cx="572649"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42.94</a:t>
                </a:r>
              </a:p>
            </p:txBody>
          </p:sp>
          <p:sp>
            <p:nvSpPr>
              <p:cNvPr id="55" name="TextBox 55"/>
              <p:cNvSpPr txBox="1"/>
              <p:nvPr/>
            </p:nvSpPr>
            <p:spPr>
              <a:xfrm>
                <a:off x="10707243" y="4540250"/>
                <a:ext cx="572649"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41.24</a:t>
                </a:r>
              </a:p>
            </p:txBody>
          </p:sp>
          <p:sp>
            <p:nvSpPr>
              <p:cNvPr id="56" name="TextBox 56"/>
              <p:cNvSpPr txBox="1"/>
              <p:nvPr/>
            </p:nvSpPr>
            <p:spPr>
              <a:xfrm>
                <a:off x="10707243" y="5016500"/>
                <a:ext cx="572649"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42.27</a:t>
                </a:r>
              </a:p>
            </p:txBody>
          </p:sp>
        </p:grpSp>
        <p:grpSp>
          <p:nvGrpSpPr>
            <p:cNvPr id="64" name="axis-labels"/>
            <p:cNvGrpSpPr/>
            <p:nvPr/>
          </p:nvGrpSpPr>
          <p:grpSpPr>
            <a:xfrm>
              <a:off x="3085851" y="5540375"/>
              <a:ext cx="7309089" cy="264033"/>
              <a:chOff x="3085851" y="5540375"/>
              <a:chExt cx="7309089" cy="264033"/>
            </a:xfrm>
          </p:grpSpPr>
          <p:sp>
            <p:nvSpPr>
              <p:cNvPr id="58" name="TextBox 58"/>
              <p:cNvSpPr txBox="1"/>
              <p:nvPr/>
            </p:nvSpPr>
            <p:spPr>
              <a:xfrm>
                <a:off x="3085851" y="5540375"/>
                <a:ext cx="114798"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0</a:t>
                </a:r>
              </a:p>
            </p:txBody>
          </p:sp>
          <p:sp>
            <p:nvSpPr>
              <p:cNvPr id="59" name="TextBox 59"/>
              <p:cNvSpPr txBox="1"/>
              <p:nvPr/>
            </p:nvSpPr>
            <p:spPr>
              <a:xfrm>
                <a:off x="4464060" y="5540375"/>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10</a:t>
                </a:r>
              </a:p>
            </p:txBody>
          </p:sp>
          <p:sp>
            <p:nvSpPr>
              <p:cNvPr id="60" name="TextBox 60"/>
              <p:cNvSpPr txBox="1"/>
              <p:nvPr/>
            </p:nvSpPr>
            <p:spPr>
              <a:xfrm>
                <a:off x="5892810" y="5540375"/>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20</a:t>
                </a:r>
              </a:p>
            </p:txBody>
          </p:sp>
          <p:sp>
            <p:nvSpPr>
              <p:cNvPr id="61" name="TextBox 61"/>
              <p:cNvSpPr txBox="1"/>
              <p:nvPr/>
            </p:nvSpPr>
            <p:spPr>
              <a:xfrm>
                <a:off x="7321560" y="5540375"/>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30</a:t>
                </a:r>
              </a:p>
            </p:txBody>
          </p:sp>
          <p:sp>
            <p:nvSpPr>
              <p:cNvPr id="62" name="TextBox 62"/>
              <p:cNvSpPr txBox="1"/>
              <p:nvPr/>
            </p:nvSpPr>
            <p:spPr>
              <a:xfrm>
                <a:off x="8750310" y="5540375"/>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40</a:t>
                </a:r>
              </a:p>
            </p:txBody>
          </p:sp>
          <p:sp>
            <p:nvSpPr>
              <p:cNvPr id="63" name="TextBox 63"/>
              <p:cNvSpPr txBox="1"/>
              <p:nvPr/>
            </p:nvSpPr>
            <p:spPr>
              <a:xfrm>
                <a:off x="10179060" y="5540375"/>
                <a:ext cx="215880"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50</a:t>
                </a:r>
              </a:p>
            </p:txBody>
          </p:sp>
        </p:grpSp>
      </p:grpSp>
      <p:grpSp>
        <p:nvGrpSpPr>
          <p:cNvPr id="67" name="takeaway"/>
          <p:cNvGrpSpPr/>
          <p:nvPr/>
        </p:nvGrpSpPr>
        <p:grpSpPr>
          <a:xfrm>
            <a:off x="525018" y="5915025"/>
            <a:ext cx="6900863" cy="560832"/>
            <a:chOff x="525018" y="5915025"/>
            <a:chExt cx="6900863" cy="560832"/>
          </a:xfrm>
        </p:grpSpPr>
        <p:sp>
          <p:nvSpPr>
            <p:cNvPr id="66" name="TextBox 66"/>
            <p:cNvSpPr txBox="1"/>
            <p:nvPr/>
          </p:nvSpPr>
          <p:spPr>
            <a:xfrm>
              <a:off x="525018" y="5915025"/>
              <a:ext cx="6900863" cy="560832"/>
            </a:xfrm>
            <a:prstGeom prst="rect">
              <a:avLst/>
            </a:prstGeom>
            <a:noFill/>
            <a:ln>
              <a:noFill/>
            </a:ln>
          </p:spPr>
          <p:txBody>
            <a:bodyPr wrap="none" lIns="0" tIns="0" rIns="0" bIns="0" anchor="t" anchorCtr="0">
              <a:spAutoFit/>
            </a:bodyPr>
            <a:lstStyle/>
            <a:p>
              <a:pPr algn="l">
                <a:lnSpc>
                  <a:spcPts val="1875"/>
                </a:lnSpc>
              </a:pPr>
              <a:r>
                <a:rPr lang="vi-VN" sz="1650" b="1" dirty="0">
                  <a:solidFill>
                    <a:schemeClr val="accent2"/>
                  </a:solidFill>
                  <a:latin typeface="+mn-lt"/>
                  <a:ea typeface="+mn-ea"/>
                  <a:cs typeface="+mn-cs"/>
                </a:rPr>
                <a:t>Mean gap: Drone 14,86–16,91 pp; MotorBike 41,24–42,94 pp.</a:t>
              </a:r>
              <a:br>
                <a:rPr lang="vi-VN" sz="1650" b="1" dirty="0">
                  <a:solidFill>
                    <a:schemeClr val="accent2"/>
                  </a:solidFill>
                  <a:latin typeface="+mn-lt"/>
                  <a:ea typeface="+mn-ea"/>
                  <a:cs typeface="+mn-cs"/>
                </a:rPr>
              </a:br>
              <a:r>
                <a:rPr lang="vi-VN" sz="1650" b="1" dirty="0">
                  <a:solidFill>
                    <a:schemeClr val="accent2"/>
                  </a:solidFill>
                  <a:latin typeface="+mn-lt"/>
                  <a:ea typeface="+mn-ea"/>
                  <a:cs typeface="+mn-cs"/>
                </a:rPr>
                <a:t>Mỗi phép so sánh giữ cùng tập đích.</a:t>
              </a:r>
            </a:p>
          </p:txBody>
        </p:sp>
      </p:grpSp>
      <p:grpSp>
        <p:nvGrpSpPr>
          <p:cNvPr id="70" name="source"/>
          <p:cNvGrpSpPr/>
          <p:nvPr/>
        </p:nvGrpSpPr>
        <p:grpSpPr>
          <a:xfrm>
            <a:off x="528638" y="6467475"/>
            <a:ext cx="11129962" cy="261937"/>
            <a:chOff x="528638" y="6467475"/>
            <a:chExt cx="11129962" cy="261937"/>
          </a:xfrm>
        </p:grpSpPr>
        <p:sp>
          <p:nvSpPr>
            <p:cNvPr id="68" name="Line 68"/>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69" name="TextBox 69"/>
            <p:cNvSpPr txBox="1"/>
            <p:nvPr/>
          </p:nvSpPr>
          <p:spPr>
            <a:xfrm>
              <a:off x="528638" y="6553200"/>
              <a:ext cx="5275780"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Bảng V–VI; data/fixed_target_gaps_by_seed.csv · Mỗi điểm là một seed; đơn vị pp</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1396365"/>
            <a:chOff x="518160" y="244475"/>
            <a:chExt cx="11147298" cy="1396365"/>
          </a:xfrm>
        </p:grpSpPr>
        <p:sp>
          <p:nvSpPr>
            <p:cNvPr id="2" name="TextBox 2"/>
            <p:cNvSpPr txBox="1"/>
            <p:nvPr/>
          </p:nvSpPr>
          <p:spPr>
            <a:xfrm>
              <a:off x="528066" y="282575"/>
              <a:ext cx="2076804"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06 · KẾT QUẢ THỰC NGHIỆM</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15</a:t>
              </a:r>
            </a:p>
          </p:txBody>
        </p:sp>
        <p:sp>
          <p:nvSpPr>
            <p:cNvPr id="4" name="TextBox 4"/>
            <p:cNvSpPr txBox="1"/>
            <p:nvPr/>
          </p:nvSpPr>
          <p:spPr>
            <a:xfrm>
              <a:off x="518160" y="606425"/>
              <a:ext cx="6835125" cy="1034415"/>
            </a:xfrm>
            <a:prstGeom prst="rect">
              <a:avLst/>
            </a:prstGeom>
            <a:noFill/>
            <a:ln>
              <a:noFill/>
            </a:ln>
          </p:spPr>
          <p:txBody>
            <a:bodyPr wrap="none" lIns="0" tIns="0" rIns="0" bIns="0" anchor="t" anchorCtr="0">
              <a:spAutoFit/>
            </a:bodyPr>
            <a:lstStyle/>
            <a:p>
              <a:pPr algn="l">
                <a:lnSpc>
                  <a:spcPts val="3525"/>
                </a:lnSpc>
              </a:pPr>
              <a:r>
                <a:rPr lang="vi-VN" sz="3000" dirty="0">
                  <a:solidFill>
                    <a:schemeClr val="dk1"/>
                  </a:solidFill>
                  <a:latin typeface="+mj-lt"/>
                  <a:ea typeface="+mj-ea"/>
                  <a:cs typeface="+mj-cs"/>
                </a:rPr>
                <a:t>D20 trên MotorBike mất nhiều AP;</a:t>
              </a:r>
              <a:br>
                <a:rPr lang="vi-VN" sz="3000" dirty="0">
                  <a:solidFill>
                    <a:schemeClr val="dk1"/>
                  </a:solidFill>
                  <a:latin typeface="+mj-lt"/>
                  <a:ea typeface="+mj-ea"/>
                  <a:cs typeface="+mj-cs"/>
                </a:rPr>
              </a:br>
              <a:r>
                <a:rPr lang="vi-VN" sz="3000" dirty="0">
                  <a:solidFill>
                    <a:schemeClr val="dk1"/>
                  </a:solidFill>
                  <a:latin typeface="+mj-lt"/>
                  <a:ea typeface="+mj-ea"/>
                  <a:cs typeface="+mj-cs"/>
                </a:rPr>
                <a:t>D40 trên Drone đảo chiều</a:t>
              </a:r>
            </a:p>
          </p:txBody>
        </p:sp>
      </p:grpSp>
      <p:grpSp>
        <p:nvGrpSpPr>
          <p:cNvPr id="42" name="class-gap"/>
          <p:cNvGrpSpPr/>
          <p:nvPr/>
        </p:nvGrpSpPr>
        <p:grpSpPr>
          <a:xfrm>
            <a:off x="525018" y="1863725"/>
            <a:ext cx="7285482" cy="3932682"/>
            <a:chOff x="525018" y="1863725"/>
            <a:chExt cx="7285482" cy="3932682"/>
          </a:xfrm>
        </p:grpSpPr>
        <p:sp>
          <p:nvSpPr>
            <p:cNvPr id="6" name="TextBox 6"/>
            <p:cNvSpPr txBox="1"/>
            <p:nvPr/>
          </p:nvSpPr>
          <p:spPr>
            <a:xfrm>
              <a:off x="525018" y="1863725"/>
              <a:ext cx="4033658"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Gap theo lớp trên MotorBike Test (pp)</a:t>
              </a:r>
            </a:p>
          </p:txBody>
        </p:sp>
        <p:grpSp>
          <p:nvGrpSpPr>
            <p:cNvPr id="27" name="class-gap-chartArea"/>
            <p:cNvGrpSpPr/>
            <p:nvPr/>
          </p:nvGrpSpPr>
          <p:grpSpPr>
            <a:xfrm>
              <a:off x="952500" y="2608383"/>
              <a:ext cx="6858000" cy="2735142"/>
              <a:chOff x="952500" y="2608383"/>
              <a:chExt cx="6858000" cy="2735142"/>
            </a:xfrm>
          </p:grpSpPr>
          <p:grpSp>
            <p:nvGrpSpPr>
              <p:cNvPr id="11" name="class-grid"/>
              <p:cNvGrpSpPr/>
              <p:nvPr/>
            </p:nvGrpSpPr>
            <p:grpSpPr>
              <a:xfrm>
                <a:off x="952500" y="2608383"/>
                <a:ext cx="6858000" cy="2735142"/>
                <a:chOff x="952500" y="2608383"/>
                <a:chExt cx="6858000" cy="2735142"/>
              </a:xfrm>
            </p:grpSpPr>
            <p:sp>
              <p:nvSpPr>
                <p:cNvPr id="7" name="Line 7"/>
                <p:cNvSpPr/>
                <p:nvPr/>
              </p:nvSpPr>
              <p:spPr>
                <a:xfrm>
                  <a:off x="952500" y="5334000"/>
                  <a:ext cx="6858000" cy="9525"/>
                </a:xfrm>
                <a:custGeom>
                  <a:avLst/>
                  <a:gdLst/>
                  <a:ahLst/>
                  <a:cxnLst/>
                  <a:rect l="l" t="t" r="r" b="b"/>
                  <a:pathLst>
                    <a:path w="6858000" h="9525">
                      <a:moveTo>
                        <a:pt x="0" y="0"/>
                      </a:moveTo>
                      <a:lnTo>
                        <a:pt x="6858000" y="0"/>
                      </a:lnTo>
                    </a:path>
                  </a:pathLst>
                </a:custGeom>
                <a:noFill/>
                <a:ln w="9525">
                  <a:solidFill>
                    <a:schemeClr val="accent6"/>
                  </a:solidFill>
                </a:ln>
              </p:spPr>
            </p:sp>
            <p:sp>
              <p:nvSpPr>
                <p:cNvPr id="8" name="Line 8"/>
                <p:cNvSpPr/>
                <p:nvPr/>
              </p:nvSpPr>
              <p:spPr>
                <a:xfrm>
                  <a:off x="952500" y="4425458"/>
                  <a:ext cx="6858000" cy="9525"/>
                </a:xfrm>
                <a:custGeom>
                  <a:avLst/>
                  <a:gdLst/>
                  <a:ahLst/>
                  <a:cxnLst/>
                  <a:rect l="l" t="t" r="r" b="b"/>
                  <a:pathLst>
                    <a:path w="6858000" h="9525">
                      <a:moveTo>
                        <a:pt x="0" y="0"/>
                      </a:moveTo>
                      <a:lnTo>
                        <a:pt x="6858000" y="0"/>
                      </a:lnTo>
                    </a:path>
                  </a:pathLst>
                </a:custGeom>
                <a:noFill/>
                <a:ln w="9525">
                  <a:solidFill>
                    <a:schemeClr val="accent6"/>
                  </a:solidFill>
                </a:ln>
              </p:spPr>
            </p:sp>
            <p:sp>
              <p:nvSpPr>
                <p:cNvPr id="9" name="Line 9"/>
                <p:cNvSpPr/>
                <p:nvPr/>
              </p:nvSpPr>
              <p:spPr>
                <a:xfrm>
                  <a:off x="952500" y="3516925"/>
                  <a:ext cx="6858000" cy="9525"/>
                </a:xfrm>
                <a:custGeom>
                  <a:avLst/>
                  <a:gdLst/>
                  <a:ahLst/>
                  <a:cxnLst/>
                  <a:rect l="l" t="t" r="r" b="b"/>
                  <a:pathLst>
                    <a:path w="6858000" h="9525">
                      <a:moveTo>
                        <a:pt x="0" y="0"/>
                      </a:moveTo>
                      <a:lnTo>
                        <a:pt x="6858000" y="0"/>
                      </a:lnTo>
                    </a:path>
                  </a:pathLst>
                </a:custGeom>
                <a:noFill/>
                <a:ln w="9525">
                  <a:solidFill>
                    <a:schemeClr val="accent6"/>
                  </a:solidFill>
                </a:ln>
              </p:spPr>
            </p:sp>
            <p:sp>
              <p:nvSpPr>
                <p:cNvPr id="10" name="Line 10"/>
                <p:cNvSpPr/>
                <p:nvPr/>
              </p:nvSpPr>
              <p:spPr>
                <a:xfrm>
                  <a:off x="952500" y="2608383"/>
                  <a:ext cx="6858000" cy="9525"/>
                </a:xfrm>
                <a:custGeom>
                  <a:avLst/>
                  <a:gdLst/>
                  <a:ahLst/>
                  <a:cxnLst/>
                  <a:rect l="l" t="t" r="r" b="b"/>
                  <a:pathLst>
                    <a:path w="6858000" h="9525">
                      <a:moveTo>
                        <a:pt x="0" y="0"/>
                      </a:moveTo>
                      <a:lnTo>
                        <a:pt x="6858000" y="0"/>
                      </a:lnTo>
                    </a:path>
                  </a:pathLst>
                </a:custGeom>
                <a:noFill/>
                <a:ln w="9525">
                  <a:solidFill>
                    <a:schemeClr val="accent6"/>
                  </a:solidFill>
                </a:ln>
              </p:spPr>
            </p:sp>
          </p:grpSp>
          <p:grpSp>
            <p:nvGrpSpPr>
              <p:cNvPr id="16" name="class-series11"/>
              <p:cNvGrpSpPr/>
              <p:nvPr/>
            </p:nvGrpSpPr>
            <p:grpSpPr>
              <a:xfrm>
                <a:off x="1238250" y="2711929"/>
                <a:ext cx="5467350" cy="2622071"/>
                <a:chOff x="1238250" y="2711929"/>
                <a:chExt cx="5467350" cy="2622071"/>
              </a:xfrm>
            </p:grpSpPr>
            <p:sp>
              <p:nvSpPr>
                <p:cNvPr id="12" name="Rectangle 12"/>
                <p:cNvSpPr/>
                <p:nvPr/>
              </p:nvSpPr>
              <p:spPr>
                <a:xfrm>
                  <a:off x="1238250" y="4092702"/>
                  <a:ext cx="323850" cy="1241298"/>
                </a:xfrm>
                <a:prstGeom prst="rect">
                  <a:avLst/>
                </a:prstGeom>
                <a:solidFill>
                  <a:srgbClr val="176B87"/>
                </a:solidFill>
                <a:ln>
                  <a:noFill/>
                </a:ln>
              </p:spPr>
            </p:sp>
            <p:sp>
              <p:nvSpPr>
                <p:cNvPr id="13" name="Rectangle 13"/>
                <p:cNvSpPr/>
                <p:nvPr/>
              </p:nvSpPr>
              <p:spPr>
                <a:xfrm>
                  <a:off x="2952750" y="3712493"/>
                  <a:ext cx="323850" cy="1621507"/>
                </a:xfrm>
                <a:prstGeom prst="rect">
                  <a:avLst/>
                </a:prstGeom>
                <a:solidFill>
                  <a:srgbClr val="176B87"/>
                </a:solidFill>
                <a:ln>
                  <a:noFill/>
                </a:ln>
              </p:spPr>
            </p:sp>
            <p:sp>
              <p:nvSpPr>
                <p:cNvPr id="14" name="Rectangle 14"/>
                <p:cNvSpPr/>
                <p:nvPr/>
              </p:nvSpPr>
              <p:spPr>
                <a:xfrm>
                  <a:off x="4667250" y="2711929"/>
                  <a:ext cx="323850" cy="2622071"/>
                </a:xfrm>
                <a:prstGeom prst="rect">
                  <a:avLst/>
                </a:prstGeom>
                <a:solidFill>
                  <a:srgbClr val="176B87"/>
                </a:solidFill>
                <a:ln>
                  <a:noFill/>
                </a:ln>
              </p:spPr>
            </p:sp>
            <p:sp>
              <p:nvSpPr>
                <p:cNvPr id="15" name="Rectangle 15"/>
                <p:cNvSpPr/>
                <p:nvPr/>
              </p:nvSpPr>
              <p:spPr>
                <a:xfrm>
                  <a:off x="6381750" y="3016758"/>
                  <a:ext cx="323850" cy="2317242"/>
                </a:xfrm>
                <a:prstGeom prst="rect">
                  <a:avLst/>
                </a:prstGeom>
                <a:solidFill>
                  <a:srgbClr val="176B87"/>
                </a:solidFill>
                <a:ln>
                  <a:noFill/>
                </a:ln>
              </p:spPr>
            </p:sp>
          </p:grpSp>
          <p:grpSp>
            <p:nvGrpSpPr>
              <p:cNvPr id="21" name="class-series8"/>
              <p:cNvGrpSpPr/>
              <p:nvPr/>
            </p:nvGrpSpPr>
            <p:grpSpPr>
              <a:xfrm>
                <a:off x="1619250" y="2916736"/>
                <a:ext cx="5467350" cy="2417264"/>
                <a:chOff x="1619250" y="2916736"/>
                <a:chExt cx="5467350" cy="2417264"/>
              </a:xfrm>
            </p:grpSpPr>
            <p:sp>
              <p:nvSpPr>
                <p:cNvPr id="17" name="Rectangle 17"/>
                <p:cNvSpPr/>
                <p:nvPr/>
              </p:nvSpPr>
              <p:spPr>
                <a:xfrm>
                  <a:off x="1619250" y="4125954"/>
                  <a:ext cx="323850" cy="1208046"/>
                </a:xfrm>
                <a:prstGeom prst="rect">
                  <a:avLst/>
                </a:prstGeom>
                <a:solidFill>
                  <a:srgbClr val="61899C"/>
                </a:solidFill>
                <a:ln>
                  <a:noFill/>
                </a:ln>
              </p:spPr>
            </p:sp>
            <p:sp>
              <p:nvSpPr>
                <p:cNvPr id="18" name="Rectangle 18"/>
                <p:cNvSpPr/>
                <p:nvPr/>
              </p:nvSpPr>
              <p:spPr>
                <a:xfrm>
                  <a:off x="3333750" y="3769976"/>
                  <a:ext cx="323850" cy="1564024"/>
                </a:xfrm>
                <a:prstGeom prst="rect">
                  <a:avLst/>
                </a:prstGeom>
                <a:solidFill>
                  <a:srgbClr val="61899C"/>
                </a:solidFill>
                <a:ln>
                  <a:noFill/>
                </a:ln>
              </p:spPr>
            </p:sp>
            <p:sp>
              <p:nvSpPr>
                <p:cNvPr id="19" name="Rectangle 19"/>
                <p:cNvSpPr/>
                <p:nvPr/>
              </p:nvSpPr>
              <p:spPr>
                <a:xfrm>
                  <a:off x="5048250" y="2916736"/>
                  <a:ext cx="323850" cy="2417264"/>
                </a:xfrm>
                <a:prstGeom prst="rect">
                  <a:avLst/>
                </a:prstGeom>
                <a:solidFill>
                  <a:srgbClr val="61899C"/>
                </a:solidFill>
                <a:ln>
                  <a:noFill/>
                </a:ln>
              </p:spPr>
            </p:sp>
            <p:sp>
              <p:nvSpPr>
                <p:cNvPr id="20" name="Rectangle 20"/>
                <p:cNvSpPr/>
                <p:nvPr/>
              </p:nvSpPr>
              <p:spPr>
                <a:xfrm>
                  <a:off x="6762750" y="3030007"/>
                  <a:ext cx="323850" cy="2303993"/>
                </a:xfrm>
                <a:prstGeom prst="rect">
                  <a:avLst/>
                </a:prstGeom>
                <a:solidFill>
                  <a:srgbClr val="61899C"/>
                </a:solidFill>
                <a:ln>
                  <a:noFill/>
                </a:ln>
              </p:spPr>
            </p:sp>
          </p:grpSp>
          <p:grpSp>
            <p:nvGrpSpPr>
              <p:cNvPr id="26" name="class-series26"/>
              <p:cNvGrpSpPr/>
              <p:nvPr/>
            </p:nvGrpSpPr>
            <p:grpSpPr>
              <a:xfrm>
                <a:off x="2000250" y="2769775"/>
                <a:ext cx="5467350" cy="2564225"/>
                <a:chOff x="2000250" y="2769775"/>
                <a:chExt cx="5467350" cy="2564225"/>
              </a:xfrm>
            </p:grpSpPr>
            <p:sp>
              <p:nvSpPr>
                <p:cNvPr id="22" name="Rectangle 22"/>
                <p:cNvSpPr/>
                <p:nvPr/>
              </p:nvSpPr>
              <p:spPr>
                <a:xfrm>
                  <a:off x="2000250" y="4145356"/>
                  <a:ext cx="323850" cy="1188644"/>
                </a:xfrm>
                <a:prstGeom prst="rect">
                  <a:avLst/>
                </a:prstGeom>
                <a:solidFill>
                  <a:schemeClr val="accent3"/>
                </a:solidFill>
                <a:ln>
                  <a:noFill/>
                </a:ln>
              </p:spPr>
            </p:sp>
            <p:sp>
              <p:nvSpPr>
                <p:cNvPr id="23" name="Rectangle 23"/>
                <p:cNvSpPr/>
                <p:nvPr/>
              </p:nvSpPr>
              <p:spPr>
                <a:xfrm>
                  <a:off x="3714750" y="3929805"/>
                  <a:ext cx="323850" cy="1404195"/>
                </a:xfrm>
                <a:prstGeom prst="rect">
                  <a:avLst/>
                </a:prstGeom>
                <a:solidFill>
                  <a:schemeClr val="accent3"/>
                </a:solidFill>
                <a:ln>
                  <a:noFill/>
                </a:ln>
              </p:spPr>
            </p:sp>
            <p:sp>
              <p:nvSpPr>
                <p:cNvPr id="24" name="Rectangle 24"/>
                <p:cNvSpPr/>
                <p:nvPr/>
              </p:nvSpPr>
              <p:spPr>
                <a:xfrm>
                  <a:off x="5429250" y="2769775"/>
                  <a:ext cx="323850" cy="2564225"/>
                </a:xfrm>
                <a:prstGeom prst="rect">
                  <a:avLst/>
                </a:prstGeom>
                <a:solidFill>
                  <a:schemeClr val="accent3"/>
                </a:solidFill>
                <a:ln>
                  <a:noFill/>
                </a:ln>
              </p:spPr>
            </p:sp>
            <p:sp>
              <p:nvSpPr>
                <p:cNvPr id="25" name="Rectangle 25"/>
                <p:cNvSpPr/>
                <p:nvPr/>
              </p:nvSpPr>
              <p:spPr>
                <a:xfrm>
                  <a:off x="7143750" y="2810456"/>
                  <a:ext cx="323850" cy="2523544"/>
                </a:xfrm>
                <a:prstGeom prst="rect">
                  <a:avLst/>
                </a:prstGeom>
                <a:solidFill>
                  <a:schemeClr val="accent3"/>
                </a:solidFill>
                <a:ln>
                  <a:noFill/>
                </a:ln>
              </p:spPr>
            </p:sp>
          </p:grpSp>
        </p:grpSp>
        <p:grpSp>
          <p:nvGrpSpPr>
            <p:cNvPr id="32" name="class-axis-labels"/>
            <p:cNvGrpSpPr/>
            <p:nvPr/>
          </p:nvGrpSpPr>
          <p:grpSpPr>
            <a:xfrm>
              <a:off x="600603" y="2500433"/>
              <a:ext cx="215880" cy="2989650"/>
              <a:chOff x="600603" y="2500433"/>
              <a:chExt cx="215880" cy="2989650"/>
            </a:xfrm>
          </p:grpSpPr>
          <p:sp>
            <p:nvSpPr>
              <p:cNvPr id="28" name="TextBox 28"/>
              <p:cNvSpPr txBox="1"/>
              <p:nvPr/>
            </p:nvSpPr>
            <p:spPr>
              <a:xfrm>
                <a:off x="701685" y="5226050"/>
                <a:ext cx="114798" cy="264033"/>
              </a:xfrm>
              <a:prstGeom prst="rect">
                <a:avLst/>
              </a:prstGeom>
              <a:noFill/>
              <a:ln>
                <a:noFill/>
              </a:ln>
            </p:spPr>
            <p:txBody>
              <a:bodyPr wrap="none" lIns="0" tIns="0" rIns="0" bIns="0" anchor="t" anchorCtr="0">
                <a:spAutoFit/>
              </a:bodyPr>
              <a:lstStyle/>
              <a:p>
                <a:pPr algn="r"/>
                <a:r>
                  <a:rPr lang="vi-VN" sz="1350" dirty="0">
                    <a:solidFill>
                      <a:schemeClr val="accent5"/>
                    </a:solidFill>
                    <a:latin typeface="+mn-lt"/>
                    <a:ea typeface="+mn-ea"/>
                    <a:cs typeface="+mn-cs"/>
                  </a:rPr>
                  <a:t>0</a:t>
                </a:r>
              </a:p>
            </p:txBody>
          </p:sp>
          <p:sp>
            <p:nvSpPr>
              <p:cNvPr id="29" name="TextBox 29"/>
              <p:cNvSpPr txBox="1"/>
              <p:nvPr/>
            </p:nvSpPr>
            <p:spPr>
              <a:xfrm>
                <a:off x="600603" y="4317508"/>
                <a:ext cx="215880" cy="264033"/>
              </a:xfrm>
              <a:prstGeom prst="rect">
                <a:avLst/>
              </a:prstGeom>
              <a:noFill/>
              <a:ln>
                <a:noFill/>
              </a:ln>
            </p:spPr>
            <p:txBody>
              <a:bodyPr wrap="none" lIns="0" tIns="0" rIns="0" bIns="0" anchor="t" anchorCtr="0">
                <a:spAutoFit/>
              </a:bodyPr>
              <a:lstStyle/>
              <a:p>
                <a:pPr algn="r"/>
                <a:r>
                  <a:rPr lang="vi-VN" sz="1350" dirty="0">
                    <a:solidFill>
                      <a:schemeClr val="accent5"/>
                    </a:solidFill>
                    <a:latin typeface="+mn-lt"/>
                    <a:ea typeface="+mn-ea"/>
                    <a:cs typeface="+mn-cs"/>
                  </a:rPr>
                  <a:t>20</a:t>
                </a:r>
              </a:p>
            </p:txBody>
          </p:sp>
          <p:sp>
            <p:nvSpPr>
              <p:cNvPr id="30" name="TextBox 30"/>
              <p:cNvSpPr txBox="1"/>
              <p:nvPr/>
            </p:nvSpPr>
            <p:spPr>
              <a:xfrm>
                <a:off x="600603" y="3408975"/>
                <a:ext cx="215880" cy="264033"/>
              </a:xfrm>
              <a:prstGeom prst="rect">
                <a:avLst/>
              </a:prstGeom>
              <a:noFill/>
              <a:ln>
                <a:noFill/>
              </a:ln>
            </p:spPr>
            <p:txBody>
              <a:bodyPr wrap="none" lIns="0" tIns="0" rIns="0" bIns="0" anchor="t" anchorCtr="0">
                <a:spAutoFit/>
              </a:bodyPr>
              <a:lstStyle/>
              <a:p>
                <a:pPr algn="r"/>
                <a:r>
                  <a:rPr lang="vi-VN" sz="1350" dirty="0">
                    <a:solidFill>
                      <a:schemeClr val="accent5"/>
                    </a:solidFill>
                    <a:latin typeface="+mn-lt"/>
                    <a:ea typeface="+mn-ea"/>
                    <a:cs typeface="+mn-cs"/>
                  </a:rPr>
                  <a:t>40</a:t>
                </a:r>
              </a:p>
            </p:txBody>
          </p:sp>
          <p:sp>
            <p:nvSpPr>
              <p:cNvPr id="31" name="TextBox 31"/>
              <p:cNvSpPr txBox="1"/>
              <p:nvPr/>
            </p:nvSpPr>
            <p:spPr>
              <a:xfrm>
                <a:off x="600603" y="2500433"/>
                <a:ext cx="215880" cy="264033"/>
              </a:xfrm>
              <a:prstGeom prst="rect">
                <a:avLst/>
              </a:prstGeom>
              <a:noFill/>
              <a:ln>
                <a:noFill/>
              </a:ln>
            </p:spPr>
            <p:txBody>
              <a:bodyPr wrap="none" lIns="0" tIns="0" rIns="0" bIns="0" anchor="t" anchorCtr="0">
                <a:spAutoFit/>
              </a:bodyPr>
              <a:lstStyle/>
              <a:p>
                <a:pPr algn="r"/>
                <a:r>
                  <a:rPr lang="vi-VN" sz="1350" dirty="0">
                    <a:solidFill>
                      <a:schemeClr val="accent5"/>
                    </a:solidFill>
                    <a:latin typeface="+mn-lt"/>
                    <a:ea typeface="+mn-ea"/>
                    <a:cs typeface="+mn-cs"/>
                  </a:rPr>
                  <a:t>60</a:t>
                </a:r>
              </a:p>
            </p:txBody>
          </p:sp>
        </p:grpSp>
        <p:grpSp>
          <p:nvGrpSpPr>
            <p:cNvPr id="37" name="class-category-labels"/>
            <p:cNvGrpSpPr/>
            <p:nvPr/>
          </p:nvGrpSpPr>
          <p:grpSpPr>
            <a:xfrm>
              <a:off x="1557506" y="5473700"/>
              <a:ext cx="5590837" cy="322707"/>
              <a:chOff x="1557506" y="5473700"/>
              <a:chExt cx="5590837" cy="322707"/>
            </a:xfrm>
          </p:grpSpPr>
          <p:sp>
            <p:nvSpPr>
              <p:cNvPr id="33" name="TextBox 33"/>
              <p:cNvSpPr txBox="1"/>
              <p:nvPr/>
            </p:nvSpPr>
            <p:spPr>
              <a:xfrm>
                <a:off x="1557506" y="5473700"/>
                <a:ext cx="447337" cy="322707"/>
              </a:xfrm>
              <a:prstGeom prst="rect">
                <a:avLst/>
              </a:prstGeom>
              <a:noFill/>
              <a:ln>
                <a:noFill/>
              </a:ln>
            </p:spPr>
            <p:txBody>
              <a:bodyPr wrap="none" lIns="0" tIns="0" rIns="0" bIns="0" anchor="t" anchorCtr="0">
                <a:spAutoFit/>
              </a:bodyPr>
              <a:lstStyle/>
              <a:p>
                <a:pPr algn="ctr"/>
                <a:r>
                  <a:rPr lang="vi-VN" sz="1650" dirty="0">
                    <a:solidFill>
                      <a:schemeClr val="dk1"/>
                    </a:solidFill>
                    <a:latin typeface="+mn-lt"/>
                    <a:ea typeface="+mn-ea"/>
                    <a:cs typeface="+mn-cs"/>
                  </a:rPr>
                  <a:t>D00</a:t>
                </a:r>
              </a:p>
            </p:txBody>
          </p:sp>
          <p:sp>
            <p:nvSpPr>
              <p:cNvPr id="34" name="TextBox 34"/>
              <p:cNvSpPr txBox="1"/>
              <p:nvPr/>
            </p:nvSpPr>
            <p:spPr>
              <a:xfrm>
                <a:off x="3272006" y="5473700"/>
                <a:ext cx="447337" cy="322707"/>
              </a:xfrm>
              <a:prstGeom prst="rect">
                <a:avLst/>
              </a:prstGeom>
              <a:noFill/>
              <a:ln>
                <a:noFill/>
              </a:ln>
            </p:spPr>
            <p:txBody>
              <a:bodyPr wrap="none" lIns="0" tIns="0" rIns="0" bIns="0" anchor="t" anchorCtr="0">
                <a:spAutoFit/>
              </a:bodyPr>
              <a:lstStyle/>
              <a:p>
                <a:pPr algn="ctr"/>
                <a:r>
                  <a:rPr lang="vi-VN" sz="1650" dirty="0">
                    <a:solidFill>
                      <a:schemeClr val="dk1"/>
                    </a:solidFill>
                    <a:latin typeface="+mn-lt"/>
                    <a:ea typeface="+mn-ea"/>
                    <a:cs typeface="+mn-cs"/>
                  </a:rPr>
                  <a:t>D10</a:t>
                </a:r>
              </a:p>
            </p:txBody>
          </p:sp>
          <p:sp>
            <p:nvSpPr>
              <p:cNvPr id="35" name="TextBox 35"/>
              <p:cNvSpPr txBox="1"/>
              <p:nvPr/>
            </p:nvSpPr>
            <p:spPr>
              <a:xfrm>
                <a:off x="4986506" y="5473700"/>
                <a:ext cx="447337" cy="322707"/>
              </a:xfrm>
              <a:prstGeom prst="rect">
                <a:avLst/>
              </a:prstGeom>
              <a:noFill/>
              <a:ln>
                <a:noFill/>
              </a:ln>
            </p:spPr>
            <p:txBody>
              <a:bodyPr wrap="none" lIns="0" tIns="0" rIns="0" bIns="0" anchor="t" anchorCtr="0">
                <a:spAutoFit/>
              </a:bodyPr>
              <a:lstStyle/>
              <a:p>
                <a:pPr algn="ctr"/>
                <a:r>
                  <a:rPr lang="vi-VN" sz="1650" dirty="0">
                    <a:solidFill>
                      <a:schemeClr val="dk1"/>
                    </a:solidFill>
                    <a:latin typeface="+mn-lt"/>
                    <a:ea typeface="+mn-ea"/>
                    <a:cs typeface="+mn-cs"/>
                  </a:rPr>
                  <a:t>D20</a:t>
                </a:r>
              </a:p>
            </p:txBody>
          </p:sp>
          <p:sp>
            <p:nvSpPr>
              <p:cNvPr id="36" name="TextBox 36"/>
              <p:cNvSpPr txBox="1"/>
              <p:nvPr/>
            </p:nvSpPr>
            <p:spPr>
              <a:xfrm>
                <a:off x="6701006" y="5473700"/>
                <a:ext cx="447337" cy="322707"/>
              </a:xfrm>
              <a:prstGeom prst="rect">
                <a:avLst/>
              </a:prstGeom>
              <a:noFill/>
              <a:ln>
                <a:noFill/>
              </a:ln>
            </p:spPr>
            <p:txBody>
              <a:bodyPr wrap="none" lIns="0" tIns="0" rIns="0" bIns="0" anchor="t" anchorCtr="0">
                <a:spAutoFit/>
              </a:bodyPr>
              <a:lstStyle/>
              <a:p>
                <a:pPr algn="ctr"/>
                <a:r>
                  <a:rPr lang="vi-VN" sz="1650" dirty="0">
                    <a:solidFill>
                      <a:schemeClr val="dk1"/>
                    </a:solidFill>
                    <a:latin typeface="+mn-lt"/>
                    <a:ea typeface="+mn-ea"/>
                    <a:cs typeface="+mn-cs"/>
                  </a:rPr>
                  <a:t>D40</a:t>
                </a:r>
              </a:p>
            </p:txBody>
          </p:sp>
        </p:grpSp>
        <p:grpSp>
          <p:nvGrpSpPr>
            <p:cNvPr id="41" name="class-value-labels"/>
            <p:cNvGrpSpPr/>
            <p:nvPr/>
          </p:nvGrpSpPr>
          <p:grpSpPr>
            <a:xfrm>
              <a:off x="4645451" y="2425700"/>
              <a:ext cx="1129449" cy="473583"/>
              <a:chOff x="4645451" y="2425700"/>
              <a:chExt cx="1129449" cy="473583"/>
            </a:xfrm>
          </p:grpSpPr>
          <p:sp>
            <p:nvSpPr>
              <p:cNvPr id="38" name="TextBox 38"/>
              <p:cNvSpPr txBox="1"/>
              <p:nvPr/>
            </p:nvSpPr>
            <p:spPr>
              <a:xfrm>
                <a:off x="4645451" y="2425700"/>
                <a:ext cx="367449" cy="264033"/>
              </a:xfrm>
              <a:prstGeom prst="rect">
                <a:avLst/>
              </a:prstGeom>
              <a:noFill/>
              <a:ln>
                <a:noFill/>
              </a:ln>
            </p:spPr>
            <p:txBody>
              <a:bodyPr wrap="none" lIns="0" tIns="0" rIns="0" bIns="0" anchor="t" anchorCtr="0">
                <a:spAutoFit/>
              </a:bodyPr>
              <a:lstStyle/>
              <a:p>
                <a:pPr algn="ctr"/>
                <a:r>
                  <a:rPr lang="vi-VN" sz="1350" b="1" dirty="0">
                    <a:solidFill>
                      <a:srgbClr val="176B87"/>
                    </a:solidFill>
                    <a:latin typeface="+mn-lt"/>
                    <a:ea typeface="+mn-ea"/>
                    <a:cs typeface="+mn-cs"/>
                  </a:rPr>
                  <a:t>57.7</a:t>
                </a:r>
              </a:p>
            </p:txBody>
          </p:sp>
          <p:sp>
            <p:nvSpPr>
              <p:cNvPr id="39" name="TextBox 39"/>
              <p:cNvSpPr txBox="1"/>
              <p:nvPr/>
            </p:nvSpPr>
            <p:spPr>
              <a:xfrm>
                <a:off x="5026451" y="2635250"/>
                <a:ext cx="367449" cy="264033"/>
              </a:xfrm>
              <a:prstGeom prst="rect">
                <a:avLst/>
              </a:prstGeom>
              <a:noFill/>
              <a:ln>
                <a:noFill/>
              </a:ln>
            </p:spPr>
            <p:txBody>
              <a:bodyPr wrap="none" lIns="0" tIns="0" rIns="0" bIns="0" anchor="t" anchorCtr="0">
                <a:spAutoFit/>
              </a:bodyPr>
              <a:lstStyle/>
              <a:p>
                <a:pPr algn="ctr"/>
                <a:r>
                  <a:rPr lang="vi-VN" sz="1350" b="1" dirty="0">
                    <a:solidFill>
                      <a:srgbClr val="61899C"/>
                    </a:solidFill>
                    <a:latin typeface="+mn-lt"/>
                    <a:ea typeface="+mn-ea"/>
                    <a:cs typeface="+mn-cs"/>
                  </a:rPr>
                  <a:t>53.2</a:t>
                </a:r>
              </a:p>
            </p:txBody>
          </p:sp>
          <p:sp>
            <p:nvSpPr>
              <p:cNvPr id="40" name="TextBox 40"/>
              <p:cNvSpPr txBox="1"/>
              <p:nvPr/>
            </p:nvSpPr>
            <p:spPr>
              <a:xfrm>
                <a:off x="5407451" y="2482850"/>
                <a:ext cx="367449" cy="264033"/>
              </a:xfrm>
              <a:prstGeom prst="rect">
                <a:avLst/>
              </a:prstGeom>
              <a:noFill/>
              <a:ln>
                <a:noFill/>
              </a:ln>
            </p:spPr>
            <p:txBody>
              <a:bodyPr wrap="none" lIns="0" tIns="0" rIns="0" bIns="0" anchor="t" anchorCtr="0">
                <a:spAutoFit/>
              </a:bodyPr>
              <a:lstStyle/>
              <a:p>
                <a:pPr algn="ctr"/>
                <a:r>
                  <a:rPr lang="vi-VN" sz="1350" b="1" dirty="0">
                    <a:solidFill>
                      <a:schemeClr val="accent3"/>
                    </a:solidFill>
                    <a:latin typeface="+mn-lt"/>
                    <a:ea typeface="+mn-ea"/>
                    <a:cs typeface="+mn-cs"/>
                  </a:rPr>
                  <a:t>56.4</a:t>
                </a:r>
              </a:p>
            </p:txBody>
          </p:sp>
        </p:grpSp>
      </p:grpSp>
      <p:grpSp>
        <p:nvGrpSpPr>
          <p:cNvPr id="47" name="sparse-class-reversal"/>
          <p:cNvGrpSpPr/>
          <p:nvPr/>
        </p:nvGrpSpPr>
        <p:grpSpPr>
          <a:xfrm>
            <a:off x="8572500" y="1781175"/>
            <a:ext cx="3086100" cy="3943350"/>
            <a:chOff x="8572500" y="1781175"/>
            <a:chExt cx="3086100" cy="3943350"/>
          </a:xfrm>
        </p:grpSpPr>
        <p:sp>
          <p:nvSpPr>
            <p:cNvPr id="43" name="Rectangle 43"/>
            <p:cNvSpPr/>
            <p:nvPr/>
          </p:nvSpPr>
          <p:spPr>
            <a:xfrm>
              <a:off x="8572500" y="1781175"/>
              <a:ext cx="3086100" cy="3943350"/>
            </a:xfrm>
            <a:prstGeom prst="rect">
              <a:avLst/>
            </a:prstGeom>
            <a:solidFill>
              <a:schemeClr val="lt2"/>
            </a:solidFill>
            <a:ln>
              <a:noFill/>
            </a:ln>
          </p:spPr>
        </p:sp>
        <p:sp>
          <p:nvSpPr>
            <p:cNvPr id="44" name="TextBox 44"/>
            <p:cNvSpPr txBox="1"/>
            <p:nvPr/>
          </p:nvSpPr>
          <p:spPr>
            <a:xfrm>
              <a:off x="8773668" y="1911350"/>
              <a:ext cx="2217458"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Ngoại lệ D40 · Drone</a:t>
              </a:r>
            </a:p>
          </p:txBody>
        </p:sp>
        <p:sp>
          <p:nvSpPr>
            <p:cNvPr id="45" name="TextBox 45"/>
            <p:cNvSpPr txBox="1"/>
            <p:nvPr/>
          </p:nvSpPr>
          <p:spPr>
            <a:xfrm>
              <a:off x="8773668" y="2565400"/>
              <a:ext cx="2100250" cy="1218057"/>
            </a:xfrm>
            <a:prstGeom prst="rect">
              <a:avLst/>
            </a:prstGeom>
            <a:noFill/>
            <a:ln>
              <a:noFill/>
            </a:ln>
          </p:spPr>
          <p:txBody>
            <a:bodyPr wrap="none" lIns="0" tIns="0" rIns="0" bIns="0" anchor="t" anchorCtr="0">
              <a:spAutoFit/>
            </a:bodyPr>
            <a:lstStyle/>
            <a:p>
              <a:pPr algn="l">
                <a:lnSpc>
                  <a:spcPts val="3525"/>
                </a:lnSpc>
              </a:pPr>
              <a:r>
                <a:rPr lang="vi-VN" sz="1650" dirty="0">
                  <a:solidFill>
                    <a:schemeClr val="dk1"/>
                  </a:solidFill>
                  <a:latin typeface="+mn-lt"/>
                  <a:ea typeface="+mn-ea"/>
                  <a:cs typeface="+mn-cs"/>
                </a:rPr>
                <a:t>YOLO11n −6,61 pp</a:t>
              </a:r>
              <a:br>
                <a:rPr lang="vi-VN" sz="1650" dirty="0">
                  <a:solidFill>
                    <a:schemeClr val="dk1"/>
                  </a:solidFill>
                  <a:latin typeface="+mn-lt"/>
                  <a:ea typeface="+mn-ea"/>
                  <a:cs typeface="+mn-cs"/>
                </a:rPr>
              </a:br>
              <a:r>
                <a:rPr lang="vi-VN" sz="1650" dirty="0">
                  <a:solidFill>
                    <a:schemeClr val="dk1"/>
                  </a:solidFill>
                  <a:latin typeface="+mn-lt"/>
                  <a:ea typeface="+mn-ea"/>
                  <a:cs typeface="+mn-cs"/>
                </a:rPr>
                <a:t>YOLOv8n −9,74 pp</a:t>
              </a:r>
              <a:br>
                <a:rPr lang="vi-VN" sz="1650" dirty="0">
                  <a:solidFill>
                    <a:schemeClr val="dk1"/>
                  </a:solidFill>
                  <a:latin typeface="+mn-lt"/>
                  <a:ea typeface="+mn-ea"/>
                  <a:cs typeface="+mn-cs"/>
                </a:rPr>
              </a:br>
              <a:r>
                <a:rPr lang="vi-VN" sz="1650" dirty="0">
                  <a:solidFill>
                    <a:schemeClr val="dk1"/>
                  </a:solidFill>
                  <a:latin typeface="+mn-lt"/>
                  <a:ea typeface="+mn-ea"/>
                  <a:cs typeface="+mn-cs"/>
                </a:rPr>
                <a:t>YOLO26n −1,95 pp</a:t>
              </a:r>
            </a:p>
          </p:txBody>
        </p:sp>
        <p:sp>
          <p:nvSpPr>
            <p:cNvPr id="46" name="TextBox 46"/>
            <p:cNvSpPr txBox="1"/>
            <p:nvPr/>
          </p:nvSpPr>
          <p:spPr>
            <a:xfrm>
              <a:off x="8775192" y="4467225"/>
              <a:ext cx="2414349" cy="568833"/>
            </a:xfrm>
            <a:prstGeom prst="rect">
              <a:avLst/>
            </a:prstGeom>
            <a:noFill/>
            <a:ln>
              <a:noFill/>
            </a:ln>
          </p:spPr>
          <p:txBody>
            <a:bodyPr wrap="none" lIns="0" tIns="0" rIns="0" bIns="0" anchor="t" anchorCtr="0">
              <a:spAutoFit/>
            </a:bodyPr>
            <a:lstStyle/>
            <a:p>
              <a:pPr algn="l">
                <a:lnSpc>
                  <a:spcPts val="2400"/>
                </a:lnSpc>
              </a:pPr>
              <a:r>
                <a:rPr lang="vi-VN" sz="1350" dirty="0">
                  <a:solidFill>
                    <a:schemeClr val="accent5"/>
                  </a:solidFill>
                  <a:latin typeface="+mn-lt"/>
                  <a:ea typeface="+mn-ea"/>
                  <a:cs typeface="+mn-cs"/>
                </a:rPr>
                <a:t>Hỗ trợ thưa: 17 hộp / 9 ảnh.</a:t>
              </a:r>
              <a:br>
                <a:rPr lang="vi-VN" sz="1350" dirty="0">
                  <a:solidFill>
                    <a:schemeClr val="accent5"/>
                  </a:solidFill>
                  <a:latin typeface="+mn-lt"/>
                  <a:ea typeface="+mn-ea"/>
                  <a:cs typeface="+mn-cs"/>
                </a:rPr>
              </a:br>
              <a:r>
                <a:rPr lang="vi-VN" sz="1350" dirty="0">
                  <a:solidFill>
                    <a:schemeClr val="accent5"/>
                  </a:solidFill>
                  <a:latin typeface="+mn-lt"/>
                  <a:ea typeface="+mn-ea"/>
                  <a:cs typeface="+mn-cs"/>
                </a:rPr>
                <a:t>Giữ nguyên kết quả này.</a:t>
              </a:r>
            </a:p>
          </p:txBody>
        </p:sp>
      </p:grpSp>
      <p:grpSp>
        <p:nvGrpSpPr>
          <p:cNvPr id="54" name="model-legend"/>
          <p:cNvGrpSpPr/>
          <p:nvPr/>
        </p:nvGrpSpPr>
        <p:grpSpPr>
          <a:xfrm>
            <a:off x="952500" y="5864225"/>
            <a:ext cx="5766615" cy="264033"/>
            <a:chOff x="952500" y="5864225"/>
            <a:chExt cx="5766615" cy="264033"/>
          </a:xfrm>
        </p:grpSpPr>
        <p:sp>
          <p:nvSpPr>
            <p:cNvPr id="48" name="Rectangle 48"/>
            <p:cNvSpPr/>
            <p:nvPr/>
          </p:nvSpPr>
          <p:spPr>
            <a:xfrm>
              <a:off x="952500" y="5895975"/>
              <a:ext cx="142875" cy="142875"/>
            </a:xfrm>
            <a:prstGeom prst="rect">
              <a:avLst/>
            </a:prstGeom>
            <a:solidFill>
              <a:srgbClr val="176B87"/>
            </a:solidFill>
            <a:ln>
              <a:noFill/>
            </a:ln>
          </p:spPr>
        </p:sp>
        <p:sp>
          <p:nvSpPr>
            <p:cNvPr id="49" name="TextBox 49"/>
            <p:cNvSpPr txBox="1"/>
            <p:nvPr/>
          </p:nvSpPr>
          <p:spPr>
            <a:xfrm>
              <a:off x="1193292" y="5864225"/>
              <a:ext cx="85857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YOLO11n</a:t>
              </a:r>
            </a:p>
          </p:txBody>
        </p:sp>
        <p:sp>
          <p:nvSpPr>
            <p:cNvPr id="50" name="Rectangle 50"/>
            <p:cNvSpPr/>
            <p:nvPr/>
          </p:nvSpPr>
          <p:spPr>
            <a:xfrm>
              <a:off x="3286125" y="5895975"/>
              <a:ext cx="142875" cy="142875"/>
            </a:xfrm>
            <a:prstGeom prst="rect">
              <a:avLst/>
            </a:prstGeom>
            <a:solidFill>
              <a:srgbClr val="61899C"/>
            </a:solidFill>
            <a:ln>
              <a:noFill/>
            </a:ln>
          </p:spPr>
        </p:sp>
        <p:sp>
          <p:nvSpPr>
            <p:cNvPr id="51" name="TextBox 51"/>
            <p:cNvSpPr txBox="1"/>
            <p:nvPr/>
          </p:nvSpPr>
          <p:spPr>
            <a:xfrm>
              <a:off x="3526917" y="5864225"/>
              <a:ext cx="84187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YOLOv8n</a:t>
              </a:r>
            </a:p>
          </p:txBody>
        </p:sp>
        <p:sp>
          <p:nvSpPr>
            <p:cNvPr id="52" name="Rectangle 52"/>
            <p:cNvSpPr/>
            <p:nvPr/>
          </p:nvSpPr>
          <p:spPr>
            <a:xfrm>
              <a:off x="5619750" y="5895975"/>
              <a:ext cx="142875" cy="142875"/>
            </a:xfrm>
            <a:prstGeom prst="rect">
              <a:avLst/>
            </a:prstGeom>
            <a:solidFill>
              <a:schemeClr val="accent3"/>
            </a:solidFill>
            <a:ln>
              <a:noFill/>
            </a:ln>
          </p:spPr>
        </p:sp>
        <p:sp>
          <p:nvSpPr>
            <p:cNvPr id="53" name="TextBox 53"/>
            <p:cNvSpPr txBox="1"/>
            <p:nvPr/>
          </p:nvSpPr>
          <p:spPr>
            <a:xfrm>
              <a:off x="5860542" y="5864225"/>
              <a:ext cx="85857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YOLO26n</a:t>
              </a:r>
            </a:p>
          </p:txBody>
        </p:sp>
      </p:grpSp>
      <p:grpSp>
        <p:nvGrpSpPr>
          <p:cNvPr id="56" name="takeaway"/>
          <p:cNvGrpSpPr/>
          <p:nvPr/>
        </p:nvGrpSpPr>
        <p:grpSpPr>
          <a:xfrm>
            <a:off x="525018" y="6111875"/>
            <a:ext cx="10288626" cy="322707"/>
            <a:chOff x="525018" y="6111875"/>
            <a:chExt cx="10288626" cy="322707"/>
          </a:xfrm>
        </p:grpSpPr>
        <p:sp>
          <p:nvSpPr>
            <p:cNvPr id="55" name="TextBox 55"/>
            <p:cNvSpPr txBox="1"/>
            <p:nvPr/>
          </p:nvSpPr>
          <p:spPr>
            <a:xfrm>
              <a:off x="525018" y="6111875"/>
              <a:ext cx="10288626"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D20 trên MotorBike: giảm AP tương đối 96,14–98,30% so với baseline huấn luyện trên MotorBike.</a:t>
              </a:r>
            </a:p>
          </p:txBody>
        </p:sp>
      </p:grpSp>
      <p:grpSp>
        <p:nvGrpSpPr>
          <p:cNvPr id="59" name="source"/>
          <p:cNvGrpSpPr/>
          <p:nvPr/>
        </p:nvGrpSpPr>
        <p:grpSpPr>
          <a:xfrm>
            <a:off x="528638" y="6467475"/>
            <a:ext cx="11129962" cy="261937"/>
            <a:chOff x="528638" y="6467475"/>
            <a:chExt cx="11129962" cy="261937"/>
          </a:xfrm>
        </p:grpSpPr>
        <p:sp>
          <p:nvSpPr>
            <p:cNvPr id="57" name="Line 57"/>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58" name="TextBox 58"/>
            <p:cNvSpPr txBox="1"/>
            <p:nvPr/>
          </p:nvSpPr>
          <p:spPr>
            <a:xfrm>
              <a:off x="528638" y="6553200"/>
              <a:ext cx="4979805"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Bảng VII / Hình 3; AP@50:95 mean qua 3 seed · Gap tính trên cùng tập đích</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076804"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06 · KẾT QUẢ THỰC NGHIỆM</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16</a:t>
              </a:r>
            </a:p>
          </p:txBody>
        </p:sp>
        <p:sp>
          <p:nvSpPr>
            <p:cNvPr id="4" name="TextBox 4"/>
            <p:cNvSpPr txBox="1"/>
            <p:nvPr/>
          </p:nvSpPr>
          <p:spPr>
            <a:xfrm>
              <a:off x="518160" y="593725"/>
              <a:ext cx="9322859"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Lọc ảnh có nhãn ngoài phạm vi vẫn giữ chiều gap</a:t>
              </a:r>
            </a:p>
          </p:txBody>
        </p:sp>
      </p:grpSp>
      <p:grpSp>
        <p:nvGrpSpPr>
          <p:cNvPr id="32" name="data-table"/>
          <p:cNvGrpSpPr/>
          <p:nvPr/>
        </p:nvGrpSpPr>
        <p:grpSpPr>
          <a:xfrm>
            <a:off x="533400" y="2009775"/>
            <a:ext cx="11125200" cy="2667000"/>
            <a:chOff x="533400" y="2009775"/>
            <a:chExt cx="11125200" cy="2667000"/>
          </a:xfrm>
        </p:grpSpPr>
        <p:sp>
          <p:nvSpPr>
            <p:cNvPr id="6" name="Rectangle 6"/>
            <p:cNvSpPr/>
            <p:nvPr/>
          </p:nvSpPr>
          <p:spPr>
            <a:xfrm>
              <a:off x="533400" y="2009775"/>
              <a:ext cx="11125200" cy="666750"/>
            </a:xfrm>
            <a:prstGeom prst="rect">
              <a:avLst/>
            </a:prstGeom>
            <a:solidFill>
              <a:schemeClr val="lt2"/>
            </a:solidFill>
            <a:ln>
              <a:noFill/>
            </a:ln>
          </p:spPr>
        </p:sp>
        <p:sp>
          <p:nvSpPr>
            <p:cNvPr id="7" name="Rectangle 7"/>
            <p:cNvSpPr/>
            <p:nvPr/>
          </p:nvSpPr>
          <p:spPr>
            <a:xfrm>
              <a:off x="533400" y="4010025"/>
              <a:ext cx="11125200" cy="666750"/>
            </a:xfrm>
            <a:prstGeom prst="rect">
              <a:avLst/>
            </a:prstGeom>
            <a:solidFill>
              <a:schemeClr val="lt2"/>
            </a:solidFill>
            <a:ln>
              <a:noFill/>
            </a:ln>
          </p:spPr>
        </p:sp>
        <p:grpSp>
          <p:nvGrpSpPr>
            <p:cNvPr id="13" name="sensitivity-header"/>
            <p:cNvGrpSpPr/>
            <p:nvPr/>
          </p:nvGrpSpPr>
          <p:grpSpPr>
            <a:xfrm>
              <a:off x="677418" y="2225675"/>
              <a:ext cx="10837164" cy="322707"/>
              <a:chOff x="677418" y="2225675"/>
              <a:chExt cx="10837164" cy="322707"/>
            </a:xfrm>
          </p:grpSpPr>
          <p:sp>
            <p:nvSpPr>
              <p:cNvPr id="8" name="TextBox 8"/>
              <p:cNvSpPr txBox="1"/>
              <p:nvPr/>
            </p:nvSpPr>
            <p:spPr>
              <a:xfrm>
                <a:off x="677418" y="2225675"/>
                <a:ext cx="665652" cy="322707"/>
              </a:xfrm>
              <a:prstGeom prst="rect">
                <a:avLst/>
              </a:prstGeom>
              <a:noFill/>
              <a:ln>
                <a:noFill/>
              </a:ln>
            </p:spPr>
            <p:txBody>
              <a:bodyPr wrap="none" lIns="0" tIns="0" rIns="0" bIns="0" anchor="t" anchorCtr="0">
                <a:spAutoFit/>
              </a:bodyPr>
              <a:lstStyle/>
              <a:p>
                <a:pPr algn="l"/>
                <a:r>
                  <a:rPr lang="vi-VN" sz="1650" b="1" dirty="0">
                    <a:solidFill>
                      <a:schemeClr val="dk1"/>
                    </a:solidFill>
                    <a:latin typeface="+mn-lt"/>
                    <a:ea typeface="+mn-ea"/>
                    <a:cs typeface="+mn-cs"/>
                  </a:rPr>
                  <a:t>Model</a:t>
                </a:r>
              </a:p>
            </p:txBody>
          </p:sp>
          <p:sp>
            <p:nvSpPr>
              <p:cNvPr id="9" name="TextBox 9"/>
              <p:cNvSpPr txBox="1"/>
              <p:nvPr/>
            </p:nvSpPr>
            <p:spPr>
              <a:xfrm>
                <a:off x="3446152" y="2225675"/>
                <a:ext cx="1134230"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Drone: full</a:t>
                </a:r>
              </a:p>
            </p:txBody>
          </p:sp>
          <p:sp>
            <p:nvSpPr>
              <p:cNvPr id="10" name="TextBox 10"/>
              <p:cNvSpPr txBox="1"/>
              <p:nvPr/>
            </p:nvSpPr>
            <p:spPr>
              <a:xfrm>
                <a:off x="5401309" y="2225675"/>
                <a:ext cx="1369823"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Drone: clean</a:t>
                </a:r>
              </a:p>
            </p:txBody>
          </p:sp>
          <p:sp>
            <p:nvSpPr>
              <p:cNvPr id="11" name="TextBox 11"/>
              <p:cNvSpPr txBox="1"/>
              <p:nvPr/>
            </p:nvSpPr>
            <p:spPr>
              <a:xfrm>
                <a:off x="7519726" y="2225675"/>
                <a:ext cx="1585031"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MotorBike: full</a:t>
                </a:r>
              </a:p>
            </p:txBody>
          </p:sp>
          <p:sp>
            <p:nvSpPr>
              <p:cNvPr id="12" name="TextBox 12"/>
              <p:cNvSpPr txBox="1"/>
              <p:nvPr/>
            </p:nvSpPr>
            <p:spPr>
              <a:xfrm>
                <a:off x="9693657" y="2225675"/>
                <a:ext cx="1820925"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MotorBike: clean</a:t>
                </a:r>
              </a:p>
            </p:txBody>
          </p:sp>
        </p:grpSp>
        <p:grpSp>
          <p:nvGrpSpPr>
            <p:cNvPr id="19" name="sensitivity11"/>
            <p:cNvGrpSpPr/>
            <p:nvPr/>
          </p:nvGrpSpPr>
          <p:grpSpPr>
            <a:xfrm>
              <a:off x="677418" y="2892425"/>
              <a:ext cx="10837164" cy="322707"/>
              <a:chOff x="677418" y="2892425"/>
              <a:chExt cx="10837164" cy="322707"/>
            </a:xfrm>
          </p:grpSpPr>
          <p:sp>
            <p:nvSpPr>
              <p:cNvPr id="14" name="TextBox 14"/>
              <p:cNvSpPr txBox="1"/>
              <p:nvPr/>
            </p:nvSpPr>
            <p:spPr>
              <a:xfrm>
                <a:off x="677418" y="2892425"/>
                <a:ext cx="104936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YOLO11n</a:t>
                </a:r>
              </a:p>
            </p:txBody>
          </p:sp>
          <p:sp>
            <p:nvSpPr>
              <p:cNvPr id="15" name="TextBox 15"/>
              <p:cNvSpPr txBox="1"/>
              <p:nvPr/>
            </p:nvSpPr>
            <p:spPr>
              <a:xfrm>
                <a:off x="4007733" y="289242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15.13</a:t>
                </a:r>
              </a:p>
            </p:txBody>
          </p:sp>
          <p:sp>
            <p:nvSpPr>
              <p:cNvPr id="16" name="TextBox 16"/>
              <p:cNvSpPr txBox="1"/>
              <p:nvPr/>
            </p:nvSpPr>
            <p:spPr>
              <a:xfrm>
                <a:off x="6198483" y="289242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14.93</a:t>
                </a:r>
              </a:p>
            </p:txBody>
          </p:sp>
          <p:sp>
            <p:nvSpPr>
              <p:cNvPr id="17" name="TextBox 17"/>
              <p:cNvSpPr txBox="1"/>
              <p:nvPr/>
            </p:nvSpPr>
            <p:spPr>
              <a:xfrm>
                <a:off x="8532108" y="289242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42.94</a:t>
                </a:r>
              </a:p>
            </p:txBody>
          </p:sp>
          <p:sp>
            <p:nvSpPr>
              <p:cNvPr id="18" name="TextBox 18"/>
              <p:cNvSpPr txBox="1"/>
              <p:nvPr/>
            </p:nvSpPr>
            <p:spPr>
              <a:xfrm>
                <a:off x="10941933" y="289242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43.86</a:t>
                </a:r>
              </a:p>
            </p:txBody>
          </p:sp>
        </p:grpSp>
        <p:grpSp>
          <p:nvGrpSpPr>
            <p:cNvPr id="25" name="sensitivity8"/>
            <p:cNvGrpSpPr/>
            <p:nvPr/>
          </p:nvGrpSpPr>
          <p:grpSpPr>
            <a:xfrm>
              <a:off x="677418" y="3559175"/>
              <a:ext cx="10837164" cy="322707"/>
              <a:chOff x="677418" y="3559175"/>
              <a:chExt cx="10837164" cy="322707"/>
            </a:xfrm>
          </p:grpSpPr>
          <p:sp>
            <p:nvSpPr>
              <p:cNvPr id="20" name="TextBox 20"/>
              <p:cNvSpPr txBox="1"/>
              <p:nvPr/>
            </p:nvSpPr>
            <p:spPr>
              <a:xfrm>
                <a:off x="677418" y="3559175"/>
                <a:ext cx="10289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YOLOv8n</a:t>
                </a:r>
              </a:p>
            </p:txBody>
          </p:sp>
          <p:sp>
            <p:nvSpPr>
              <p:cNvPr id="21" name="TextBox 21"/>
              <p:cNvSpPr txBox="1"/>
              <p:nvPr/>
            </p:nvSpPr>
            <p:spPr>
              <a:xfrm>
                <a:off x="4007733" y="355917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14.86</a:t>
                </a:r>
              </a:p>
            </p:txBody>
          </p:sp>
          <p:sp>
            <p:nvSpPr>
              <p:cNvPr id="22" name="TextBox 22"/>
              <p:cNvSpPr txBox="1"/>
              <p:nvPr/>
            </p:nvSpPr>
            <p:spPr>
              <a:xfrm>
                <a:off x="6198483" y="355917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15.25</a:t>
                </a:r>
              </a:p>
            </p:txBody>
          </p:sp>
          <p:sp>
            <p:nvSpPr>
              <p:cNvPr id="23" name="TextBox 23"/>
              <p:cNvSpPr txBox="1"/>
              <p:nvPr/>
            </p:nvSpPr>
            <p:spPr>
              <a:xfrm>
                <a:off x="8532108" y="355917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41.24</a:t>
                </a:r>
              </a:p>
            </p:txBody>
          </p:sp>
          <p:sp>
            <p:nvSpPr>
              <p:cNvPr id="24" name="TextBox 24"/>
              <p:cNvSpPr txBox="1"/>
              <p:nvPr/>
            </p:nvSpPr>
            <p:spPr>
              <a:xfrm>
                <a:off x="10941933" y="3559175"/>
                <a:ext cx="572649" cy="322707"/>
              </a:xfrm>
              <a:prstGeom prst="rect">
                <a:avLst/>
              </a:prstGeom>
              <a:noFill/>
              <a:ln>
                <a:noFill/>
              </a:ln>
            </p:spPr>
            <p:txBody>
              <a:bodyPr wrap="none" lIns="0" tIns="0" rIns="0" bIns="0" anchor="t" anchorCtr="0">
                <a:spAutoFit/>
              </a:bodyPr>
              <a:lstStyle/>
              <a:p>
                <a:pPr algn="r"/>
                <a:r>
                  <a:rPr lang="vi-VN" sz="1650" dirty="0">
                    <a:solidFill>
                      <a:schemeClr val="dk1"/>
                    </a:solidFill>
                    <a:latin typeface="+mn-lt"/>
                    <a:ea typeface="+mn-ea"/>
                    <a:cs typeface="+mn-cs"/>
                  </a:rPr>
                  <a:t>41.87</a:t>
                </a:r>
              </a:p>
            </p:txBody>
          </p:sp>
        </p:grpSp>
        <p:grpSp>
          <p:nvGrpSpPr>
            <p:cNvPr id="31" name="sensitivity26"/>
            <p:cNvGrpSpPr/>
            <p:nvPr/>
          </p:nvGrpSpPr>
          <p:grpSpPr>
            <a:xfrm>
              <a:off x="677418" y="4225925"/>
              <a:ext cx="10837164" cy="322707"/>
              <a:chOff x="677418" y="4225925"/>
              <a:chExt cx="10837164" cy="322707"/>
            </a:xfrm>
          </p:grpSpPr>
          <p:sp>
            <p:nvSpPr>
              <p:cNvPr id="26" name="TextBox 26"/>
              <p:cNvSpPr txBox="1"/>
              <p:nvPr/>
            </p:nvSpPr>
            <p:spPr>
              <a:xfrm>
                <a:off x="677418" y="4225925"/>
                <a:ext cx="1074722" cy="322707"/>
              </a:xfrm>
              <a:prstGeom prst="rect">
                <a:avLst/>
              </a:prstGeom>
              <a:noFill/>
              <a:ln>
                <a:noFill/>
              </a:ln>
            </p:spPr>
            <p:txBody>
              <a:bodyPr wrap="none" lIns="0" tIns="0" rIns="0" bIns="0" anchor="t" anchorCtr="0">
                <a:spAutoFit/>
              </a:bodyPr>
              <a:lstStyle/>
              <a:p>
                <a:pPr algn="l"/>
                <a:r>
                  <a:rPr lang="vi-VN" sz="1650" b="1" dirty="0">
                    <a:solidFill>
                      <a:schemeClr val="accent3"/>
                    </a:solidFill>
                    <a:latin typeface="+mn-lt"/>
                    <a:ea typeface="+mn-ea"/>
                    <a:cs typeface="+mn-cs"/>
                  </a:rPr>
                  <a:t>YOLO26n</a:t>
                </a:r>
              </a:p>
            </p:txBody>
          </p:sp>
          <p:sp>
            <p:nvSpPr>
              <p:cNvPr id="27" name="TextBox 27"/>
              <p:cNvSpPr txBox="1"/>
              <p:nvPr/>
            </p:nvSpPr>
            <p:spPr>
              <a:xfrm>
                <a:off x="4007733" y="4225925"/>
                <a:ext cx="572649"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16.91</a:t>
                </a:r>
              </a:p>
            </p:txBody>
          </p:sp>
          <p:sp>
            <p:nvSpPr>
              <p:cNvPr id="28" name="TextBox 28"/>
              <p:cNvSpPr txBox="1"/>
              <p:nvPr/>
            </p:nvSpPr>
            <p:spPr>
              <a:xfrm>
                <a:off x="6198483" y="4225925"/>
                <a:ext cx="572649"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16.59</a:t>
                </a:r>
              </a:p>
            </p:txBody>
          </p:sp>
          <p:sp>
            <p:nvSpPr>
              <p:cNvPr id="29" name="TextBox 29"/>
              <p:cNvSpPr txBox="1"/>
              <p:nvPr/>
            </p:nvSpPr>
            <p:spPr>
              <a:xfrm>
                <a:off x="8532108" y="4225925"/>
                <a:ext cx="572649"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42.27</a:t>
                </a:r>
              </a:p>
            </p:txBody>
          </p:sp>
          <p:sp>
            <p:nvSpPr>
              <p:cNvPr id="30" name="TextBox 30"/>
              <p:cNvSpPr txBox="1"/>
              <p:nvPr/>
            </p:nvSpPr>
            <p:spPr>
              <a:xfrm>
                <a:off x="10941933" y="4225925"/>
                <a:ext cx="572649" cy="322707"/>
              </a:xfrm>
              <a:prstGeom prst="rect">
                <a:avLst/>
              </a:prstGeom>
              <a:noFill/>
              <a:ln>
                <a:noFill/>
              </a:ln>
            </p:spPr>
            <p:txBody>
              <a:bodyPr wrap="none" lIns="0" tIns="0" rIns="0" bIns="0" anchor="t" anchorCtr="0">
                <a:spAutoFit/>
              </a:bodyPr>
              <a:lstStyle/>
              <a:p>
                <a:pPr algn="r"/>
                <a:r>
                  <a:rPr lang="vi-VN" sz="1650" b="1" dirty="0">
                    <a:solidFill>
                      <a:schemeClr val="dk1"/>
                    </a:solidFill>
                    <a:latin typeface="+mn-lt"/>
                    <a:ea typeface="+mn-ea"/>
                    <a:cs typeface="+mn-cs"/>
                  </a:rPr>
                  <a:t>42.60</a:t>
                </a:r>
              </a:p>
            </p:txBody>
          </p:sp>
        </p:grpSp>
      </p:grpSp>
      <p:grpSp>
        <p:nvGrpSpPr>
          <p:cNvPr id="34" name="sensitivity-result"/>
          <p:cNvGrpSpPr/>
          <p:nvPr/>
        </p:nvGrpSpPr>
        <p:grpSpPr>
          <a:xfrm>
            <a:off x="522732" y="5127625"/>
            <a:ext cx="9167578" cy="410718"/>
            <a:chOff x="522732" y="5127625"/>
            <a:chExt cx="9167578" cy="410718"/>
          </a:xfrm>
        </p:grpSpPr>
        <p:sp>
          <p:nvSpPr>
            <p:cNvPr id="33" name="TextBox 33"/>
            <p:cNvSpPr txBox="1"/>
            <p:nvPr/>
          </p:nvSpPr>
          <p:spPr>
            <a:xfrm>
              <a:off x="522732" y="5127625"/>
              <a:ext cx="9167578"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Cả 18 so sánh clean-only vẫn dương; bảng ghi mean gap (pp), n = 3.</a:t>
              </a:r>
            </a:p>
          </p:txBody>
        </p:sp>
      </p:grpSp>
      <p:grpSp>
        <p:nvGrpSpPr>
          <p:cNvPr id="36" name="population-caution"/>
          <p:cNvGrpSpPr/>
          <p:nvPr/>
        </p:nvGrpSpPr>
        <p:grpSpPr>
          <a:xfrm>
            <a:off x="525018" y="5775325"/>
            <a:ext cx="8028324" cy="608457"/>
            <a:chOff x="525018" y="5775325"/>
            <a:chExt cx="8028324" cy="608457"/>
          </a:xfrm>
        </p:grpSpPr>
        <p:sp>
          <p:nvSpPr>
            <p:cNvPr id="35" name="TextBox 35"/>
            <p:cNvSpPr txBox="1"/>
            <p:nvPr/>
          </p:nvSpPr>
          <p:spPr>
            <a:xfrm>
              <a:off x="525018" y="5775325"/>
              <a:ext cx="802832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Clean-only thay đổi thành phần ảnh test; chưa thể quy phần thay đổi metric</a:t>
              </a:r>
              <a:br>
                <a:rPr lang="vi-VN" sz="1650" dirty="0">
                  <a:solidFill>
                    <a:schemeClr val="dk1"/>
                  </a:solidFill>
                  <a:latin typeface="+mn-lt"/>
                  <a:ea typeface="+mn-ea"/>
                  <a:cs typeface="+mn-cs"/>
                </a:rPr>
              </a:br>
              <a:r>
                <a:rPr lang="vi-VN" sz="1650" dirty="0">
                  <a:solidFill>
                    <a:schemeClr val="dk1"/>
                  </a:solidFill>
                  <a:latin typeface="+mn-lt"/>
                  <a:ea typeface="+mn-ea"/>
                  <a:cs typeface="+mn-cs"/>
                </a:rPr>
                <a:t>chỉ cho tác động của nhãn bị lọc.</a:t>
              </a:r>
            </a:p>
          </p:txBody>
        </p:sp>
      </p:grpSp>
      <p:grpSp>
        <p:nvGrpSpPr>
          <p:cNvPr id="39" name="source"/>
          <p:cNvGrpSpPr/>
          <p:nvPr/>
        </p:nvGrpSpPr>
        <p:grpSpPr>
          <a:xfrm>
            <a:off x="528638" y="6467475"/>
            <a:ext cx="11129962" cy="261937"/>
            <a:chOff x="528638" y="6467475"/>
            <a:chExt cx="11129962" cy="261937"/>
          </a:xfrm>
        </p:grpSpPr>
        <p:sp>
          <p:nvSpPr>
            <p:cNvPr id="37" name="Line 37"/>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38" name="TextBox 38"/>
            <p:cNvSpPr txBox="1"/>
            <p:nvPr/>
          </p:nvSpPr>
          <p:spPr>
            <a:xfrm>
              <a:off x="528638" y="6553200"/>
              <a:ext cx="5221960"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phần IV; data/gap_summary.csv · Clean-only: Drone 273 ảnh, MotorBike 271 ảnh</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076804"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06 · KẾT QUẢ THỰC NGHIỆM</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17</a:t>
              </a:r>
            </a:p>
          </p:txBody>
        </p:sp>
        <p:sp>
          <p:nvSpPr>
            <p:cNvPr id="4" name="TextBox 4"/>
            <p:cNvSpPr txBox="1"/>
            <p:nvPr/>
          </p:nvSpPr>
          <p:spPr>
            <a:xfrm>
              <a:off x="518160" y="593725"/>
              <a:ext cx="10247453"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Ảnh lưu trữ minh họa nhãn thật và dự đoán validation</a:t>
              </a:r>
            </a:p>
          </p:txBody>
        </p:sp>
      </p:grpSp>
      <p:grpSp>
        <p:nvGrpSpPr>
          <p:cNvPr id="8" name="ground-truth"/>
          <p:cNvGrpSpPr/>
          <p:nvPr/>
        </p:nvGrpSpPr>
        <p:grpSpPr>
          <a:xfrm>
            <a:off x="522732" y="1622425"/>
            <a:ext cx="3725418" cy="4083050"/>
            <a:chOff x="522732" y="1622425"/>
            <a:chExt cx="3725418" cy="4083050"/>
          </a:xfrm>
        </p:grpSpPr>
        <p:sp>
          <p:nvSpPr>
            <p:cNvPr id="6" name="TextBox 6"/>
            <p:cNvSpPr txBox="1"/>
            <p:nvPr/>
          </p:nvSpPr>
          <p:spPr>
            <a:xfrm>
              <a:off x="522732" y="1622425"/>
              <a:ext cx="2017524"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Nhãn thật (GT)</a:t>
              </a:r>
            </a:p>
          </p:txBody>
        </p:sp>
        <p:pic>
          <p:nvPicPr>
            <p:cNvPr id="7" name="Image 7"/>
            <p:cNvPicPr>
              <a:picLocks noChangeAspect="1"/>
            </p:cNvPicPr>
            <p:nvPr/>
          </p:nvPicPr>
          <p:blipFill>
            <a:blip r:embed="rId2"/>
            <a:stretch>
              <a:fillRect/>
            </a:stretch>
          </p:blipFill>
          <p:spPr>
            <a:xfrm>
              <a:off x="533400" y="2143125"/>
              <a:ext cx="3714750" cy="3562350"/>
            </a:xfrm>
            <a:prstGeom prst="rect">
              <a:avLst/>
            </a:prstGeom>
          </p:spPr>
        </p:pic>
      </p:grpSp>
      <p:grpSp>
        <p:nvGrpSpPr>
          <p:cNvPr id="11" name="prediction"/>
          <p:cNvGrpSpPr/>
          <p:nvPr/>
        </p:nvGrpSpPr>
        <p:grpSpPr>
          <a:xfrm>
            <a:off x="4561332" y="1622425"/>
            <a:ext cx="3725418" cy="4083050"/>
            <a:chOff x="4561332" y="1622425"/>
            <a:chExt cx="3725418" cy="4083050"/>
          </a:xfrm>
        </p:grpSpPr>
        <p:sp>
          <p:nvSpPr>
            <p:cNvPr id="9" name="TextBox 9"/>
            <p:cNvSpPr txBox="1"/>
            <p:nvPr/>
          </p:nvSpPr>
          <p:spPr>
            <a:xfrm>
              <a:off x="4561332" y="1622425"/>
              <a:ext cx="2418582"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Dự đoán được lưu</a:t>
              </a:r>
            </a:p>
          </p:txBody>
        </p:sp>
        <p:pic>
          <p:nvPicPr>
            <p:cNvPr id="10" name="Image 10"/>
            <p:cNvPicPr>
              <a:picLocks noChangeAspect="1"/>
            </p:cNvPicPr>
            <p:nvPr/>
          </p:nvPicPr>
          <p:blipFill>
            <a:blip r:embed="rId3"/>
            <a:stretch>
              <a:fillRect/>
            </a:stretch>
          </p:blipFill>
          <p:spPr>
            <a:xfrm>
              <a:off x="4572000" y="2143125"/>
              <a:ext cx="3714750" cy="3562350"/>
            </a:xfrm>
            <a:prstGeom prst="rect">
              <a:avLst/>
            </a:prstGeom>
          </p:spPr>
        </p:pic>
      </p:grpSp>
      <p:grpSp>
        <p:nvGrpSpPr>
          <p:cNvPr id="16" name="comparison-context"/>
          <p:cNvGrpSpPr/>
          <p:nvPr/>
        </p:nvGrpSpPr>
        <p:grpSpPr>
          <a:xfrm>
            <a:off x="8820150" y="2266950"/>
            <a:ext cx="2411767" cy="3048000"/>
            <a:chOff x="8820150" y="2266950"/>
            <a:chExt cx="2411767" cy="3048000"/>
          </a:xfrm>
        </p:grpSpPr>
        <p:sp>
          <p:nvSpPr>
            <p:cNvPr id="12" name="Line 12"/>
            <p:cNvSpPr/>
            <p:nvPr/>
          </p:nvSpPr>
          <p:spPr>
            <a:xfrm>
              <a:off x="8820150" y="2266950"/>
              <a:ext cx="9525" cy="3048000"/>
            </a:xfrm>
            <a:custGeom>
              <a:avLst/>
              <a:gdLst/>
              <a:ahLst/>
              <a:cxnLst/>
              <a:rect l="l" t="t" r="r" b="b"/>
              <a:pathLst>
                <a:path w="9525" h="3048000">
                  <a:moveTo>
                    <a:pt x="0" y="0"/>
                  </a:moveTo>
                  <a:lnTo>
                    <a:pt x="0" y="3048000"/>
                  </a:lnTo>
                </a:path>
              </a:pathLst>
            </a:custGeom>
            <a:noFill/>
            <a:ln w="19050">
              <a:solidFill>
                <a:schemeClr val="accent6"/>
              </a:solidFill>
            </a:ln>
          </p:spPr>
        </p:sp>
        <p:sp>
          <p:nvSpPr>
            <p:cNvPr id="13" name="TextBox 13"/>
            <p:cNvSpPr txBox="1"/>
            <p:nvPr/>
          </p:nvSpPr>
          <p:spPr>
            <a:xfrm>
              <a:off x="9076182" y="2508250"/>
              <a:ext cx="1932131"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Cùng một ảnh</a:t>
              </a:r>
            </a:p>
          </p:txBody>
        </p:sp>
        <p:sp>
          <p:nvSpPr>
            <p:cNvPr id="14" name="TextBox 14"/>
            <p:cNvSpPr txBox="1"/>
            <p:nvPr/>
          </p:nvSpPr>
          <p:spPr>
            <a:xfrm>
              <a:off x="9076689" y="3216275"/>
              <a:ext cx="2155228" cy="391209"/>
            </a:xfrm>
            <a:prstGeom prst="rect">
              <a:avLst/>
            </a:prstGeom>
            <a:noFill/>
            <a:ln>
              <a:noFill/>
            </a:ln>
          </p:spPr>
          <p:txBody>
            <a:bodyPr wrap="none" lIns="0" tIns="0" rIns="0" bIns="0" anchor="t" anchorCtr="0">
              <a:spAutoFit/>
            </a:bodyPr>
            <a:lstStyle/>
            <a:p>
              <a:pPr algn="l"/>
              <a:r>
                <a:rPr lang="vi-VN" sz="2000" dirty="0">
                  <a:solidFill>
                    <a:schemeClr val="dk1"/>
                  </a:solidFill>
                  <a:latin typeface="+mn-lt"/>
                  <a:ea typeface="+mn-ea"/>
                  <a:cs typeface="+mn-cs"/>
                </a:rPr>
                <a:t>Cùng miền nguồn</a:t>
              </a:r>
            </a:p>
          </p:txBody>
        </p:sp>
        <p:sp>
          <p:nvSpPr>
            <p:cNvPr id="15" name="TextBox 15"/>
            <p:cNvSpPr txBox="1"/>
            <p:nvPr/>
          </p:nvSpPr>
          <p:spPr>
            <a:xfrm>
              <a:off x="9076689" y="4054475"/>
              <a:ext cx="2018228" cy="753159"/>
            </a:xfrm>
            <a:prstGeom prst="rect">
              <a:avLst/>
            </a:prstGeom>
            <a:noFill/>
            <a:ln>
              <a:noFill/>
            </a:ln>
          </p:spPr>
          <p:txBody>
            <a:bodyPr wrap="none" lIns="0" tIns="0" rIns="0" bIns="0" anchor="t" anchorCtr="0">
              <a:spAutoFit/>
            </a:bodyPr>
            <a:lstStyle/>
            <a:p>
              <a:pPr algn="l">
                <a:lnSpc>
                  <a:spcPts val="2850"/>
                </a:lnSpc>
              </a:pPr>
              <a:r>
                <a:rPr lang="vi-VN" sz="2000" dirty="0">
                  <a:solidFill>
                    <a:schemeClr val="dk1"/>
                  </a:solidFill>
                  <a:latin typeface="+mn-lt"/>
                  <a:ea typeface="+mn-ea"/>
                  <a:cs typeface="+mn-cs"/>
                </a:rPr>
                <a:t>Khung và điểm</a:t>
              </a:r>
              <a:br>
                <a:rPr lang="vi-VN" sz="2000" dirty="0">
                  <a:solidFill>
                    <a:schemeClr val="dk1"/>
                  </a:solidFill>
                  <a:latin typeface="+mn-lt"/>
                  <a:ea typeface="+mn-ea"/>
                  <a:cs typeface="+mn-cs"/>
                </a:rPr>
              </a:br>
              <a:r>
                <a:rPr lang="vi-VN" sz="2000" dirty="0">
                  <a:solidFill>
                    <a:schemeClr val="dk1"/>
                  </a:solidFill>
                  <a:latin typeface="+mn-lt"/>
                  <a:ea typeface="+mn-ea"/>
                  <a:cs typeface="+mn-cs"/>
                </a:rPr>
                <a:t>giữ như bản lưu</a:t>
              </a:r>
            </a:p>
          </p:txBody>
        </p:sp>
      </p:grpSp>
      <p:grpSp>
        <p:nvGrpSpPr>
          <p:cNvPr id="18" name="takeaway"/>
          <p:cNvGrpSpPr/>
          <p:nvPr/>
        </p:nvGrpSpPr>
        <p:grpSpPr>
          <a:xfrm>
            <a:off x="525018" y="5997575"/>
            <a:ext cx="9509630" cy="322707"/>
            <a:chOff x="525018" y="5997575"/>
            <a:chExt cx="9509630" cy="322707"/>
          </a:xfrm>
        </p:grpSpPr>
        <p:sp>
          <p:nvSpPr>
            <p:cNvPr id="17" name="TextBox 17"/>
            <p:cNvSpPr txBox="1"/>
            <p:nvPr/>
          </p:nvSpPr>
          <p:spPr>
            <a:xfrm>
              <a:off x="525018" y="5997575"/>
              <a:ext cx="9509630"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Ví dụ minh họa validation; chưa thay thế kiểm tra FP/FN độc lập trên ảnh test xuyên miền.</a:t>
              </a:r>
            </a:p>
          </p:txBody>
        </p:sp>
      </p:grpSp>
      <p:grpSp>
        <p:nvGrpSpPr>
          <p:cNvPr id="21" name="source"/>
          <p:cNvGrpSpPr/>
          <p:nvPr/>
        </p:nvGrpSpPr>
        <p:grpSpPr>
          <a:xfrm>
            <a:off x="528638" y="6467475"/>
            <a:ext cx="11129962" cy="261937"/>
            <a:chOff x="528638" y="6467475"/>
            <a:chExt cx="11129962" cy="261937"/>
          </a:xfrm>
        </p:grpSpPr>
        <p:sp>
          <p:nvSpPr>
            <p:cNvPr id="19" name="Line 19"/>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20" name="TextBox 20"/>
            <p:cNvSpPr txBox="1"/>
            <p:nvPr/>
          </p:nvSpPr>
          <p:spPr>
            <a:xfrm>
              <a:off x="528638" y="6553200"/>
              <a:ext cx="5608763"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YOLO11n MotorBike seed 13 · run/val_batch0_{labels,pred}.jpg · China_MotorBike_001773.jpg</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1396365"/>
            <a:chOff x="518160" y="244475"/>
            <a:chExt cx="11147298" cy="1396365"/>
          </a:xfrm>
        </p:grpSpPr>
        <p:sp>
          <p:nvSpPr>
            <p:cNvPr id="2" name="TextBox 2"/>
            <p:cNvSpPr txBox="1"/>
            <p:nvPr/>
          </p:nvSpPr>
          <p:spPr>
            <a:xfrm>
              <a:off x="528066" y="282575"/>
              <a:ext cx="2342441"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07 · HẠN CHẾ CỦA NGHIÊN CỨU</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18</a:t>
              </a:r>
            </a:p>
          </p:txBody>
        </p:sp>
        <p:sp>
          <p:nvSpPr>
            <p:cNvPr id="4" name="TextBox 4"/>
            <p:cNvSpPr txBox="1"/>
            <p:nvPr/>
          </p:nvSpPr>
          <p:spPr>
            <a:xfrm>
              <a:off x="518160" y="606425"/>
              <a:ext cx="8462545" cy="1034415"/>
            </a:xfrm>
            <a:prstGeom prst="rect">
              <a:avLst/>
            </a:prstGeom>
            <a:noFill/>
            <a:ln>
              <a:noFill/>
            </a:ln>
          </p:spPr>
          <p:txBody>
            <a:bodyPr wrap="none" lIns="0" tIns="0" rIns="0" bIns="0" anchor="t" anchorCtr="0">
              <a:spAutoFit/>
            </a:bodyPr>
            <a:lstStyle/>
            <a:p>
              <a:pPr algn="l">
                <a:lnSpc>
                  <a:spcPts val="3525"/>
                </a:lnSpc>
              </a:pPr>
              <a:r>
                <a:rPr lang="vi-VN" sz="3000" dirty="0">
                  <a:solidFill>
                    <a:schemeClr val="dk1"/>
                  </a:solidFill>
                  <a:latin typeface="+mj-lt"/>
                  <a:ea typeface="+mj-ea"/>
                  <a:cs typeface="+mj-cs"/>
                </a:rPr>
                <a:t>Bằng chứng còn bị giới hạn bởi cảnh, nguồn</a:t>
              </a:r>
              <a:br>
                <a:rPr lang="vi-VN" sz="3000" dirty="0">
                  <a:solidFill>
                    <a:schemeClr val="dk1"/>
                  </a:solidFill>
                  <a:latin typeface="+mj-lt"/>
                  <a:ea typeface="+mj-ea"/>
                  <a:cs typeface="+mj-cs"/>
                </a:rPr>
              </a:br>
              <a:r>
                <a:rPr lang="vi-VN" sz="3000" dirty="0">
                  <a:solidFill>
                    <a:schemeClr val="dk1"/>
                  </a:solidFill>
                  <a:latin typeface="+mj-lt"/>
                  <a:ea typeface="+mj-ea"/>
                  <a:cs typeface="+mj-cs"/>
                </a:rPr>
                <a:t>và cách kiểm chứng</a:t>
              </a:r>
            </a:p>
          </p:txBody>
        </p:sp>
      </p:grpSp>
      <p:grpSp>
        <p:nvGrpSpPr>
          <p:cNvPr id="9" name="confounding"/>
          <p:cNvGrpSpPr/>
          <p:nvPr/>
        </p:nvGrpSpPr>
        <p:grpSpPr>
          <a:xfrm>
            <a:off x="522732" y="1990725"/>
            <a:ext cx="5230368" cy="1365934"/>
            <a:chOff x="522732" y="1990725"/>
            <a:chExt cx="5230368" cy="1365934"/>
          </a:xfrm>
        </p:grpSpPr>
        <p:sp>
          <p:nvSpPr>
            <p:cNvPr id="6" name="Line 6"/>
            <p:cNvSpPr/>
            <p:nvPr/>
          </p:nvSpPr>
          <p:spPr>
            <a:xfrm>
              <a:off x="533400" y="1990725"/>
              <a:ext cx="5219700" cy="9525"/>
            </a:xfrm>
            <a:custGeom>
              <a:avLst/>
              <a:gdLst/>
              <a:ahLst/>
              <a:cxnLst/>
              <a:rect l="l" t="t" r="r" b="b"/>
              <a:pathLst>
                <a:path w="5219700" h="9525">
                  <a:moveTo>
                    <a:pt x="0" y="0"/>
                  </a:moveTo>
                  <a:lnTo>
                    <a:pt x="5219700" y="0"/>
                  </a:lnTo>
                </a:path>
              </a:pathLst>
            </a:custGeom>
            <a:noFill/>
            <a:ln w="19050">
              <a:solidFill>
                <a:schemeClr val="accent2"/>
              </a:solidFill>
            </a:ln>
          </p:spPr>
        </p:sp>
        <p:sp>
          <p:nvSpPr>
            <p:cNvPr id="7" name="TextBox 7"/>
            <p:cNvSpPr txBox="1"/>
            <p:nvPr/>
          </p:nvSpPr>
          <p:spPr>
            <a:xfrm>
              <a:off x="522732" y="2127250"/>
              <a:ext cx="2811036"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Yếu tố cùng thay đổi</a:t>
              </a:r>
            </a:p>
          </p:txBody>
        </p:sp>
        <p:sp>
          <p:nvSpPr>
            <p:cNvPr id="8" name="TextBox 8"/>
            <p:cNvSpPr txBox="1"/>
            <p:nvPr/>
          </p:nvSpPr>
          <p:spPr>
            <a:xfrm>
              <a:off x="523239" y="2622550"/>
              <a:ext cx="5135636" cy="734109"/>
            </a:xfrm>
            <a:prstGeom prst="rect">
              <a:avLst/>
            </a:prstGeom>
            <a:noFill/>
            <a:ln>
              <a:noFill/>
            </a:ln>
          </p:spPr>
          <p:txBody>
            <a:bodyPr wrap="none" lIns="0" tIns="0" rIns="0" bIns="0" anchor="t" anchorCtr="0">
              <a:spAutoFit/>
            </a:bodyPr>
            <a:lstStyle/>
            <a:p>
              <a:pPr algn="l">
                <a:lnSpc>
                  <a:spcPts val="2700"/>
                </a:lnSpc>
              </a:pPr>
              <a:r>
                <a:rPr lang="vi-VN" sz="2000" dirty="0">
                  <a:solidFill>
                    <a:schemeClr val="dk1"/>
                  </a:solidFill>
                  <a:latin typeface="+mn-lt"/>
                  <a:ea typeface="+mn-ea"/>
                  <a:cs typeface="+mn-cs"/>
                </a:rPr>
                <a:t>Góc nhìn, cỡ tập train, cảnh và phân bố</a:t>
              </a:r>
              <a:br>
                <a:rPr lang="vi-VN" sz="2000" dirty="0">
                  <a:solidFill>
                    <a:schemeClr val="dk1"/>
                  </a:solidFill>
                  <a:latin typeface="+mn-lt"/>
                  <a:ea typeface="+mn-ea"/>
                  <a:cs typeface="+mn-cs"/>
                </a:rPr>
              </a:br>
              <a:r>
                <a:rPr lang="vi-VN" sz="2000" dirty="0">
                  <a:solidFill>
                    <a:schemeClr val="dk1"/>
                  </a:solidFill>
                  <a:latin typeface="+mn-lt"/>
                  <a:ea typeface="+mn-ea"/>
                  <a:cs typeface="+mn-cs"/>
                </a:rPr>
                <a:t>lớp chưa được tách riêng.</a:t>
              </a:r>
            </a:p>
          </p:txBody>
        </p:sp>
      </p:grpSp>
      <p:grpSp>
        <p:nvGrpSpPr>
          <p:cNvPr id="13" name="replication-scope"/>
          <p:cNvGrpSpPr/>
          <p:nvPr/>
        </p:nvGrpSpPr>
        <p:grpSpPr>
          <a:xfrm>
            <a:off x="6428232" y="1990725"/>
            <a:ext cx="5230368" cy="1365934"/>
            <a:chOff x="6428232" y="1990725"/>
            <a:chExt cx="5230368" cy="1365934"/>
          </a:xfrm>
        </p:grpSpPr>
        <p:sp>
          <p:nvSpPr>
            <p:cNvPr id="10" name="Line 10"/>
            <p:cNvSpPr/>
            <p:nvPr/>
          </p:nvSpPr>
          <p:spPr>
            <a:xfrm>
              <a:off x="6438900" y="1990725"/>
              <a:ext cx="5219700" cy="9525"/>
            </a:xfrm>
            <a:custGeom>
              <a:avLst/>
              <a:gdLst/>
              <a:ahLst/>
              <a:cxnLst/>
              <a:rect l="l" t="t" r="r" b="b"/>
              <a:pathLst>
                <a:path w="5219700" h="9525">
                  <a:moveTo>
                    <a:pt x="0" y="0"/>
                  </a:moveTo>
                  <a:lnTo>
                    <a:pt x="5219700" y="0"/>
                  </a:lnTo>
                </a:path>
              </a:pathLst>
            </a:custGeom>
            <a:noFill/>
            <a:ln w="19050">
              <a:solidFill>
                <a:schemeClr val="accent2"/>
              </a:solidFill>
            </a:ln>
          </p:spPr>
        </p:sp>
        <p:sp>
          <p:nvSpPr>
            <p:cNvPr id="11" name="TextBox 11"/>
            <p:cNvSpPr txBox="1"/>
            <p:nvPr/>
          </p:nvSpPr>
          <p:spPr>
            <a:xfrm>
              <a:off x="6428232" y="2127250"/>
              <a:ext cx="2576050"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Phạm vi lặp lại hẹp</a:t>
              </a:r>
            </a:p>
          </p:txBody>
        </p:sp>
        <p:sp>
          <p:nvSpPr>
            <p:cNvPr id="12" name="TextBox 12"/>
            <p:cNvSpPr txBox="1"/>
            <p:nvPr/>
          </p:nvSpPr>
          <p:spPr>
            <a:xfrm>
              <a:off x="6428739" y="2622550"/>
              <a:ext cx="4697369" cy="734109"/>
            </a:xfrm>
            <a:prstGeom prst="rect">
              <a:avLst/>
            </a:prstGeom>
            <a:noFill/>
            <a:ln>
              <a:noFill/>
            </a:ln>
          </p:spPr>
          <p:txBody>
            <a:bodyPr wrap="none" lIns="0" tIns="0" rIns="0" bIns="0" anchor="t" anchorCtr="0">
              <a:spAutoFit/>
            </a:bodyPr>
            <a:lstStyle/>
            <a:p>
              <a:pPr algn="l">
                <a:lnSpc>
                  <a:spcPts val="2700"/>
                </a:lnSpc>
              </a:pPr>
              <a:r>
                <a:rPr lang="vi-VN" sz="2000" dirty="0">
                  <a:solidFill>
                    <a:schemeClr val="dk1"/>
                  </a:solidFill>
                  <a:latin typeface="+mn-lt"/>
                  <a:ea typeface="+mn-ea"/>
                  <a:cs typeface="+mn-cs"/>
                </a:rPr>
                <a:t>Ba seed và ba biến thể cùng họ; SD</a:t>
              </a:r>
              <a:br>
                <a:rPr lang="vi-VN" sz="2000" dirty="0">
                  <a:solidFill>
                    <a:schemeClr val="dk1"/>
                  </a:solidFill>
                  <a:latin typeface="+mn-lt"/>
                  <a:ea typeface="+mn-ea"/>
                  <a:cs typeface="+mn-cs"/>
                </a:rPr>
              </a:br>
              <a:r>
                <a:rPr lang="vi-VN" sz="2000" dirty="0">
                  <a:solidFill>
                    <a:schemeClr val="dk1"/>
                  </a:solidFill>
                  <a:latin typeface="+mn-lt"/>
                  <a:ea typeface="+mn-ea"/>
                  <a:cs typeface="+mn-cs"/>
                </a:rPr>
                <a:t>chưa phản ánh bất định theo cảnh.</a:t>
              </a:r>
            </a:p>
          </p:txBody>
        </p:sp>
      </p:grpSp>
      <p:grpSp>
        <p:nvGrpSpPr>
          <p:cNvPr id="17" name="scene-control"/>
          <p:cNvGrpSpPr/>
          <p:nvPr/>
        </p:nvGrpSpPr>
        <p:grpSpPr>
          <a:xfrm>
            <a:off x="522732" y="4086225"/>
            <a:ext cx="5230368" cy="1708834"/>
            <a:chOff x="522732" y="4086225"/>
            <a:chExt cx="5230368" cy="1708834"/>
          </a:xfrm>
        </p:grpSpPr>
        <p:sp>
          <p:nvSpPr>
            <p:cNvPr id="14" name="Line 14"/>
            <p:cNvSpPr/>
            <p:nvPr/>
          </p:nvSpPr>
          <p:spPr>
            <a:xfrm>
              <a:off x="533400" y="4086225"/>
              <a:ext cx="5219700" cy="9525"/>
            </a:xfrm>
            <a:custGeom>
              <a:avLst/>
              <a:gdLst/>
              <a:ahLst/>
              <a:cxnLst/>
              <a:rect l="l" t="t" r="r" b="b"/>
              <a:pathLst>
                <a:path w="5219700" h="9525">
                  <a:moveTo>
                    <a:pt x="0" y="0"/>
                  </a:moveTo>
                  <a:lnTo>
                    <a:pt x="5219700" y="0"/>
                  </a:lnTo>
                </a:path>
              </a:pathLst>
            </a:custGeom>
            <a:noFill/>
            <a:ln w="19050">
              <a:solidFill>
                <a:schemeClr val="accent6"/>
              </a:solidFill>
            </a:ln>
          </p:spPr>
        </p:sp>
        <p:sp>
          <p:nvSpPr>
            <p:cNvPr id="15" name="TextBox 15"/>
            <p:cNvSpPr txBox="1"/>
            <p:nvPr/>
          </p:nvSpPr>
          <p:spPr>
            <a:xfrm>
              <a:off x="522732" y="4222750"/>
              <a:ext cx="4115221"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Kiểm soát cảnh chưa tuyệt đối</a:t>
              </a:r>
            </a:p>
          </p:txBody>
        </p:sp>
        <p:sp>
          <p:nvSpPr>
            <p:cNvPr id="16" name="TextBox 16"/>
            <p:cNvSpPr txBox="1"/>
            <p:nvPr/>
          </p:nvSpPr>
          <p:spPr>
            <a:xfrm>
              <a:off x="523239" y="4718050"/>
              <a:ext cx="5070790" cy="1077009"/>
            </a:xfrm>
            <a:prstGeom prst="rect">
              <a:avLst/>
            </a:prstGeom>
            <a:noFill/>
            <a:ln>
              <a:noFill/>
            </a:ln>
          </p:spPr>
          <p:txBody>
            <a:bodyPr wrap="none" lIns="0" tIns="0" rIns="0" bIns="0" anchor="t" anchorCtr="0">
              <a:spAutoFit/>
            </a:bodyPr>
            <a:lstStyle/>
            <a:p>
              <a:pPr algn="l">
                <a:lnSpc>
                  <a:spcPts val="2700"/>
                </a:lnSpc>
              </a:pPr>
              <a:r>
                <a:rPr lang="vi-VN" sz="2000" dirty="0">
                  <a:solidFill>
                    <a:schemeClr val="dk1"/>
                  </a:solidFill>
                  <a:latin typeface="+mn-lt"/>
                  <a:ea typeface="+mn-ea"/>
                  <a:cs typeface="+mn-cs"/>
                </a:rPr>
                <a:t>Bảo vệ liên kết đã nhận diện; từng xem</a:t>
              </a:r>
              <a:br>
                <a:rPr lang="vi-VN" sz="2000" dirty="0">
                  <a:solidFill>
                    <a:schemeClr val="dk1"/>
                  </a:solidFill>
                  <a:latin typeface="+mn-lt"/>
                  <a:ea typeface="+mn-ea"/>
                  <a:cs typeface="+mn-cs"/>
                </a:rPr>
              </a:br>
              <a:r>
                <a:rPr lang="vi-VN" sz="2000" dirty="0">
                  <a:solidFill>
                    <a:schemeClr val="dk1"/>
                  </a:solidFill>
                  <a:latin typeface="+mn-lt"/>
                  <a:ea typeface="+mn-ea"/>
                  <a:cs typeface="+mn-cs"/>
                </a:rPr>
                <a:t>một số ảnh MotorBike trước khi khóa</a:t>
              </a:r>
              <a:br>
                <a:rPr lang="vi-VN" sz="2000" dirty="0">
                  <a:solidFill>
                    <a:schemeClr val="dk1"/>
                  </a:solidFill>
                  <a:latin typeface="+mn-lt"/>
                  <a:ea typeface="+mn-ea"/>
                  <a:cs typeface="+mn-cs"/>
                </a:rPr>
              </a:br>
              <a:r>
                <a:rPr lang="vi-VN" sz="2000" dirty="0">
                  <a:solidFill>
                    <a:schemeClr val="dk1"/>
                  </a:solidFill>
                  <a:latin typeface="+mn-lt"/>
                  <a:ea typeface="+mn-ea"/>
                  <a:cs typeface="+mn-cs"/>
                </a:rPr>
                <a:t>split.</a:t>
              </a:r>
            </a:p>
          </p:txBody>
        </p:sp>
      </p:grpSp>
      <p:grpSp>
        <p:nvGrpSpPr>
          <p:cNvPr id="21" name="independent-verification"/>
          <p:cNvGrpSpPr/>
          <p:nvPr/>
        </p:nvGrpSpPr>
        <p:grpSpPr>
          <a:xfrm>
            <a:off x="6428232" y="4086225"/>
            <a:ext cx="5379346" cy="1365934"/>
            <a:chOff x="6428232" y="4086225"/>
            <a:chExt cx="5379346" cy="1365934"/>
          </a:xfrm>
        </p:grpSpPr>
        <p:sp>
          <p:nvSpPr>
            <p:cNvPr id="18" name="Line 18"/>
            <p:cNvSpPr/>
            <p:nvPr/>
          </p:nvSpPr>
          <p:spPr>
            <a:xfrm>
              <a:off x="6438900" y="4086225"/>
              <a:ext cx="5219700" cy="9525"/>
            </a:xfrm>
            <a:custGeom>
              <a:avLst/>
              <a:gdLst/>
              <a:ahLst/>
              <a:cxnLst/>
              <a:rect l="l" t="t" r="r" b="b"/>
              <a:pathLst>
                <a:path w="5219700" h="9525">
                  <a:moveTo>
                    <a:pt x="0" y="0"/>
                  </a:moveTo>
                  <a:lnTo>
                    <a:pt x="5219700" y="0"/>
                  </a:lnTo>
                </a:path>
              </a:pathLst>
            </a:custGeom>
            <a:noFill/>
            <a:ln w="19050">
              <a:solidFill>
                <a:schemeClr val="accent6"/>
              </a:solidFill>
            </a:ln>
          </p:spPr>
        </p:sp>
        <p:sp>
          <p:nvSpPr>
            <p:cNvPr id="19" name="TextBox 19"/>
            <p:cNvSpPr txBox="1"/>
            <p:nvPr/>
          </p:nvSpPr>
          <p:spPr>
            <a:xfrm>
              <a:off x="6428232" y="4222750"/>
              <a:ext cx="2717187" cy="410718"/>
            </a:xfrm>
            <a:prstGeom prst="rect">
              <a:avLst/>
            </a:prstGeom>
            <a:noFill/>
            <a:ln>
              <a:noFill/>
            </a:ln>
          </p:spPr>
          <p:txBody>
            <a:bodyPr wrap="none" lIns="0" tIns="0" rIns="0" bIns="0" anchor="t" anchorCtr="0">
              <a:spAutoFit/>
            </a:bodyPr>
            <a:lstStyle/>
            <a:p>
              <a:pPr algn="l"/>
              <a:r>
                <a:rPr lang="vi-VN" sz="2100" b="1" dirty="0">
                  <a:solidFill>
                    <a:schemeClr val="accent2"/>
                  </a:solidFill>
                  <a:latin typeface="+mn-lt"/>
                  <a:ea typeface="+mn-ea"/>
                  <a:cs typeface="+mn-cs"/>
                </a:rPr>
                <a:t>Chưa replay độc lập</a:t>
              </a:r>
            </a:p>
          </p:txBody>
        </p:sp>
        <p:sp>
          <p:nvSpPr>
            <p:cNvPr id="20" name="TextBox 20"/>
            <p:cNvSpPr txBox="1"/>
            <p:nvPr/>
          </p:nvSpPr>
          <p:spPr>
            <a:xfrm>
              <a:off x="6428739" y="4718050"/>
              <a:ext cx="5378839" cy="734109"/>
            </a:xfrm>
            <a:prstGeom prst="rect">
              <a:avLst/>
            </a:prstGeom>
            <a:noFill/>
            <a:ln>
              <a:noFill/>
            </a:ln>
          </p:spPr>
          <p:txBody>
            <a:bodyPr wrap="none" lIns="0" tIns="0" rIns="0" bIns="0" anchor="t" anchorCtr="0">
              <a:spAutoFit/>
            </a:bodyPr>
            <a:lstStyle/>
            <a:p>
              <a:pPr algn="l">
                <a:lnSpc>
                  <a:spcPts val="2700"/>
                </a:lnSpc>
              </a:pPr>
              <a:r>
                <a:rPr lang="vi-VN" sz="2000" dirty="0">
                  <a:solidFill>
                    <a:schemeClr val="dk1"/>
                  </a:solidFill>
                  <a:latin typeface="+mn-lt"/>
                  <a:ea typeface="+mn-ea"/>
                  <a:cs typeface="+mn-cs"/>
                </a:rPr>
                <a:t>Chưa chạy lại inference/test hoặc audit</a:t>
              </a:r>
              <a:br>
                <a:rPr lang="vi-VN" sz="2000" dirty="0">
                  <a:solidFill>
                    <a:schemeClr val="dk1"/>
                  </a:solidFill>
                  <a:latin typeface="+mn-lt"/>
                  <a:ea typeface="+mn-ea"/>
                  <a:cs typeface="+mn-cs"/>
                </a:rPr>
              </a:br>
              <a:r>
                <a:rPr lang="vi-VN" sz="2000" dirty="0">
                  <a:solidFill>
                    <a:schemeClr val="dk1"/>
                  </a:solidFill>
                  <a:latin typeface="+mn-lt"/>
                  <a:ea typeface="+mn-ea"/>
                  <a:cs typeface="+mn-cs"/>
                </a:rPr>
                <a:t>ảnh–XML; D40 trên Drone có hỗ trợ thưa.</a:t>
              </a:r>
            </a:p>
          </p:txBody>
        </p:sp>
      </p:grpSp>
      <p:grpSp>
        <p:nvGrpSpPr>
          <p:cNvPr id="24" name="source"/>
          <p:cNvGrpSpPr/>
          <p:nvPr/>
        </p:nvGrpSpPr>
        <p:grpSpPr>
          <a:xfrm>
            <a:off x="528638" y="6467475"/>
            <a:ext cx="11129962" cy="261937"/>
            <a:chOff x="528638" y="6467475"/>
            <a:chExt cx="11129962" cy="261937"/>
          </a:xfrm>
        </p:grpSpPr>
        <p:sp>
          <p:nvSpPr>
            <p:cNvPr id="22" name="Line 22"/>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23" name="TextBox 23"/>
            <p:cNvSpPr txBox="1"/>
            <p:nvPr/>
          </p:nvSpPr>
          <p:spPr>
            <a:xfrm>
              <a:off x="528638" y="6553200"/>
              <a:ext cx="4063495"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phần V · Giới hạn được giữ cùng các kết quả thuận và bất lợi</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935990"/>
            <a:chOff x="518160" y="244475"/>
            <a:chExt cx="11147298" cy="935990"/>
          </a:xfrm>
        </p:grpSpPr>
        <p:sp>
          <p:nvSpPr>
            <p:cNvPr id="2" name="TextBox 2"/>
            <p:cNvSpPr txBox="1"/>
            <p:nvPr/>
          </p:nvSpPr>
          <p:spPr>
            <a:xfrm>
              <a:off x="528066" y="282575"/>
              <a:ext cx="284850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08 · KẾT LUẬN VÀ HƯỚNG PHÁT TRIỂN</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19</a:t>
              </a:r>
            </a:p>
          </p:txBody>
        </p:sp>
        <p:sp>
          <p:nvSpPr>
            <p:cNvPr id="4" name="TextBox 4"/>
            <p:cNvSpPr txBox="1"/>
            <p:nvPr/>
          </p:nvSpPr>
          <p:spPr>
            <a:xfrm>
              <a:off x="518160" y="593725"/>
              <a:ext cx="10574076" cy="586740"/>
            </a:xfrm>
            <a:prstGeom prst="rect">
              <a:avLst/>
            </a:prstGeom>
            <a:noFill/>
            <a:ln>
              <a:noFill/>
            </a:ln>
          </p:spPr>
          <p:txBody>
            <a:bodyPr wrap="none" lIns="0" tIns="0" rIns="0" bIns="0" anchor="t" anchorCtr="0">
              <a:spAutoFit/>
            </a:bodyPr>
            <a:lstStyle/>
            <a:p>
              <a:pPr algn="l"/>
              <a:r>
                <a:rPr lang="vi-VN" sz="3000" dirty="0">
                  <a:solidFill>
                    <a:schemeClr val="dk1"/>
                  </a:solidFill>
                  <a:latin typeface="+mj-lt"/>
                  <a:ea typeface="+mj-ea"/>
                  <a:cs typeface="+mj-cs"/>
                </a:rPr>
                <a:t>YOLO26n tăng điểm tuyệt đối, gap xuyên miền vẫn lớn</a:t>
              </a:r>
            </a:p>
          </p:txBody>
        </p:sp>
      </p:grpSp>
      <p:grpSp>
        <p:nvGrpSpPr>
          <p:cNvPr id="8" name="drone-gap-range"/>
          <p:cNvGrpSpPr/>
          <p:nvPr/>
        </p:nvGrpSpPr>
        <p:grpSpPr>
          <a:xfrm>
            <a:off x="514350" y="2041525"/>
            <a:ext cx="4885777" cy="1325118"/>
            <a:chOff x="514350" y="2041525"/>
            <a:chExt cx="4885777" cy="1325118"/>
          </a:xfrm>
        </p:grpSpPr>
        <p:sp>
          <p:nvSpPr>
            <p:cNvPr id="6" name="TextBox 6"/>
            <p:cNvSpPr txBox="1"/>
            <p:nvPr/>
          </p:nvSpPr>
          <p:spPr>
            <a:xfrm>
              <a:off x="514350" y="2041525"/>
              <a:ext cx="4885777" cy="990600"/>
            </a:xfrm>
            <a:prstGeom prst="rect">
              <a:avLst/>
            </a:prstGeom>
            <a:noFill/>
            <a:ln>
              <a:noFill/>
            </a:ln>
          </p:spPr>
          <p:txBody>
            <a:bodyPr wrap="none" lIns="0" tIns="0" rIns="0" bIns="0" anchor="t" anchorCtr="0">
              <a:spAutoFit/>
            </a:bodyPr>
            <a:lstStyle/>
            <a:p>
              <a:pPr algn="l"/>
              <a:r>
                <a:rPr lang="vi-VN" sz="5100" b="1" dirty="0">
                  <a:solidFill>
                    <a:schemeClr val="accent2"/>
                  </a:solidFill>
                  <a:latin typeface="+mn-lt"/>
                  <a:ea typeface="+mn-ea"/>
                  <a:cs typeface="+mn-cs"/>
                </a:rPr>
                <a:t>14,86–16,91 pp</a:t>
              </a:r>
            </a:p>
          </p:txBody>
        </p:sp>
        <p:sp>
          <p:nvSpPr>
            <p:cNvPr id="7" name="TextBox 7"/>
            <p:cNvSpPr txBox="1"/>
            <p:nvPr/>
          </p:nvSpPr>
          <p:spPr>
            <a:xfrm>
              <a:off x="522732" y="2955925"/>
              <a:ext cx="3349392"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Mean gap trên Drone Test</a:t>
              </a:r>
            </a:p>
          </p:txBody>
        </p:sp>
      </p:grpSp>
      <p:grpSp>
        <p:nvGrpSpPr>
          <p:cNvPr id="11" name="motorbike-gap-range"/>
          <p:cNvGrpSpPr/>
          <p:nvPr/>
        </p:nvGrpSpPr>
        <p:grpSpPr>
          <a:xfrm>
            <a:off x="514350" y="3756025"/>
            <a:ext cx="4885777" cy="1325118"/>
            <a:chOff x="514350" y="3756025"/>
            <a:chExt cx="4885777" cy="1325118"/>
          </a:xfrm>
        </p:grpSpPr>
        <p:sp>
          <p:nvSpPr>
            <p:cNvPr id="9" name="TextBox 9"/>
            <p:cNvSpPr txBox="1"/>
            <p:nvPr/>
          </p:nvSpPr>
          <p:spPr>
            <a:xfrm>
              <a:off x="514350" y="3756025"/>
              <a:ext cx="4885777" cy="990600"/>
            </a:xfrm>
            <a:prstGeom prst="rect">
              <a:avLst/>
            </a:prstGeom>
            <a:noFill/>
            <a:ln>
              <a:noFill/>
            </a:ln>
          </p:spPr>
          <p:txBody>
            <a:bodyPr wrap="none" lIns="0" tIns="0" rIns="0" bIns="0" anchor="t" anchorCtr="0">
              <a:spAutoFit/>
            </a:bodyPr>
            <a:lstStyle/>
            <a:p>
              <a:pPr algn="l"/>
              <a:r>
                <a:rPr lang="vi-VN" sz="5100" b="1" dirty="0">
                  <a:solidFill>
                    <a:schemeClr val="accent2"/>
                  </a:solidFill>
                  <a:latin typeface="+mn-lt"/>
                  <a:ea typeface="+mn-ea"/>
                  <a:cs typeface="+mn-cs"/>
                </a:rPr>
                <a:t>41,24–42,94 pp</a:t>
              </a:r>
            </a:p>
          </p:txBody>
        </p:sp>
        <p:sp>
          <p:nvSpPr>
            <p:cNvPr id="10" name="TextBox 10"/>
            <p:cNvSpPr txBox="1"/>
            <p:nvPr/>
          </p:nvSpPr>
          <p:spPr>
            <a:xfrm>
              <a:off x="522732" y="4670425"/>
              <a:ext cx="3859834"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Mean gap trên MotorBike Test</a:t>
              </a:r>
            </a:p>
          </p:txBody>
        </p:sp>
      </p:grpSp>
      <p:grpSp>
        <p:nvGrpSpPr>
          <p:cNvPr id="15" name="replication-summary"/>
          <p:cNvGrpSpPr/>
          <p:nvPr/>
        </p:nvGrpSpPr>
        <p:grpSpPr>
          <a:xfrm>
            <a:off x="7591425" y="2057400"/>
            <a:ext cx="3111673" cy="3181350"/>
            <a:chOff x="7591425" y="2057400"/>
            <a:chExt cx="3111673" cy="3181350"/>
          </a:xfrm>
        </p:grpSpPr>
        <p:sp>
          <p:nvSpPr>
            <p:cNvPr id="12" name="Line 12"/>
            <p:cNvSpPr/>
            <p:nvPr/>
          </p:nvSpPr>
          <p:spPr>
            <a:xfrm>
              <a:off x="7591425" y="2057400"/>
              <a:ext cx="9525" cy="3181350"/>
            </a:xfrm>
            <a:custGeom>
              <a:avLst/>
              <a:gdLst/>
              <a:ahLst/>
              <a:cxnLst/>
              <a:rect l="l" t="t" r="r" b="b"/>
              <a:pathLst>
                <a:path w="9525" h="3181350">
                  <a:moveTo>
                    <a:pt x="0" y="0"/>
                  </a:moveTo>
                  <a:lnTo>
                    <a:pt x="0" y="3181350"/>
                  </a:lnTo>
                </a:path>
              </a:pathLst>
            </a:custGeom>
            <a:noFill/>
            <a:ln w="19050">
              <a:solidFill>
                <a:schemeClr val="accent6"/>
              </a:solidFill>
            </a:ln>
          </p:spPr>
        </p:sp>
        <p:sp>
          <p:nvSpPr>
            <p:cNvPr id="13" name="TextBox 13"/>
            <p:cNvSpPr txBox="1"/>
            <p:nvPr/>
          </p:nvSpPr>
          <p:spPr>
            <a:xfrm>
              <a:off x="7885557" y="2222500"/>
              <a:ext cx="2817541"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18/18 so sánh dương</a:t>
              </a:r>
            </a:p>
          </p:txBody>
        </p:sp>
        <p:sp>
          <p:nvSpPr>
            <p:cNvPr id="14" name="TextBox 14"/>
            <p:cNvSpPr txBox="1"/>
            <p:nvPr/>
          </p:nvSpPr>
          <p:spPr>
            <a:xfrm>
              <a:off x="7886064" y="2965450"/>
              <a:ext cx="2731770" cy="2258109"/>
            </a:xfrm>
            <a:prstGeom prst="rect">
              <a:avLst/>
            </a:prstGeom>
            <a:noFill/>
            <a:ln>
              <a:noFill/>
            </a:ln>
          </p:spPr>
          <p:txBody>
            <a:bodyPr wrap="none" lIns="0" tIns="0" rIns="0" bIns="0" anchor="t" anchorCtr="0">
              <a:spAutoFit/>
            </a:bodyPr>
            <a:lstStyle/>
            <a:p>
              <a:pPr algn="l">
                <a:lnSpc>
                  <a:spcPts val="2700"/>
                </a:lnSpc>
              </a:pPr>
              <a:r>
                <a:rPr lang="vi-VN" sz="2000" dirty="0">
                  <a:solidFill>
                    <a:schemeClr val="dk1"/>
                  </a:solidFill>
                  <a:latin typeface="+mn-lt"/>
                  <a:ea typeface="+mn-ea"/>
                  <a:cs typeface="+mn-cs"/>
                </a:rPr>
                <a:t>Lặp lại ở ba model.</a:t>
              </a:r>
            </a:p>
            <a:p>
              <a:pPr algn="l">
                <a:lnSpc>
                  <a:spcPts val="2700"/>
                </a:lnSpc>
                <a:spcBef>
                  <a:spcPts val="1950"/>
                </a:spcBef>
              </a:pPr>
              <a:r>
                <a:rPr lang="vi-VN" sz="2000" dirty="0">
                  <a:solidFill>
                    <a:schemeClr val="dk1"/>
                  </a:solidFill>
                  <a:latin typeface="+mn-lt"/>
                  <a:ea typeface="+mn-ea"/>
                  <a:cs typeface="+mn-cs"/>
                </a:rPr>
                <a:t>D20 dễ tổn thương</a:t>
              </a:r>
              <a:br>
                <a:rPr lang="vi-VN" sz="2000" dirty="0">
                  <a:solidFill>
                    <a:schemeClr val="dk1"/>
                  </a:solidFill>
                  <a:latin typeface="+mn-lt"/>
                  <a:ea typeface="+mn-ea"/>
                  <a:cs typeface="+mn-cs"/>
                </a:rPr>
              </a:br>
              <a:r>
                <a:rPr lang="vi-VN" sz="2000" dirty="0">
                  <a:solidFill>
                    <a:schemeClr val="dk1"/>
                  </a:solidFill>
                  <a:latin typeface="+mn-lt"/>
                  <a:ea typeface="+mn-ea"/>
                  <a:cs typeface="+mn-cs"/>
                </a:rPr>
                <a:t>trên MotorBike.</a:t>
              </a:r>
            </a:p>
            <a:p>
              <a:pPr algn="l">
                <a:lnSpc>
                  <a:spcPts val="2700"/>
                </a:lnSpc>
                <a:spcBef>
                  <a:spcPts val="1950"/>
                </a:spcBef>
              </a:pPr>
              <a:r>
                <a:rPr lang="vi-VN" sz="2000" dirty="0">
                  <a:solidFill>
                    <a:schemeClr val="dk1"/>
                  </a:solidFill>
                  <a:latin typeface="+mn-lt"/>
                  <a:ea typeface="+mn-ea"/>
                  <a:cs typeface="+mn-cs"/>
                </a:rPr>
                <a:t>D40 hiếm trên Drone</a:t>
              </a:r>
              <a:br>
                <a:rPr lang="vi-VN" sz="2000" dirty="0">
                  <a:solidFill>
                    <a:schemeClr val="dk1"/>
                  </a:solidFill>
                  <a:latin typeface="+mn-lt"/>
                  <a:ea typeface="+mn-ea"/>
                  <a:cs typeface="+mn-cs"/>
                </a:rPr>
              </a:br>
              <a:r>
                <a:rPr lang="vi-VN" sz="2000" dirty="0">
                  <a:solidFill>
                    <a:schemeClr val="dk1"/>
                  </a:solidFill>
                  <a:latin typeface="+mn-lt"/>
                  <a:ea typeface="+mn-ea"/>
                  <a:cs typeface="+mn-cs"/>
                </a:rPr>
                <a:t>có đảo chiều.</a:t>
              </a:r>
            </a:p>
          </p:txBody>
        </p:sp>
      </p:grpSp>
      <p:grpSp>
        <p:nvGrpSpPr>
          <p:cNvPr id="17" name="contribution"/>
          <p:cNvGrpSpPr/>
          <p:nvPr/>
        </p:nvGrpSpPr>
        <p:grpSpPr>
          <a:xfrm>
            <a:off x="525018" y="5727700"/>
            <a:ext cx="8156767" cy="617982"/>
            <a:chOff x="525018" y="5727700"/>
            <a:chExt cx="8156767" cy="617982"/>
          </a:xfrm>
        </p:grpSpPr>
        <p:sp>
          <p:nvSpPr>
            <p:cNvPr id="16" name="TextBox 16"/>
            <p:cNvSpPr txBox="1"/>
            <p:nvPr/>
          </p:nvSpPr>
          <p:spPr>
            <a:xfrm>
              <a:off x="525018" y="5727700"/>
              <a:ext cx="8156767" cy="617982"/>
            </a:xfrm>
            <a:prstGeom prst="rect">
              <a:avLst/>
            </a:prstGeom>
            <a:noFill/>
            <a:ln>
              <a:noFill/>
            </a:ln>
          </p:spPr>
          <p:txBody>
            <a:bodyPr wrap="none" lIns="0" tIns="0" rIns="0" bIns="0" anchor="t" anchorCtr="0">
              <a:spAutoFit/>
            </a:bodyPr>
            <a:lstStyle/>
            <a:p>
              <a:pPr algn="l">
                <a:lnSpc>
                  <a:spcPts val="2325"/>
                </a:lnSpc>
              </a:pPr>
              <a:r>
                <a:rPr lang="vi-VN" sz="1650" b="1" dirty="0">
                  <a:solidFill>
                    <a:schemeClr val="accent2"/>
                  </a:solidFill>
                  <a:latin typeface="+mn-lt"/>
                  <a:ea typeface="+mn-ea"/>
                  <a:cs typeface="+mn-cs"/>
                </a:rPr>
                <a:t>Đóng góp: giao thức hai chiều trên cùng tập đích, minh bạch theo seed</a:t>
              </a:r>
              <a:br>
                <a:rPr lang="vi-VN" sz="1650" b="1" dirty="0">
                  <a:solidFill>
                    <a:schemeClr val="accent2"/>
                  </a:solidFill>
                  <a:latin typeface="+mn-lt"/>
                  <a:ea typeface="+mn-ea"/>
                  <a:cs typeface="+mn-cs"/>
                </a:rPr>
              </a:br>
              <a:r>
                <a:rPr lang="vi-VN" sz="1650" b="1" dirty="0">
                  <a:solidFill>
                    <a:schemeClr val="accent2"/>
                  </a:solidFill>
                  <a:latin typeface="+mn-lt"/>
                  <a:ea typeface="+mn-ea"/>
                  <a:cs typeface="+mn-cs"/>
                </a:rPr>
                <a:t>và kiểm tra lặp lại với YOLO26n.</a:t>
              </a:r>
            </a:p>
          </p:txBody>
        </p:sp>
      </p:grpSp>
      <p:grpSp>
        <p:nvGrpSpPr>
          <p:cNvPr id="20" name="source"/>
          <p:cNvGrpSpPr/>
          <p:nvPr/>
        </p:nvGrpSpPr>
        <p:grpSpPr>
          <a:xfrm>
            <a:off x="528638" y="6467475"/>
            <a:ext cx="11129962" cy="261937"/>
            <a:chOff x="528638" y="6467475"/>
            <a:chExt cx="11129962" cy="261937"/>
          </a:xfrm>
        </p:grpSpPr>
        <p:sp>
          <p:nvSpPr>
            <p:cNvPr id="18" name="Line 18"/>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19" name="TextBox 19"/>
            <p:cNvSpPr txBox="1"/>
            <p:nvPr/>
          </p:nvSpPr>
          <p:spPr>
            <a:xfrm>
              <a:off x="528638" y="6553200"/>
              <a:ext cx="4818101"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Kết luận; Bảng III, V, VI, VII · Các kết luận mang tính mô tả trên split khóa</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18160" y="244475"/>
            <a:ext cx="11147298" cy="1396365"/>
            <a:chOff x="518160" y="244475"/>
            <a:chExt cx="11147298" cy="1396365"/>
          </a:xfrm>
        </p:grpSpPr>
        <p:sp>
          <p:nvSpPr>
            <p:cNvPr id="2" name="TextBox 2"/>
            <p:cNvSpPr txBox="1"/>
            <p:nvPr/>
          </p:nvSpPr>
          <p:spPr>
            <a:xfrm>
              <a:off x="528066" y="282575"/>
              <a:ext cx="2848505" cy="205359"/>
            </a:xfrm>
            <a:prstGeom prst="rect">
              <a:avLst/>
            </a:prstGeom>
            <a:noFill/>
            <a:ln>
              <a:noFill/>
            </a:ln>
          </p:spPr>
          <p:txBody>
            <a:bodyPr wrap="none" lIns="0" tIns="0" rIns="0" bIns="0" anchor="t" anchorCtr="0">
              <a:spAutoFit/>
            </a:bodyPr>
            <a:lstStyle/>
            <a:p>
              <a:pPr algn="l"/>
              <a:r>
                <a:rPr lang="vi-VN" sz="1050" b="1" dirty="0">
                  <a:solidFill>
                    <a:schemeClr val="accent2"/>
                  </a:solidFill>
                  <a:latin typeface="+mn-lt"/>
                  <a:ea typeface="+mn-ea"/>
                  <a:cs typeface="+mn-cs"/>
                </a:rPr>
                <a:t>08 · KẾT LUẬN VÀ HƯỚNG PHÁT TRIỂN</a:t>
              </a:r>
            </a:p>
          </p:txBody>
        </p:sp>
        <p:sp>
          <p:nvSpPr>
            <p:cNvPr id="3" name="TextBox 3"/>
            <p:cNvSpPr txBox="1"/>
            <p:nvPr/>
          </p:nvSpPr>
          <p:spPr>
            <a:xfrm>
              <a:off x="11449578" y="244475"/>
              <a:ext cx="215880" cy="264033"/>
            </a:xfrm>
            <a:prstGeom prst="rect">
              <a:avLst/>
            </a:prstGeom>
            <a:noFill/>
            <a:ln>
              <a:noFill/>
            </a:ln>
          </p:spPr>
          <p:txBody>
            <a:bodyPr wrap="none" lIns="0" tIns="0" rIns="0" bIns="0" anchor="t" anchorCtr="0">
              <a:spAutoFit/>
            </a:bodyPr>
            <a:lstStyle/>
            <a:p>
              <a:pPr algn="r"/>
              <a:r>
                <a:rPr lang="vi-VN" sz="1350" dirty="0">
                  <a:solidFill>
                    <a:schemeClr val="accent2"/>
                  </a:solidFill>
                  <a:latin typeface="+mn-lt"/>
                  <a:ea typeface="+mn-ea"/>
                  <a:cs typeface="+mn-cs"/>
                </a:rPr>
                <a:t>20</a:t>
              </a:r>
            </a:p>
          </p:txBody>
        </p:sp>
        <p:sp>
          <p:nvSpPr>
            <p:cNvPr id="4" name="TextBox 4"/>
            <p:cNvSpPr txBox="1"/>
            <p:nvPr/>
          </p:nvSpPr>
          <p:spPr>
            <a:xfrm>
              <a:off x="518160" y="606425"/>
              <a:ext cx="6803184" cy="1034415"/>
            </a:xfrm>
            <a:prstGeom prst="rect">
              <a:avLst/>
            </a:prstGeom>
            <a:noFill/>
            <a:ln>
              <a:noFill/>
            </a:ln>
          </p:spPr>
          <p:txBody>
            <a:bodyPr wrap="none" lIns="0" tIns="0" rIns="0" bIns="0" anchor="t" anchorCtr="0">
              <a:spAutoFit/>
            </a:bodyPr>
            <a:lstStyle/>
            <a:p>
              <a:pPr algn="l">
                <a:lnSpc>
                  <a:spcPts val="3525"/>
                </a:lnSpc>
              </a:pPr>
              <a:r>
                <a:rPr lang="vi-VN" sz="3000" dirty="0">
                  <a:solidFill>
                    <a:schemeClr val="dk1"/>
                  </a:solidFill>
                  <a:latin typeface="+mj-lt"/>
                  <a:ea typeface="+mj-ea"/>
                  <a:cs typeface="+mj-cs"/>
                </a:rPr>
                <a:t>Bước tiếp theo: kiểm chứng độc lập</a:t>
              </a:r>
              <a:br>
                <a:rPr lang="vi-VN" sz="3000" dirty="0">
                  <a:solidFill>
                    <a:schemeClr val="dk1"/>
                  </a:solidFill>
                  <a:latin typeface="+mj-lt"/>
                  <a:ea typeface="+mj-ea"/>
                  <a:cs typeface="+mj-cs"/>
                </a:rPr>
              </a:br>
              <a:r>
                <a:rPr lang="vi-VN" sz="3000" dirty="0">
                  <a:solidFill>
                    <a:schemeClr val="dk1"/>
                  </a:solidFill>
                  <a:latin typeface="+mj-lt"/>
                  <a:ea typeface="+mj-ea"/>
                  <a:cs typeface="+mj-cs"/>
                </a:rPr>
                <a:t>và tách yếu tố gây nhiễu</a:t>
              </a:r>
            </a:p>
          </p:txBody>
        </p:sp>
      </p:grpSp>
      <p:grpSp>
        <p:nvGrpSpPr>
          <p:cNvPr id="27" name="research-priorities"/>
          <p:cNvGrpSpPr/>
          <p:nvPr/>
        </p:nvGrpSpPr>
        <p:grpSpPr>
          <a:xfrm>
            <a:off x="519684" y="1847850"/>
            <a:ext cx="10203327" cy="3526282"/>
            <a:chOff x="519684" y="1847850"/>
            <a:chExt cx="10203327" cy="3526282"/>
          </a:xfrm>
        </p:grpSpPr>
        <p:sp>
          <p:nvSpPr>
            <p:cNvPr id="6" name="Line 6"/>
            <p:cNvSpPr/>
            <p:nvPr/>
          </p:nvSpPr>
          <p:spPr>
            <a:xfrm>
              <a:off x="714375" y="2095500"/>
              <a:ext cx="9525" cy="3181350"/>
            </a:xfrm>
            <a:custGeom>
              <a:avLst/>
              <a:gdLst/>
              <a:ahLst/>
              <a:cxnLst/>
              <a:rect l="l" t="t" r="r" b="b"/>
              <a:pathLst>
                <a:path w="9525" h="3181350">
                  <a:moveTo>
                    <a:pt x="0" y="0"/>
                  </a:moveTo>
                  <a:lnTo>
                    <a:pt x="0" y="3181350"/>
                  </a:lnTo>
                </a:path>
              </a:pathLst>
            </a:custGeom>
            <a:noFill/>
            <a:ln w="19050">
              <a:solidFill>
                <a:schemeClr val="accent6"/>
              </a:solidFill>
            </a:ln>
          </p:spPr>
        </p:sp>
        <p:grpSp>
          <p:nvGrpSpPr>
            <p:cNvPr id="11" name="priority-one"/>
            <p:cNvGrpSpPr/>
            <p:nvPr/>
          </p:nvGrpSpPr>
          <p:grpSpPr>
            <a:xfrm>
              <a:off x="519684" y="1847850"/>
              <a:ext cx="9733797" cy="668782"/>
              <a:chOff x="519684" y="1847850"/>
              <a:chExt cx="9733797" cy="668782"/>
            </a:xfrm>
          </p:grpSpPr>
          <p:sp>
            <p:nvSpPr>
              <p:cNvPr id="7" name="Rectangle 7"/>
              <p:cNvSpPr/>
              <p:nvPr/>
            </p:nvSpPr>
            <p:spPr>
              <a:xfrm>
                <a:off x="533400" y="1847850"/>
                <a:ext cx="447675" cy="419100"/>
              </a:xfrm>
              <a:prstGeom prst="rect">
                <a:avLst/>
              </a:prstGeom>
              <a:solidFill>
                <a:schemeClr val="lt1"/>
              </a:solidFill>
              <a:ln>
                <a:noFill/>
              </a:ln>
            </p:spPr>
          </p:sp>
          <p:sp>
            <p:nvSpPr>
              <p:cNvPr id="8" name="TextBox 8"/>
              <p:cNvSpPr txBox="1"/>
              <p:nvPr/>
            </p:nvSpPr>
            <p:spPr>
              <a:xfrm>
                <a:off x="519684" y="185102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01</a:t>
                </a:r>
              </a:p>
            </p:txBody>
          </p:sp>
          <p:sp>
            <p:nvSpPr>
              <p:cNvPr id="9" name="TextBox 9"/>
              <p:cNvSpPr txBox="1"/>
              <p:nvPr/>
            </p:nvSpPr>
            <p:spPr>
              <a:xfrm>
                <a:off x="1322832" y="1889125"/>
                <a:ext cx="2827355"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Kiểm chứng dự đoán</a:t>
                </a:r>
              </a:p>
            </p:txBody>
          </p:sp>
          <p:sp>
            <p:nvSpPr>
              <p:cNvPr id="10" name="TextBox 10"/>
              <p:cNvSpPr txBox="1"/>
              <p:nvPr/>
            </p:nvSpPr>
            <p:spPr>
              <a:xfrm>
                <a:off x="5801868" y="1908175"/>
                <a:ext cx="4451613"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Replay checkpoint; lưu dự đoán từng ảnh;</a:t>
                </a:r>
                <a:br>
                  <a:rPr lang="vi-VN" sz="1650" dirty="0">
                    <a:solidFill>
                      <a:schemeClr val="dk1"/>
                    </a:solidFill>
                    <a:latin typeface="+mn-lt"/>
                    <a:ea typeface="+mn-ea"/>
                    <a:cs typeface="+mn-cs"/>
                  </a:rPr>
                </a:br>
                <a:r>
                  <a:rPr lang="vi-VN" sz="1650" dirty="0">
                    <a:solidFill>
                      <a:schemeClr val="dk1"/>
                    </a:solidFill>
                    <a:latin typeface="+mn-lt"/>
                    <a:ea typeface="+mn-ea"/>
                    <a:cs typeface="+mn-cs"/>
                  </a:rPr>
                  <a:t>audit FP/FN và bootstrap theo cảnh.</a:t>
                </a:r>
              </a:p>
            </p:txBody>
          </p:sp>
        </p:grpSp>
        <p:grpSp>
          <p:nvGrpSpPr>
            <p:cNvPr id="16" name="priority-two"/>
            <p:cNvGrpSpPr/>
            <p:nvPr/>
          </p:nvGrpSpPr>
          <p:grpSpPr>
            <a:xfrm>
              <a:off x="519684" y="2800350"/>
              <a:ext cx="10203327" cy="668782"/>
              <a:chOff x="519684" y="2800350"/>
              <a:chExt cx="10203327" cy="668782"/>
            </a:xfrm>
          </p:grpSpPr>
          <p:sp>
            <p:nvSpPr>
              <p:cNvPr id="12" name="Rectangle 12"/>
              <p:cNvSpPr/>
              <p:nvPr/>
            </p:nvSpPr>
            <p:spPr>
              <a:xfrm>
                <a:off x="533400" y="2800350"/>
                <a:ext cx="447675" cy="419100"/>
              </a:xfrm>
              <a:prstGeom prst="rect">
                <a:avLst/>
              </a:prstGeom>
              <a:solidFill>
                <a:schemeClr val="lt1"/>
              </a:solidFill>
              <a:ln>
                <a:noFill/>
              </a:ln>
            </p:spPr>
          </p:sp>
          <p:sp>
            <p:nvSpPr>
              <p:cNvPr id="13" name="TextBox 13"/>
              <p:cNvSpPr txBox="1"/>
              <p:nvPr/>
            </p:nvSpPr>
            <p:spPr>
              <a:xfrm>
                <a:off x="519684" y="280352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02</a:t>
                </a:r>
              </a:p>
            </p:txBody>
          </p:sp>
          <p:sp>
            <p:nvSpPr>
              <p:cNvPr id="14" name="TextBox 14"/>
              <p:cNvSpPr txBox="1"/>
              <p:nvPr/>
            </p:nvSpPr>
            <p:spPr>
              <a:xfrm>
                <a:off x="1322832" y="2841625"/>
                <a:ext cx="2591212"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Bổ sung đối chứng</a:t>
                </a:r>
              </a:p>
            </p:txBody>
          </p:sp>
          <p:sp>
            <p:nvSpPr>
              <p:cNvPr id="15" name="TextBox 15"/>
              <p:cNvSpPr txBox="1"/>
              <p:nvPr/>
            </p:nvSpPr>
            <p:spPr>
              <a:xfrm>
                <a:off x="5801868" y="2860675"/>
                <a:ext cx="4921143"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Cân bằng cỡ tập nguồn; thu cùng đoạn đường</a:t>
                </a:r>
                <a:br>
                  <a:rPr lang="vi-VN" sz="1650" dirty="0">
                    <a:solidFill>
                      <a:schemeClr val="dk1"/>
                    </a:solidFill>
                    <a:latin typeface="+mn-lt"/>
                    <a:ea typeface="+mn-ea"/>
                    <a:cs typeface="+mn-cs"/>
                  </a:rPr>
                </a:br>
                <a:r>
                  <a:rPr lang="vi-VN" sz="1650" dirty="0">
                    <a:solidFill>
                      <a:schemeClr val="dk1"/>
                    </a:solidFill>
                    <a:latin typeface="+mn-lt"/>
                    <a:ea typeface="+mn-ea"/>
                    <a:cs typeface="+mn-cs"/>
                  </a:rPr>
                  <a:t>với nhiều góc nhìn.</a:t>
                </a:r>
              </a:p>
            </p:txBody>
          </p:sp>
        </p:grpSp>
        <p:grpSp>
          <p:nvGrpSpPr>
            <p:cNvPr id="21" name="priority-three"/>
            <p:cNvGrpSpPr/>
            <p:nvPr/>
          </p:nvGrpSpPr>
          <p:grpSpPr>
            <a:xfrm>
              <a:off x="519684" y="3752850"/>
              <a:ext cx="9974539" cy="668782"/>
              <a:chOff x="519684" y="3752850"/>
              <a:chExt cx="9974539" cy="668782"/>
            </a:xfrm>
          </p:grpSpPr>
          <p:sp>
            <p:nvSpPr>
              <p:cNvPr id="17" name="Rectangle 17"/>
              <p:cNvSpPr/>
              <p:nvPr/>
            </p:nvSpPr>
            <p:spPr>
              <a:xfrm>
                <a:off x="533400" y="3752850"/>
                <a:ext cx="447675" cy="419100"/>
              </a:xfrm>
              <a:prstGeom prst="rect">
                <a:avLst/>
              </a:prstGeom>
              <a:solidFill>
                <a:schemeClr val="lt1"/>
              </a:solidFill>
              <a:ln>
                <a:noFill/>
              </a:ln>
            </p:spPr>
          </p:sp>
          <p:sp>
            <p:nvSpPr>
              <p:cNvPr id="18" name="TextBox 18"/>
              <p:cNvSpPr txBox="1"/>
              <p:nvPr/>
            </p:nvSpPr>
            <p:spPr>
              <a:xfrm>
                <a:off x="519684" y="375602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03</a:t>
                </a:r>
              </a:p>
            </p:txBody>
          </p:sp>
          <p:sp>
            <p:nvSpPr>
              <p:cNvPr id="19" name="TextBox 19"/>
              <p:cNvSpPr txBox="1"/>
              <p:nvPr/>
            </p:nvSpPr>
            <p:spPr>
              <a:xfrm>
                <a:off x="1322832" y="3794125"/>
                <a:ext cx="2937567"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Mở rộng có kiểm soát</a:t>
                </a:r>
              </a:p>
            </p:txBody>
          </p:sp>
          <p:sp>
            <p:nvSpPr>
              <p:cNvPr id="20" name="TextBox 20"/>
              <p:cNvSpPr txBox="1"/>
              <p:nvPr/>
            </p:nvSpPr>
            <p:spPr>
              <a:xfrm>
                <a:off x="5801868" y="3813175"/>
                <a:ext cx="4692355"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Rà ontology nhãn trước khi đánh giá Czech,</a:t>
                </a:r>
                <a:br>
                  <a:rPr lang="vi-VN" sz="1650" dirty="0">
                    <a:solidFill>
                      <a:schemeClr val="dk1"/>
                    </a:solidFill>
                    <a:latin typeface="+mn-lt"/>
                    <a:ea typeface="+mn-ea"/>
                    <a:cs typeface="+mn-cs"/>
                  </a:rPr>
                </a:br>
                <a:r>
                  <a:rPr lang="vi-VN" sz="1650" dirty="0">
                    <a:solidFill>
                      <a:schemeClr val="dk1"/>
                    </a:solidFill>
                    <a:latin typeface="+mn-lt"/>
                    <a:ea typeface="+mn-ea"/>
                    <a:cs typeface="+mn-cs"/>
                  </a:rPr>
                  <a:t>India hoặc bộ dữ liệu độc lập.</a:t>
                </a:r>
              </a:p>
            </p:txBody>
          </p:sp>
        </p:grpSp>
        <p:grpSp>
          <p:nvGrpSpPr>
            <p:cNvPr id="26" name="priority-four"/>
            <p:cNvGrpSpPr/>
            <p:nvPr/>
          </p:nvGrpSpPr>
          <p:grpSpPr>
            <a:xfrm>
              <a:off x="519684" y="4705350"/>
              <a:ext cx="9800260" cy="668782"/>
              <a:chOff x="519684" y="4705350"/>
              <a:chExt cx="9800260" cy="668782"/>
            </a:xfrm>
          </p:grpSpPr>
          <p:sp>
            <p:nvSpPr>
              <p:cNvPr id="22" name="Rectangle 22"/>
              <p:cNvSpPr/>
              <p:nvPr/>
            </p:nvSpPr>
            <p:spPr>
              <a:xfrm>
                <a:off x="533400" y="4705350"/>
                <a:ext cx="447675" cy="419100"/>
              </a:xfrm>
              <a:prstGeom prst="rect">
                <a:avLst/>
              </a:prstGeom>
              <a:solidFill>
                <a:schemeClr val="lt1"/>
              </a:solidFill>
              <a:ln>
                <a:noFill/>
              </a:ln>
            </p:spPr>
          </p:sp>
          <p:sp>
            <p:nvSpPr>
              <p:cNvPr id="23" name="TextBox 23"/>
              <p:cNvSpPr txBox="1"/>
              <p:nvPr/>
            </p:nvSpPr>
            <p:spPr>
              <a:xfrm>
                <a:off x="519684" y="4708525"/>
                <a:ext cx="431760" cy="528066"/>
              </a:xfrm>
              <a:prstGeom prst="rect">
                <a:avLst/>
              </a:prstGeom>
              <a:noFill/>
              <a:ln>
                <a:noFill/>
              </a:ln>
            </p:spPr>
            <p:txBody>
              <a:bodyPr wrap="none" lIns="0" tIns="0" rIns="0" bIns="0" anchor="t" anchorCtr="0">
                <a:spAutoFit/>
              </a:bodyPr>
              <a:lstStyle/>
              <a:p>
                <a:pPr algn="l"/>
                <a:r>
                  <a:rPr lang="vi-VN" sz="2700" dirty="0">
                    <a:solidFill>
                      <a:schemeClr val="accent2"/>
                    </a:solidFill>
                    <a:latin typeface="+mn-lt"/>
                    <a:ea typeface="+mn-ea"/>
                    <a:cs typeface="+mn-cs"/>
                  </a:rPr>
                  <a:t>04</a:t>
                </a:r>
              </a:p>
            </p:txBody>
          </p:sp>
          <p:sp>
            <p:nvSpPr>
              <p:cNvPr id="24" name="TextBox 24"/>
              <p:cNvSpPr txBox="1"/>
              <p:nvPr/>
            </p:nvSpPr>
            <p:spPr>
              <a:xfrm>
                <a:off x="1322832" y="4746625"/>
                <a:ext cx="3187561"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Thử biện pháp cải thiện</a:t>
                </a:r>
              </a:p>
            </p:txBody>
          </p:sp>
          <p:sp>
            <p:nvSpPr>
              <p:cNvPr id="25" name="TextBox 25"/>
              <p:cNvSpPr txBox="1"/>
              <p:nvPr/>
            </p:nvSpPr>
            <p:spPr>
              <a:xfrm>
                <a:off x="5801868" y="4765675"/>
                <a:ext cx="451807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Huấn luyện đa miền hoặc thích nghi miền;</a:t>
                </a:r>
                <a:br>
                  <a:rPr lang="vi-VN" sz="1650" dirty="0">
                    <a:solidFill>
                      <a:schemeClr val="dk1"/>
                    </a:solidFill>
                    <a:latin typeface="+mn-lt"/>
                    <a:ea typeface="+mn-ea"/>
                    <a:cs typeface="+mn-cs"/>
                  </a:rPr>
                </a:br>
                <a:r>
                  <a:rPr lang="vi-VN" sz="1650" dirty="0">
                    <a:solidFill>
                      <a:schemeClr val="dk1"/>
                    </a:solidFill>
                    <a:latin typeface="+mn-lt"/>
                    <a:ea typeface="+mn-ea"/>
                    <a:cs typeface="+mn-cs"/>
                  </a:rPr>
                  <a:t>chấm lại bằng giao thức cố định.</a:t>
                </a:r>
              </a:p>
            </p:txBody>
          </p:sp>
        </p:grpSp>
      </p:grpSp>
      <p:grpSp>
        <p:nvGrpSpPr>
          <p:cNvPr id="29" name="closing-discussion"/>
          <p:cNvGrpSpPr/>
          <p:nvPr/>
        </p:nvGrpSpPr>
        <p:grpSpPr>
          <a:xfrm>
            <a:off x="525018" y="5959475"/>
            <a:ext cx="8847826" cy="322707"/>
            <a:chOff x="525018" y="5959475"/>
            <a:chExt cx="8847826" cy="322707"/>
          </a:xfrm>
        </p:grpSpPr>
        <p:sp>
          <p:nvSpPr>
            <p:cNvPr id="28" name="TextBox 28"/>
            <p:cNvSpPr txBox="1"/>
            <p:nvPr/>
          </p:nvSpPr>
          <p:spPr>
            <a:xfrm>
              <a:off x="525018" y="5959475"/>
              <a:ext cx="8847826" cy="322707"/>
            </a:xfrm>
            <a:prstGeom prst="rect">
              <a:avLst/>
            </a:prstGeom>
            <a:noFill/>
            <a:ln>
              <a:noFill/>
            </a:ln>
          </p:spPr>
          <p:txBody>
            <a:bodyPr wrap="none" lIns="0" tIns="0" rIns="0" bIns="0" anchor="t" anchorCtr="0">
              <a:spAutoFit/>
            </a:bodyPr>
            <a:lstStyle/>
            <a:p>
              <a:pPr algn="l"/>
              <a:r>
                <a:rPr lang="vi-VN" sz="1650" b="1" dirty="0">
                  <a:solidFill>
                    <a:schemeClr val="accent2"/>
                  </a:solidFill>
                  <a:latin typeface="+mn-lt"/>
                  <a:ea typeface="+mn-ea"/>
                  <a:cs typeface="+mn-cs"/>
                </a:rPr>
                <a:t>Trao đổi: đối chứng nào cần được ưu tiên trước khi khẳng định khả năng triển khai?</a:t>
              </a:r>
            </a:p>
          </p:txBody>
        </p:sp>
      </p:grpSp>
      <p:grpSp>
        <p:nvGrpSpPr>
          <p:cNvPr id="32" name="source"/>
          <p:cNvGrpSpPr/>
          <p:nvPr/>
        </p:nvGrpSpPr>
        <p:grpSpPr>
          <a:xfrm>
            <a:off x="528638" y="6467475"/>
            <a:ext cx="11129962" cy="261937"/>
            <a:chOff x="528638" y="6467475"/>
            <a:chExt cx="11129962" cy="261937"/>
          </a:xfrm>
        </p:grpSpPr>
        <p:sp>
          <p:nvSpPr>
            <p:cNvPr id="30" name="Line 30"/>
            <p:cNvSpPr/>
            <p:nvPr/>
          </p:nvSpPr>
          <p:spPr>
            <a:xfrm>
              <a:off x="533400" y="6467475"/>
              <a:ext cx="11125200" cy="9525"/>
            </a:xfrm>
            <a:custGeom>
              <a:avLst/>
              <a:gdLst/>
              <a:ahLst/>
              <a:cxnLst/>
              <a:rect l="l" t="t" r="r" b="b"/>
              <a:pathLst>
                <a:path w="11125200" h="9525">
                  <a:moveTo>
                    <a:pt x="0" y="0"/>
                  </a:moveTo>
                  <a:lnTo>
                    <a:pt x="11125200" y="0"/>
                  </a:lnTo>
                </a:path>
              </a:pathLst>
            </a:custGeom>
            <a:noFill/>
            <a:ln w="9525">
              <a:solidFill>
                <a:schemeClr val="accent6"/>
              </a:solidFill>
            </a:ln>
          </p:spPr>
        </p:sp>
        <p:sp>
          <p:nvSpPr>
            <p:cNvPr id="31" name="TextBox 31"/>
            <p:cNvSpPr txBox="1"/>
            <p:nvPr/>
          </p:nvSpPr>
          <p:spPr>
            <a:xfrm>
              <a:off x="528638" y="6553200"/>
              <a:ext cx="4615491" cy="176212"/>
            </a:xfrm>
            <a:prstGeom prst="rect">
              <a:avLst/>
            </a:prstGeom>
            <a:noFill/>
            <a:ln>
              <a:noFill/>
            </a:ln>
          </p:spPr>
          <p:txBody>
            <a:bodyPr wrap="none" lIns="0" tIns="0" rIns="0" bIns="0" anchor="t" anchorCtr="0">
              <a:spAutoFit/>
            </a:bodyPr>
            <a:lstStyle/>
            <a:p>
              <a:pPr algn="l"/>
              <a:r>
                <a:rPr lang="vi-VN" sz="900" dirty="0">
                  <a:solidFill>
                    <a:schemeClr val="accent5"/>
                  </a:solidFill>
                  <a:latin typeface="+mn-lt"/>
                  <a:ea typeface="+mn-ea"/>
                  <a:cs typeface="+mn-cs"/>
                </a:rPr>
                <a:t>Nguồn: paper, Thảo luận và hướng phát triển · Các mục dưới đây là công việc đề xuất</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rdd2022_beautify">
  <a:themeElements>
    <a:clrScheme name="rdd2022_beautify">
      <a:dk1>
        <a:srgbClr val="173348"/>
      </a:dk1>
      <a:lt1>
        <a:srgbClr val="FFFFFF"/>
      </a:lt1>
      <a:dk2>
        <a:srgbClr val="1F497D"/>
      </a:dk2>
      <a:lt2>
        <a:srgbClr val="F2F7F7"/>
      </a:lt2>
      <a:accent1>
        <a:srgbClr val="173348"/>
      </a:accent1>
      <a:accent2>
        <a:srgbClr val="127B80"/>
      </a:accent2>
      <a:accent3>
        <a:srgbClr val="D89335"/>
      </a:accent3>
      <a:accent4>
        <a:srgbClr val="173348"/>
      </a:accent4>
      <a:accent5>
        <a:srgbClr val="536778"/>
      </a:accent5>
      <a:accent6>
        <a:srgbClr val="DCE6EC"/>
      </a:accent6>
      <a:hlink>
        <a:srgbClr val="127B80"/>
      </a:hlink>
      <a:folHlink>
        <a:srgbClr val="D89335"/>
      </a:folHlink>
    </a:clrScheme>
    <a:fontScheme name="rdd2022_beautif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dd2022_beautif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rdd2022_beautify">
  <a:themeElements>
    <a:clrScheme name="rdd2022_beautify">
      <a:dk1>
        <a:srgbClr val="173348"/>
      </a:dk1>
      <a:lt1>
        <a:srgbClr val="FFFFFF"/>
      </a:lt1>
      <a:dk2>
        <a:srgbClr val="1F497D"/>
      </a:dk2>
      <a:lt2>
        <a:srgbClr val="F2F7F7"/>
      </a:lt2>
      <a:accent1>
        <a:srgbClr val="173348"/>
      </a:accent1>
      <a:accent2>
        <a:srgbClr val="127B80"/>
      </a:accent2>
      <a:accent3>
        <a:srgbClr val="D89335"/>
      </a:accent3>
      <a:accent4>
        <a:srgbClr val="173348"/>
      </a:accent4>
      <a:accent5>
        <a:srgbClr val="536778"/>
      </a:accent5>
      <a:accent6>
        <a:srgbClr val="DCE6EC"/>
      </a:accent6>
      <a:hlink>
        <a:srgbClr val="127B80"/>
      </a:hlink>
      <a:folHlink>
        <a:srgbClr val="D89335"/>
      </a:folHlink>
    </a:clrScheme>
    <a:fontScheme name="rdd2022_beautif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dd2022_beautif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20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vi-VN</dc:language>
  <cp:lastModifiedBy/>
  <cp:revision>1</cp:revision>
  <dcterms:created xsi:type="dcterms:W3CDTF">2026-10-27T15:50:09Z</dcterms:created>
  <dcterms:modified xsi:type="dcterms:W3CDTF">2026-10-27T15:50:09Z</dcterms:modified>
  <cp:category/>
  <cp:contentStatus/>
</cp:coreProperties>
</file>