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Bài trình bày bám theo cấu trúc 20 slide, 8 phần do nhóm cung cấp và cập nhật từ bản paper đã bổ sung YOLO26n. Câu hỏi trung tâm là khi chuyển giữa ảnh thu bằng Drone và MotorBike, độ chính xác thay đổi bao nhiêu trên cùng một tập ảnh đích. Đây là nghiên cứu đánh giá thực nghiệm, với ba biến thể YOLO và ba seed; chưa đề xuất kiến trúc mới. Sơ đồ bìa biểu diễn hai miền và thiết kế đánh giá hai chiều; bằng chứng ảnh thực tế và số liệu được trình bày ở các slide tiếp theo.</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Bố cục giữ tám phần như tài liệu cau_truc.md. Phần đầu đặt vấn đề triển khai và xác định câu hỏi. Tiếp theo là dữ liệu, giao thức so sánh trên cùng tập đích, mô hình và cách huấn luyện. Phần kết quả tách hiệu năng tổng thể, độ ổn định qua seed, khác biệt theo lớp, kiểm tra độ nhạy và ảnh minh họa. Cuối cùng là giới hạn của bằng chứng và các đối chứng cần bổ sung. Các đoạn về Czech và India trong cấu trúc cũ được chuyển thành hướng nghiên cứu, vì bộ kết quả hiện tại chỉ xác nhận hai miền Drone và MotorBike.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Quan sát hai ảnh minh họa: Drone nhìn từ trên xuống, còn MotorBike nhìn dọc mặt đường. Bối cảnh cảnh quan, tỷ lệ và hình dạng biểu kiến có thể khác nhau. Đây chỉ là mô tả từ ví dụ, chưa phải kết quả đo riêng về độ sáng, kích thước hộp hay nguyên nhân suy giảm. Trong thiết kế hiện tại, góc nhìn đồng thời thay đổi với cảnh và cỡ tập huấn luyện. Vì vậy câu hỏi phù hợp là mức chênh lệch gắn với lựa chọn miền huấn luyện, được đo trên tập đích cố định. Chưa diễn giải chênh lệch đó thành tác động nhân quả của độ cao hoặc góc camera.</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Bốn RQ được giữ đúng theo paper hiện tại. RQ1 đo gap riêng trên Drone Test và MotorBike Test. RQ2 kiểm tra tính nhất quán qua ba seed ghép cặp và ba biến thể. RQ3 phân tích AP từng lớp để tránh kết luận chỉ dựa trên mAP tổng. RQ4 là phần bổ sung YOLO26n: điểm tuyệt đối có thể tăng nhưng mức phụ thuộc miền chưa chắc giảm. Giả thuyết cần kiểm chứng là lợi thế của mô hình huấn luyện trên miền đích khi hai mô hình cùng được chấm trên các ảnh đích giống hệt nhau. Không lấy hiệu năng trên hai quần thể test khác nhau để định nghĩa gap chính.</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Mục tiêu là xây dựng một so sánh mô tả có thể kiểm tra lại từ các kết quả lưu trữ. Chúng ta dùng hai miền thu nhận tại China của RDD2022, ba biến thể nano và ba seed. Mỗi model được fine-tune độc lập trên một miền, sau đó được chấm trên cả Drone Test và MotorBike Test. Phần mở rộng YOLO26n giữ cùng giao thức để xem kết luận trước đó có còn lặp lại. Nghiên cứu hiện tại không phải so sánh mọi họ detector, chưa thử thích nghi miền, và chưa cung cấp đánh giá được xác nhận trên Czech hoặc India.</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RDD2022 là nguồn dữ liệu gốc; các con số trên slide thuộc tập con khóa v4.1 của nghiên cứu. Drone có 1.680 ảnh train, 360 validation và 361 test. MotorBike có 1.383 train, 297 validation và 297 test. Tổng cộng 4.378 ảnh, trong đó 658 ảnh test. Chia tập được thực hiện theo nhóm cảnh dựa trên các liên kết được nhận diện trong đợt rà soát, nhằm giảm trùng cảnh giữa các phân vùng. Quy tắc này bảo vệ các liên kết đã phát hiện, chưa chứng minh loại bỏ hết mọi trùng cảnh tiềm ẩn. Chênh lệch cỡ tập train giữa hai miền vẫn là yếu tố gây nhiễu cần đối chứng.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Bốn nhãn đích là D00 nứt dọc, D10 nứt ngang, D20 nứt da cá sấu và D40 ổ gà. Đây là các crop từ mosaic nhãn validation lưu trong gói thực nghiệm YOLO11n seed 13, không phải ảnh mới được gán nhãn lại. Riêng D40 phóng vùng có nhãn để nhìn rõ ví dụ; không dùng hình này để suy ra phân bố kích thước. Crop D20 vẫn giữ nhãn D00 xuất hiện cùng ảnh. Các nhãn ngoài bốn lớp như Repair và Block crack đã bị lọc, không ánh xạ sang D40. Chúng ta vẫn giữ D40 trong metric chính dù số lượng hỗ trợ ít và kết quả có thể đảo chiều.</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Bảng này đếm hộp nhãn, không phải số ảnh. Drone Test có 214 hộp D00, 189 D10, 44 D20 và 17 D40; MotorBike lần lượt có 403, 165, 96 và 35. Điểm cần nhấn mạnh là D40 trên Drone chỉ có 17 hộp trong 9 ảnh, nhiều ảnh gắn với một nhóm cảnh. Do đó thay đổi AP ở lớp này có thể bị chi phối bởi ít phát hiện. Slide không đưa thống kê kích thước hộp, độ sáng hoặc độ phân giải theo miền vì nguồn hiện tại chưa đo những phân bố đó. Các yếu tố này chỉ là giả thuyết cho phân tích tiếp theo, chưa phải kết quả đã xác nhận.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Giao thức bắt đầu bằng rà soát liên kết cảnh và khóa phân vùng. Rà soát cũ ghi 735 cặp ưu tiên cao: 629 cùng cảnh, 93 khác cảnh và 13 chưa chắc chắn; số liệu này do tác giả báo cáo, chưa được tái kiểm tra độc lập ở bước làm slide. Mỗi biến thể được fine-tune trên Drone hoặc MotorBike với ba seed. Checkpoint được chọn dựa vào validation miền nguồn, không dùng test để chọn. Bảng 2×2 là trọng tâm: trong cột Drone Test, so D→D với M→D; trong cột MotorBike Test, so M→M với D→M. Cách so sánh này giữ nguyên quần thể test trong từng phép tính gap.</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Ký hiệu X là miền còn lại, Y là miền đích đang xét. Với mỗi seed, lấy mAP của model huấn luyện trên Y trừ mAP của model huấn luyện trên X, cùng đánh giá trên Test Y. Sau đó tính trung bình và độ lệch chuẩn mẫu của ba gap ghép cặp. Vì mAP được báo theo phần trăm, phép trừ có đơn vị điểm phần trăm, viết tắt pp. Giảm tương đối phần trăm cần chia cho baseline huấn luyện trên đích; nếu tính từ các mean phải ghi rõ đó là tỷ số của mean. SD mô tả độ biến động giữa ba seed, không phải khoảng tin cậy và chưa đo bất định ở cấp cảnh. mAP@50 được giữ trong paper như chỉ số bổ sung.</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 model là YOLO11n, YOLOv8n và YOLO26n, đều khởi tạo từ trọng số COCO. Cấu hình fine-tune tường minh được giữ chung: 150 epoch, ảnh 640, batch 8, SGD với lr 0,01, momentum 0,937, weight decay 0,0005, warmup 3 epoch. Các phép mosaic, mixup và HSV bị tắt; translate 0,05, scale 0,15 và fliplr 0,5 vẫn bật. Patience bằng 0 nên không gọi đây là early stopping. Ba seed giống nhau được dùng lại ở từng model và miền, không phải chín seed độc lập. Đây là so sánh ba biến thể cùng họ dưới cấu hình đã ghi, chưa bao quát các detector hoặc chế độ tối ưu khác.</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Đây là ví dụ đại diện YOLO11n huấn luyện trên Drone, ba seed 13, 37 và 71. Hai biểu đồ loss là tổng ba thành phần được ghi: box, cls và dfl. Biểu đồ phải là mAP@50:95 trên validation, không phải trên test. Các đường được vẽ trực tiếp từ CSV, không làm mượt. Điểm tròn đánh dấu mAP validation lớn nhất tại epoch 110, 92 và 111. Tất cả 18 log của nghiên cứu có 150 epoch; trên toàn bộ các lượt, vị trí đỉnh validation nằm trong khoảng 63 đến 133. Việc có đỉnh trước khi kết thúc không tự chứng minh hội tụ toàn cục hay cho phép đổi ngân sách đã dùng.</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Mỗi panel cố định một tập test. Thanh xanh đậm là model được huấn luyện trên chính miền đích; thanh nhạt là model học từ miền còn lại. Vạch sai số là SD qua ba seed, không phải CI. Trên Drone, ba mean cùng miền là 22,39; 21,41; 24,49 phần trăm, còn mean xuyên miền là 7,25; 6,55; 7,58. Trên MotorBike, mean cùng miền là 53,08; 51,25; 54,75, còn xuyên miền là 10,15; 10,01; 12,48. YOLO26n nâng mean cùng miền so với YOLOv8n thêm 3,08 và 3,50 pp. Đây là khác biệt mô tả; chưa có kiểm định để kết luận ưu thế có ý nghĩa thống kê.</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Biểu đồ hiển thị đủ 18 gap ghép cặp. Mỗi hàng có ba điểm ứng với seed 13, 37 và 71, đoạn nối chỉ biểu diễn khoảng giá trị, không phải CI. Mean gap trên Drone lần lượt là 15,13 ± 3,85; 14,86 ± 1,25; 16,91 ± 0,80 pp. Trên MotorBike là 42,94 ± 0,52; 41,24 ± 1,04; 42,27 ± 1,28 pp. Tất cả điểm đều nằm phía dương. Chênh lệch giữa hai mean gap đích đạt 25,36 đến 27,80 pp tùy model. Đây là bất đối xứng gắn với miền trong dữ liệu hiện tại, chưa cô lập tác động góc nhìn hoặc cỡ tập nguồn.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Trên MotorBike Test, D20 có lợi thế huấn luyện đúng miền rất lớn: 57,72 pp với YOLO11n, 53,21 với YOLOv8n và 56,45 với YOLO26n. Tỷ lệ giảm so với AP của baseline huấn luyện trên MotorBike lần lượt khoảng 98,30%, 96,14% và 97,34%. Tuy nhiên, xu hướng tổng thể không đúng cho mọi lớp trên mọi đích. Với D40 của Drone Test, mean gap là âm: −6,61; −9,74; −1,95 pp. Kết quả này được giữ nguyên, không sửa nhãn hoặc bỏ lớp để cải thiện metric. Vì lớp D40 trên Drone có ít hộp và ít cảnh, chưa giải thích đảo chiều bằng một cơ chế thị giác hay đặc tính kiến trúc cụ thể.</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Phần đánh giá mở rộng của cấu trúc cũ được cập nhật thành kiểm tra độ nhạy có bằng chứng hiện tại, không dùng kết quả Czech hoặc India chưa xác nhận. Clean-only giữ các ảnh không có annotation ngoài bốn lớp mục tiêu; không có nghĩa mỗi ảnh chứa đủ bốn lớp. Số ảnh còn lại là 273 Drone và 271 MotorBike. Bảng so mean gap full và clean-only; cả 18 gap clean-only theo seed vẫn dương. Với YOLO26n, mean gap clean-only là 16,59 pp trên Drone và 42,60 pp trên MotorBike. Vì quần thể ảnh đã thay đổi, không diễn giải chênh lệch full/clean như ước lượng riêng của ảnh hưởng nhãn ngoài phạm vi.</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 panel lấy từ cùng ảnh China_MotorBike_001773.jpg trong mosaic validation của YOLO11n huấn luyện trên MotorBike, seed 13. Panel trái là nhãn thật; panel phải là dự đoán và điểm tin cậy do bản lưu gốc hiển thị. Có thể quan sát sự khác nhau giữa khung/nhãn được vẽ ở vùng nứt phía dưới, nhưng chưa tổng quát thành tỷ lệ lỗi hoặc nguyên nhân suy giảm. Không gọi đây là minh họa test xuyên miền. Bộ lưu trữ hiện tại chưa cung cấp một audit FP/FN độc lập theo từng ảnh test và chưa chạy lại suy luận từ checkpoint trong lần phân tích này. Mục đích slide là cho thấy dạng đầu ra và sự cần thiết của bước kiểm chứng trực quan tiếp theo.</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Các kết quả là liên hệ mô tả giữa miền huấn luyện và hiệu năng. Cỡ tập train, cảnh, hình học thu nhận và phân bố lớp cùng biến đổi nên chưa tách tác động riêng. Ba seed và ba biến thể nano cho kiểm tra lặp lại trong phạm vi hẹp, chưa chứng minh tổng quát cho mọi detector. Rà soát cảnh chỉ kiểm soát các liên kết đã nhận diện. Một số ảnh MotorBike đã được gặp khi phân tích thăm dò trước khi khóa split, nên không tuyên bố holdout hoàn toàn chưa từng được xem. Phân tích hiện tại kiểm tra và tính lại bảng metric đã lưu, chưa độc lập chạy lại mọi checkpoint trên ảnh gốc hoặc replay audit XML. D40 hiếm và việc clean-only đổi quần thể ảnh cũng hạn chế diễn giải.</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Kết luận thứ nhất: trên tập con scene-aware khóa, model được huấn luyện đúng miền đích có lợi thế tổng thể trong cả 18 so sánh. Mean gap trên Drone là 14,86–16,91 pp, trên MotorBike là 41,24–42,94 pp. Kết luận thứ hai: ba model lặp lại xu hướng nhưng từng lớp có hành vi khác nhau, nổi bật là D20 trên MotorBike và đảo chiều D40 hiếm trên Drone. Kết luận thứ ba: YOLO26n nâng mean độ chính xác cùng miền so với YOLOv8n nhưng chưa giải quyết được gap. Đóng góp chính là một giao thức có thể kiểm tra từ kết quả theo seed trên cùng tập đích, không tuyên bố kiến trúc mới hay chứng minh nguyên nhân góc nhìn.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Ưu tiên đầu tiên là kiểm chứng độc lập: chạy lại suy luận từ checkpoint trên test gốc, lưu đầu ra từng ảnh và kiểm tra lỗi, sau đó ước lượng bất định theo cảnh. Thứ hai là cân bằng cỡ tập huấn luyện để kiểm tra vai trò lượng dữ liệu. Thu ảnh ghép cặp trên cùng đoạn đường bằng các thiết bị hoặc góc nhìn khác nhau sẽ giúp tách hình học thu nhận. Thứ ba là mở rộng Czech, India hoặc dữ liệu ngoài RDD2022, nhưng cần audit ontology nhãn trước khi gộp vào bằng chứng. Cuối cùng mới thử huấn luyện đa miền hoặc thích nghi miền và đánh giá theo đúng split, seed và metric đã khóa. Đây là hướng đề xuất, chưa phải thực nghiệm đã hoàn tất.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999" cy="59436"/>
          </a:xfrm>
          <a:prstGeom prst="rect">
            <a:avLst/>
          </a:prstGeom>
          <a:solidFill>
            <a:srgbClr val="127B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48640" y="256032"/>
            <a:ext cx="10972800" cy="228600"/>
          </a:xfrm>
          <a:prstGeom prst="rect">
            <a:avLst/>
          </a:prstGeom>
          <a:noFill/>
        </p:spPr>
        <p:txBody>
          <a:bodyPr wrap="square" lIns="0" rIns="0" tIns="0" bIns="0">
            <a:spAutoFit/>
          </a:bodyPr>
          <a:lstStyle/>
          <a:p>
            <a:pPr>
              <a:spcBef>
                <a:spcPts val="0"/>
              </a:spcBef>
              <a:spcAft>
                <a:spcPts val="500"/>
              </a:spcAft>
              <a:defRPr sz="1100" b="1">
                <a:solidFill>
                  <a:srgbClr val="127B80"/>
                </a:solidFill>
                <a:latin typeface="Arial"/>
              </a:defRPr>
            </a:pPr>
            <a:r>
              <a:t>BÁO CÁO NGHIÊN CỨU · RDD2022</a:t>
            </a:r>
          </a:p>
        </p:txBody>
      </p:sp>
      <p:sp>
        <p:nvSpPr>
          <p:cNvPr id="4" name="TextBox 3"/>
          <p:cNvSpPr txBox="1"/>
          <p:nvPr/>
        </p:nvSpPr>
        <p:spPr>
          <a:xfrm>
            <a:off x="548640" y="768096"/>
            <a:ext cx="11109960" cy="822960"/>
          </a:xfrm>
          <a:prstGeom prst="rect">
            <a:avLst/>
          </a:prstGeom>
          <a:noFill/>
        </p:spPr>
        <p:txBody>
          <a:bodyPr wrap="square" lIns="0" rIns="0" tIns="0" bIns="0">
            <a:spAutoFit/>
          </a:bodyPr>
          <a:lstStyle/>
          <a:p>
            <a:pPr>
              <a:spcBef>
                <a:spcPts val="0"/>
              </a:spcBef>
              <a:spcAft>
                <a:spcPts val="500"/>
              </a:spcAft>
              <a:defRPr sz="2700" b="1">
                <a:solidFill>
                  <a:srgbClr val="173348"/>
                </a:solidFill>
                <a:latin typeface="Arial"/>
              </a:defRPr>
            </a:pPr>
            <a:r>
              <a:t>Phát hiện hư hỏng mặt đường</a:t>
            </a:r>
          </a:p>
          <a:p>
            <a:pPr>
              <a:spcBef>
                <a:spcPts val="0"/>
              </a:spcBef>
              <a:spcAft>
                <a:spcPts val="500"/>
              </a:spcAft>
              <a:defRPr sz="2700" b="1">
                <a:solidFill>
                  <a:srgbClr val="173348"/>
                </a:solidFill>
                <a:latin typeface="Arial"/>
              </a:defRPr>
            </a:pPr>
            <a:r>
              <a:t>suy giảm bao nhiêu khi đổi miền thu nhận?</a:t>
            </a:r>
          </a:p>
        </p:txBody>
      </p:sp>
      <p:cxnSp>
        <p:nvCxnSpPr>
          <p:cNvPr id="5" name="Connector 4"/>
          <p:cNvCxnSpPr/>
          <p:nvPr/>
        </p:nvCxnSpPr>
        <p:spPr>
          <a:xfrm>
            <a:off x="548640" y="6327648"/>
            <a:ext cx="11091672" cy="0"/>
          </a:xfrm>
          <a:prstGeom prst="line">
            <a:avLst/>
          </a:prstGeom>
          <a:ln w="16510">
            <a:solidFill>
              <a:srgbClr val="DCE6EC"/>
            </a:solidFill>
          </a:ln>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548640" y="6446520"/>
            <a:ext cx="10652760" cy="274320"/>
          </a:xfrm>
          <a:prstGeom prst="rect">
            <a:avLst/>
          </a:prstGeom>
          <a:noFill/>
        </p:spPr>
        <p:txBody>
          <a:bodyPr wrap="square" lIns="0" rIns="0" tIns="0" bIns="0">
            <a:spAutoFit/>
          </a:bodyPr>
          <a:lstStyle/>
          <a:p>
            <a:pPr>
              <a:spcBef>
                <a:spcPts val="0"/>
              </a:spcBef>
              <a:spcAft>
                <a:spcPts val="500"/>
              </a:spcAft>
              <a:defRPr sz="1000" b="0">
                <a:solidFill>
                  <a:srgbClr val="536778"/>
                </a:solidFill>
                <a:latin typeface="Arial"/>
              </a:defRPr>
            </a:pPr>
            <a:r>
              <a:t>Nguồn: bản thảo hiện tại, IEEE_Paper/main.pdf · RDDD2022, 2026</a:t>
            </a:r>
          </a:p>
        </p:txBody>
      </p:sp>
      <p:sp>
        <p:nvSpPr>
          <p:cNvPr id="7" name="TextBox 6"/>
          <p:cNvSpPr txBox="1"/>
          <p:nvPr/>
        </p:nvSpPr>
        <p:spPr>
          <a:xfrm>
            <a:off x="11155680" y="6419088"/>
            <a:ext cx="484632" cy="292608"/>
          </a:xfrm>
          <a:prstGeom prst="rect">
            <a:avLst/>
          </a:prstGeom>
          <a:noFill/>
        </p:spPr>
        <p:txBody>
          <a:bodyPr wrap="square" lIns="0" rIns="0" tIns="0" bIns="0">
            <a:spAutoFit/>
          </a:bodyPr>
          <a:lstStyle/>
          <a:p>
            <a:pPr algn="r">
              <a:spcBef>
                <a:spcPts val="0"/>
              </a:spcBef>
              <a:spcAft>
                <a:spcPts val="500"/>
              </a:spcAft>
              <a:defRPr sz="1200" b="1">
                <a:solidFill>
                  <a:srgbClr val="127B80"/>
                </a:solidFill>
                <a:latin typeface="Arial"/>
              </a:defRPr>
            </a:pPr>
            <a:r>
              <a:t>01</a:t>
            </a:r>
          </a:p>
        </p:txBody>
      </p:sp>
      <p:sp>
        <p:nvSpPr>
          <p:cNvPr id="8" name="TextBox 7"/>
          <p:cNvSpPr txBox="1"/>
          <p:nvPr/>
        </p:nvSpPr>
        <p:spPr>
          <a:xfrm>
            <a:off x="594360" y="2148840"/>
            <a:ext cx="6766560" cy="685800"/>
          </a:xfrm>
          <a:prstGeom prst="rect">
            <a:avLst/>
          </a:prstGeom>
          <a:noFill/>
        </p:spPr>
        <p:txBody>
          <a:bodyPr wrap="square" lIns="0" rIns="0" tIns="0" bIns="0">
            <a:spAutoFit/>
          </a:bodyPr>
          <a:lstStyle/>
          <a:p>
            <a:pPr>
              <a:spcBef>
                <a:spcPts val="0"/>
              </a:spcBef>
              <a:spcAft>
                <a:spcPts val="500"/>
              </a:spcAft>
              <a:defRPr sz="2300" b="0">
                <a:solidFill>
                  <a:srgbClr val="127B80"/>
                </a:solidFill>
                <a:latin typeface="Arial"/>
              </a:defRPr>
            </a:pPr>
            <a:r>
              <a:t>Đánh giá hai chiều Drone–MotorBike</a:t>
            </a:r>
          </a:p>
          <a:p>
            <a:pPr>
              <a:spcBef>
                <a:spcPts val="0"/>
              </a:spcBef>
              <a:spcAft>
                <a:spcPts val="500"/>
              </a:spcAft>
              <a:defRPr sz="2300" b="0">
                <a:solidFill>
                  <a:srgbClr val="127B80"/>
                </a:solidFill>
                <a:latin typeface="Arial"/>
              </a:defRPr>
            </a:pPr>
            <a:r>
              <a:t>với YOLO11n, YOLOv8n và YOLO26n</a:t>
            </a:r>
          </a:p>
        </p:txBody>
      </p:sp>
      <p:sp>
        <p:nvSpPr>
          <p:cNvPr id="9" name="TextBox 8"/>
          <p:cNvSpPr txBox="1"/>
          <p:nvPr/>
        </p:nvSpPr>
        <p:spPr>
          <a:xfrm>
            <a:off x="594360" y="3401568"/>
            <a:ext cx="6766560" cy="731520"/>
          </a:xfrm>
          <a:prstGeom prst="rect">
            <a:avLst/>
          </a:prstGeom>
          <a:noFill/>
        </p:spPr>
        <p:txBody>
          <a:bodyPr wrap="square" lIns="0" rIns="0" tIns="0" bIns="0">
            <a:spAutoFit/>
          </a:bodyPr>
          <a:lstStyle/>
          <a:p>
            <a:pPr>
              <a:spcBef>
                <a:spcPts val="0"/>
              </a:spcBef>
              <a:spcAft>
                <a:spcPts val="500"/>
              </a:spcAft>
              <a:defRPr sz="1800" b="0">
                <a:solidFill>
                  <a:srgbClr val="173348"/>
                </a:solidFill>
                <a:latin typeface="Arial"/>
              </a:defRPr>
            </a:pPr>
            <a:r>
              <a:t>Lê Thành Luân · Phạm Bá Anh Tuấn</a:t>
            </a:r>
          </a:p>
          <a:p>
            <a:pPr>
              <a:spcBef>
                <a:spcPts val="0"/>
              </a:spcBef>
              <a:spcAft>
                <a:spcPts val="500"/>
              </a:spcAft>
              <a:defRPr sz="1800" b="0">
                <a:solidFill>
                  <a:srgbClr val="173348"/>
                </a:solidFill>
                <a:latin typeface="Arial"/>
              </a:defRPr>
            </a:pPr>
            <a:r>
              <a:t>Trường Đại học Bách khoa – Đại học Đà Nẵng</a:t>
            </a:r>
          </a:p>
        </p:txBody>
      </p:sp>
      <p:sp>
        <p:nvSpPr>
          <p:cNvPr id="10" name="TextBox 9"/>
          <p:cNvSpPr txBox="1"/>
          <p:nvPr/>
        </p:nvSpPr>
        <p:spPr>
          <a:xfrm>
            <a:off x="594360" y="4709160"/>
            <a:ext cx="6858000" cy="731520"/>
          </a:xfrm>
          <a:prstGeom prst="rect">
            <a:avLst/>
          </a:prstGeom>
          <a:noFill/>
        </p:spPr>
        <p:txBody>
          <a:bodyPr wrap="square" lIns="0" rIns="0" tIns="0" bIns="0">
            <a:spAutoFit/>
          </a:bodyPr>
          <a:lstStyle/>
          <a:p>
            <a:pPr>
              <a:spcBef>
                <a:spcPts val="0"/>
              </a:spcBef>
              <a:spcAft>
                <a:spcPts val="500"/>
              </a:spcAft>
              <a:defRPr sz="1900" b="0">
                <a:solidFill>
                  <a:srgbClr val="536778"/>
                </a:solidFill>
                <a:latin typeface="Arial"/>
              </a:defRPr>
            </a:pPr>
            <a:r>
              <a:t>Chia tập theo cảnh · Ba seed · 18 lượt huấn luyện</a:t>
            </a:r>
          </a:p>
        </p:txBody>
      </p:sp>
      <p:sp>
        <p:nvSpPr>
          <p:cNvPr id="11" name="Rectangle 10"/>
          <p:cNvSpPr/>
          <p:nvPr/>
        </p:nvSpPr>
        <p:spPr>
          <a:xfrm>
            <a:off x="8046720" y="2075688"/>
            <a:ext cx="3337560" cy="3575304"/>
          </a:xfrm>
          <a:prstGeom prst="rect">
            <a:avLst/>
          </a:prstGeom>
          <a:solidFill>
            <a:srgbClr val="EDF4F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8339327" y="2368296"/>
            <a:ext cx="2743200" cy="365760"/>
          </a:xfrm>
          <a:prstGeom prst="rect">
            <a:avLst/>
          </a:prstGeom>
          <a:noFill/>
        </p:spPr>
        <p:txBody>
          <a:bodyPr wrap="square" lIns="0" rIns="0" tIns="0" bIns="0">
            <a:spAutoFit/>
          </a:bodyPr>
          <a:lstStyle/>
          <a:p>
            <a:pPr algn="ctr">
              <a:spcBef>
                <a:spcPts val="0"/>
              </a:spcBef>
              <a:spcAft>
                <a:spcPts val="500"/>
              </a:spcAft>
              <a:defRPr sz="1300" b="1">
                <a:solidFill>
                  <a:srgbClr val="127B80"/>
                </a:solidFill>
                <a:latin typeface="Arial"/>
              </a:defRPr>
            </a:pPr>
            <a:r>
              <a:t>HAI MIỀN THU NHẬN</a:t>
            </a:r>
          </a:p>
        </p:txBody>
      </p:sp>
      <p:sp>
        <p:nvSpPr>
          <p:cNvPr id="13" name="TextBox 12"/>
          <p:cNvSpPr txBox="1"/>
          <p:nvPr/>
        </p:nvSpPr>
        <p:spPr>
          <a:xfrm>
            <a:off x="8339327" y="2907792"/>
            <a:ext cx="2743200" cy="530352"/>
          </a:xfrm>
          <a:prstGeom prst="rect">
            <a:avLst/>
          </a:prstGeom>
          <a:noFill/>
        </p:spPr>
        <p:txBody>
          <a:bodyPr wrap="square" lIns="0" rIns="0" tIns="0" bIns="0">
            <a:spAutoFit/>
          </a:bodyPr>
          <a:lstStyle/>
          <a:p>
            <a:pPr algn="ctr">
              <a:spcBef>
                <a:spcPts val="0"/>
              </a:spcBef>
              <a:spcAft>
                <a:spcPts val="500"/>
              </a:spcAft>
              <a:defRPr sz="3000" b="1">
                <a:solidFill>
                  <a:srgbClr val="173348"/>
                </a:solidFill>
                <a:latin typeface="Arial"/>
              </a:defRPr>
            </a:pPr>
            <a:r>
              <a:t>Drone</a:t>
            </a:r>
          </a:p>
        </p:txBody>
      </p:sp>
      <p:sp>
        <p:nvSpPr>
          <p:cNvPr id="14" name="TextBox 13"/>
          <p:cNvSpPr txBox="1"/>
          <p:nvPr/>
        </p:nvSpPr>
        <p:spPr>
          <a:xfrm>
            <a:off x="8339327" y="3575304"/>
            <a:ext cx="2743200" cy="576072"/>
          </a:xfrm>
          <a:prstGeom prst="rect">
            <a:avLst/>
          </a:prstGeom>
          <a:noFill/>
        </p:spPr>
        <p:txBody>
          <a:bodyPr wrap="square" lIns="0" rIns="0" tIns="0" bIns="0">
            <a:spAutoFit/>
          </a:bodyPr>
          <a:lstStyle/>
          <a:p>
            <a:pPr algn="ctr">
              <a:spcBef>
                <a:spcPts val="0"/>
              </a:spcBef>
              <a:spcAft>
                <a:spcPts val="500"/>
              </a:spcAft>
              <a:defRPr sz="3400" b="1">
                <a:solidFill>
                  <a:srgbClr val="127B80"/>
                </a:solidFill>
                <a:latin typeface="Arial"/>
              </a:defRPr>
            </a:pPr>
            <a:r>
              <a:t>↕</a:t>
            </a:r>
          </a:p>
        </p:txBody>
      </p:sp>
      <p:sp>
        <p:nvSpPr>
          <p:cNvPr id="15" name="TextBox 14"/>
          <p:cNvSpPr txBox="1"/>
          <p:nvPr/>
        </p:nvSpPr>
        <p:spPr>
          <a:xfrm>
            <a:off x="8339327" y="4279392"/>
            <a:ext cx="2743200" cy="530352"/>
          </a:xfrm>
          <a:prstGeom prst="rect">
            <a:avLst/>
          </a:prstGeom>
          <a:noFill/>
        </p:spPr>
        <p:txBody>
          <a:bodyPr wrap="square" lIns="0" rIns="0" tIns="0" bIns="0">
            <a:spAutoFit/>
          </a:bodyPr>
          <a:lstStyle/>
          <a:p>
            <a:pPr algn="ctr">
              <a:spcBef>
                <a:spcPts val="0"/>
              </a:spcBef>
              <a:spcAft>
                <a:spcPts val="500"/>
              </a:spcAft>
              <a:defRPr sz="3000" b="1">
                <a:solidFill>
                  <a:srgbClr val="173348"/>
                </a:solidFill>
                <a:latin typeface="Arial"/>
              </a:defRPr>
            </a:pPr>
            <a:r>
              <a:t>MotorBike</a:t>
            </a:r>
          </a:p>
        </p:txBody>
      </p:sp>
      <p:sp>
        <p:nvSpPr>
          <p:cNvPr id="16" name="TextBox 15"/>
          <p:cNvSpPr txBox="1"/>
          <p:nvPr/>
        </p:nvSpPr>
        <p:spPr>
          <a:xfrm>
            <a:off x="8339327" y="5093208"/>
            <a:ext cx="2743200" cy="329184"/>
          </a:xfrm>
          <a:prstGeom prst="rect">
            <a:avLst/>
          </a:prstGeom>
          <a:noFill/>
        </p:spPr>
        <p:txBody>
          <a:bodyPr wrap="square" lIns="0" rIns="0" tIns="0" bIns="0">
            <a:spAutoFit/>
          </a:bodyPr>
          <a:lstStyle/>
          <a:p>
            <a:pPr algn="ctr">
              <a:spcBef>
                <a:spcPts val="0"/>
              </a:spcBef>
              <a:spcAft>
                <a:spcPts val="500"/>
              </a:spcAft>
              <a:defRPr sz="1600" b="0">
                <a:solidFill>
                  <a:srgbClr val="127B80"/>
                </a:solidFill>
                <a:latin typeface="Arial"/>
              </a:defRPr>
            </a:pPr>
            <a:r>
              <a:t>Hai tập đích cố định</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999" cy="59436"/>
          </a:xfrm>
          <a:prstGeom prst="rect">
            <a:avLst/>
          </a:prstGeom>
          <a:solidFill>
            <a:srgbClr val="127B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48640" y="256032"/>
            <a:ext cx="10972800" cy="228600"/>
          </a:xfrm>
          <a:prstGeom prst="rect">
            <a:avLst/>
          </a:prstGeom>
          <a:noFill/>
        </p:spPr>
        <p:txBody>
          <a:bodyPr wrap="square" lIns="0" rIns="0" tIns="0" bIns="0">
            <a:spAutoFit/>
          </a:bodyPr>
          <a:lstStyle/>
          <a:p>
            <a:pPr>
              <a:spcBef>
                <a:spcPts val="0"/>
              </a:spcBef>
              <a:spcAft>
                <a:spcPts val="500"/>
              </a:spcAft>
              <a:defRPr sz="1100" b="1">
                <a:solidFill>
                  <a:srgbClr val="127B80"/>
                </a:solidFill>
                <a:latin typeface="Arial"/>
              </a:defRPr>
            </a:pPr>
            <a:r>
              <a:t>LỘ TRÌNH TRÌNH BÀY</a:t>
            </a:r>
          </a:p>
        </p:txBody>
      </p:sp>
      <p:sp>
        <p:nvSpPr>
          <p:cNvPr id="4" name="TextBox 3"/>
          <p:cNvSpPr txBox="1"/>
          <p:nvPr/>
        </p:nvSpPr>
        <p:spPr>
          <a:xfrm>
            <a:off x="548640" y="768096"/>
            <a:ext cx="11109960" cy="822960"/>
          </a:xfrm>
          <a:prstGeom prst="rect">
            <a:avLst/>
          </a:prstGeom>
          <a:noFill/>
        </p:spPr>
        <p:txBody>
          <a:bodyPr wrap="square" lIns="0" rIns="0" tIns="0" bIns="0">
            <a:spAutoFit/>
          </a:bodyPr>
          <a:lstStyle/>
          <a:p>
            <a:pPr>
              <a:spcBef>
                <a:spcPts val="0"/>
              </a:spcBef>
              <a:spcAft>
                <a:spcPts val="500"/>
              </a:spcAft>
              <a:defRPr sz="2700" b="1">
                <a:solidFill>
                  <a:srgbClr val="173348"/>
                </a:solidFill>
                <a:latin typeface="Arial"/>
              </a:defRPr>
            </a:pPr>
            <a:r>
              <a:t>Từ vấn đề triển khai đến bằng chứng thực nghiệm</a:t>
            </a:r>
          </a:p>
        </p:txBody>
      </p:sp>
      <p:cxnSp>
        <p:nvCxnSpPr>
          <p:cNvPr id="5" name="Connector 4"/>
          <p:cNvCxnSpPr/>
          <p:nvPr/>
        </p:nvCxnSpPr>
        <p:spPr>
          <a:xfrm>
            <a:off x="548640" y="6327648"/>
            <a:ext cx="11091672" cy="0"/>
          </a:xfrm>
          <a:prstGeom prst="line">
            <a:avLst/>
          </a:prstGeom>
          <a:ln w="16510">
            <a:solidFill>
              <a:srgbClr val="DCE6EC"/>
            </a:solidFill>
          </a:ln>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548640" y="6446520"/>
            <a:ext cx="10652760" cy="274320"/>
          </a:xfrm>
          <a:prstGeom prst="rect">
            <a:avLst/>
          </a:prstGeom>
          <a:noFill/>
        </p:spPr>
        <p:txBody>
          <a:bodyPr wrap="square" lIns="0" rIns="0" tIns="0" bIns="0">
            <a:spAutoFit/>
          </a:bodyPr>
          <a:lstStyle/>
          <a:p>
            <a:pPr>
              <a:spcBef>
                <a:spcPts val="0"/>
              </a:spcBef>
              <a:spcAft>
                <a:spcPts val="500"/>
              </a:spcAft>
              <a:defRPr sz="1000" b="0">
                <a:solidFill>
                  <a:srgbClr val="536778"/>
                </a:solidFill>
                <a:latin typeface="Arial"/>
              </a:defRPr>
            </a:pPr>
            <a:r>
              <a:t>RDD2022 · Đánh giá hai chiều trên cùng tập đích · Bản trình bày nghiên cứu, 2026</a:t>
            </a:r>
          </a:p>
        </p:txBody>
      </p:sp>
      <p:sp>
        <p:nvSpPr>
          <p:cNvPr id="7" name="TextBox 6"/>
          <p:cNvSpPr txBox="1"/>
          <p:nvPr/>
        </p:nvSpPr>
        <p:spPr>
          <a:xfrm>
            <a:off x="11155680" y="6419088"/>
            <a:ext cx="484632" cy="292608"/>
          </a:xfrm>
          <a:prstGeom prst="rect">
            <a:avLst/>
          </a:prstGeom>
          <a:noFill/>
        </p:spPr>
        <p:txBody>
          <a:bodyPr wrap="square" lIns="0" rIns="0" tIns="0" bIns="0">
            <a:spAutoFit/>
          </a:bodyPr>
          <a:lstStyle/>
          <a:p>
            <a:pPr algn="r">
              <a:spcBef>
                <a:spcPts val="0"/>
              </a:spcBef>
              <a:spcAft>
                <a:spcPts val="500"/>
              </a:spcAft>
              <a:defRPr sz="1200" b="1">
                <a:solidFill>
                  <a:srgbClr val="127B80"/>
                </a:solidFill>
                <a:latin typeface="Arial"/>
              </a:defRPr>
            </a:pPr>
            <a:r>
              <a:t>02</a:t>
            </a:r>
          </a:p>
        </p:txBody>
      </p:sp>
      <p:sp>
        <p:nvSpPr>
          <p:cNvPr id="8" name="TextBox 7"/>
          <p:cNvSpPr txBox="1"/>
          <p:nvPr/>
        </p:nvSpPr>
        <p:spPr>
          <a:xfrm>
            <a:off x="640080" y="1874519"/>
            <a:ext cx="548640" cy="411480"/>
          </a:xfrm>
          <a:prstGeom prst="rect">
            <a:avLst/>
          </a:prstGeom>
          <a:noFill/>
        </p:spPr>
        <p:txBody>
          <a:bodyPr wrap="square" lIns="0" rIns="0" tIns="0" bIns="0">
            <a:spAutoFit/>
          </a:bodyPr>
          <a:lstStyle/>
          <a:p>
            <a:pPr>
              <a:spcBef>
                <a:spcPts val="0"/>
              </a:spcBef>
              <a:spcAft>
                <a:spcPts val="500"/>
              </a:spcAft>
              <a:defRPr sz="2500" b="1">
                <a:solidFill>
                  <a:srgbClr val="127B80"/>
                </a:solidFill>
                <a:latin typeface="Arial"/>
              </a:defRPr>
            </a:pPr>
            <a:r>
              <a:t>01</a:t>
            </a:r>
          </a:p>
        </p:txBody>
      </p:sp>
      <p:sp>
        <p:nvSpPr>
          <p:cNvPr id="9" name="TextBox 8"/>
          <p:cNvSpPr txBox="1"/>
          <p:nvPr/>
        </p:nvSpPr>
        <p:spPr>
          <a:xfrm>
            <a:off x="1371600" y="1874519"/>
            <a:ext cx="4023360" cy="411480"/>
          </a:xfrm>
          <a:prstGeom prst="rect">
            <a:avLst/>
          </a:prstGeom>
          <a:noFill/>
        </p:spPr>
        <p:txBody>
          <a:bodyPr wrap="square" lIns="0" rIns="0" tIns="0" bIns="0">
            <a:spAutoFit/>
          </a:bodyPr>
          <a:lstStyle/>
          <a:p>
            <a:pPr>
              <a:spcBef>
                <a:spcPts val="0"/>
              </a:spcBef>
              <a:spcAft>
                <a:spcPts val="500"/>
              </a:spcAft>
              <a:defRPr sz="2100" b="0">
                <a:solidFill>
                  <a:srgbClr val="173348"/>
                </a:solidFill>
                <a:latin typeface="Arial"/>
              </a:defRPr>
            </a:pPr>
            <a:r>
              <a:t>Đặt vấn đề</a:t>
            </a:r>
          </a:p>
        </p:txBody>
      </p:sp>
      <p:sp>
        <p:nvSpPr>
          <p:cNvPr id="10" name="TextBox 9"/>
          <p:cNvSpPr txBox="1"/>
          <p:nvPr/>
        </p:nvSpPr>
        <p:spPr>
          <a:xfrm>
            <a:off x="1371600" y="2313432"/>
            <a:ext cx="4023360" cy="246888"/>
          </a:xfrm>
          <a:prstGeom prst="rect">
            <a:avLst/>
          </a:prstGeom>
          <a:noFill/>
        </p:spPr>
        <p:txBody>
          <a:bodyPr wrap="square" lIns="0" rIns="0" tIns="0" bIns="0">
            <a:spAutoFit/>
          </a:bodyPr>
          <a:lstStyle/>
          <a:p>
            <a:pPr>
              <a:spcBef>
                <a:spcPts val="0"/>
              </a:spcBef>
              <a:spcAft>
                <a:spcPts val="500"/>
              </a:spcAft>
              <a:defRPr sz="1200" b="0">
                <a:solidFill>
                  <a:srgbClr val="536778"/>
                </a:solidFill>
                <a:latin typeface="Arial"/>
              </a:defRPr>
            </a:pPr>
            <a:r>
              <a:t>Slide 03–04</a:t>
            </a:r>
          </a:p>
        </p:txBody>
      </p:sp>
      <p:sp>
        <p:nvSpPr>
          <p:cNvPr id="11" name="TextBox 10"/>
          <p:cNvSpPr txBox="1"/>
          <p:nvPr/>
        </p:nvSpPr>
        <p:spPr>
          <a:xfrm>
            <a:off x="640080" y="2862072"/>
            <a:ext cx="548640" cy="411480"/>
          </a:xfrm>
          <a:prstGeom prst="rect">
            <a:avLst/>
          </a:prstGeom>
          <a:noFill/>
        </p:spPr>
        <p:txBody>
          <a:bodyPr wrap="square" lIns="0" rIns="0" tIns="0" bIns="0">
            <a:spAutoFit/>
          </a:bodyPr>
          <a:lstStyle/>
          <a:p>
            <a:pPr>
              <a:spcBef>
                <a:spcPts val="0"/>
              </a:spcBef>
              <a:spcAft>
                <a:spcPts val="500"/>
              </a:spcAft>
              <a:defRPr sz="2500" b="1">
                <a:solidFill>
                  <a:srgbClr val="127B80"/>
                </a:solidFill>
                <a:latin typeface="Arial"/>
              </a:defRPr>
            </a:pPr>
            <a:r>
              <a:t>02</a:t>
            </a:r>
          </a:p>
        </p:txBody>
      </p:sp>
      <p:sp>
        <p:nvSpPr>
          <p:cNvPr id="12" name="TextBox 11"/>
          <p:cNvSpPr txBox="1"/>
          <p:nvPr/>
        </p:nvSpPr>
        <p:spPr>
          <a:xfrm>
            <a:off x="1371600" y="2862072"/>
            <a:ext cx="4023360" cy="411480"/>
          </a:xfrm>
          <a:prstGeom prst="rect">
            <a:avLst/>
          </a:prstGeom>
          <a:noFill/>
        </p:spPr>
        <p:txBody>
          <a:bodyPr wrap="square" lIns="0" rIns="0" tIns="0" bIns="0">
            <a:spAutoFit/>
          </a:bodyPr>
          <a:lstStyle/>
          <a:p>
            <a:pPr>
              <a:spcBef>
                <a:spcPts val="0"/>
              </a:spcBef>
              <a:spcAft>
                <a:spcPts val="500"/>
              </a:spcAft>
              <a:defRPr sz="2100" b="0">
                <a:solidFill>
                  <a:srgbClr val="173348"/>
                </a:solidFill>
                <a:latin typeface="Arial"/>
              </a:defRPr>
            </a:pPr>
            <a:r>
              <a:t>Mục tiêu nghiên cứu</a:t>
            </a:r>
          </a:p>
        </p:txBody>
      </p:sp>
      <p:sp>
        <p:nvSpPr>
          <p:cNvPr id="13" name="TextBox 12"/>
          <p:cNvSpPr txBox="1"/>
          <p:nvPr/>
        </p:nvSpPr>
        <p:spPr>
          <a:xfrm>
            <a:off x="1371600" y="3300984"/>
            <a:ext cx="4023360" cy="246888"/>
          </a:xfrm>
          <a:prstGeom prst="rect">
            <a:avLst/>
          </a:prstGeom>
          <a:noFill/>
        </p:spPr>
        <p:txBody>
          <a:bodyPr wrap="square" lIns="0" rIns="0" tIns="0" bIns="0">
            <a:spAutoFit/>
          </a:bodyPr>
          <a:lstStyle/>
          <a:p>
            <a:pPr>
              <a:spcBef>
                <a:spcPts val="0"/>
              </a:spcBef>
              <a:spcAft>
                <a:spcPts val="500"/>
              </a:spcAft>
              <a:defRPr sz="1200" b="0">
                <a:solidFill>
                  <a:srgbClr val="536778"/>
                </a:solidFill>
                <a:latin typeface="Arial"/>
              </a:defRPr>
            </a:pPr>
            <a:r>
              <a:t>Slide 05</a:t>
            </a:r>
          </a:p>
        </p:txBody>
      </p:sp>
      <p:sp>
        <p:nvSpPr>
          <p:cNvPr id="14" name="TextBox 13"/>
          <p:cNvSpPr txBox="1"/>
          <p:nvPr/>
        </p:nvSpPr>
        <p:spPr>
          <a:xfrm>
            <a:off x="640080" y="3849624"/>
            <a:ext cx="548640" cy="411480"/>
          </a:xfrm>
          <a:prstGeom prst="rect">
            <a:avLst/>
          </a:prstGeom>
          <a:noFill/>
        </p:spPr>
        <p:txBody>
          <a:bodyPr wrap="square" lIns="0" rIns="0" tIns="0" bIns="0">
            <a:spAutoFit/>
          </a:bodyPr>
          <a:lstStyle/>
          <a:p>
            <a:pPr>
              <a:spcBef>
                <a:spcPts val="0"/>
              </a:spcBef>
              <a:spcAft>
                <a:spcPts val="500"/>
              </a:spcAft>
              <a:defRPr sz="2500" b="1">
                <a:solidFill>
                  <a:srgbClr val="127B80"/>
                </a:solidFill>
                <a:latin typeface="Arial"/>
              </a:defRPr>
            </a:pPr>
            <a:r>
              <a:t>03</a:t>
            </a:r>
          </a:p>
        </p:txBody>
      </p:sp>
      <p:sp>
        <p:nvSpPr>
          <p:cNvPr id="15" name="TextBox 14"/>
          <p:cNvSpPr txBox="1"/>
          <p:nvPr/>
        </p:nvSpPr>
        <p:spPr>
          <a:xfrm>
            <a:off x="1371600" y="3849624"/>
            <a:ext cx="4023360" cy="411480"/>
          </a:xfrm>
          <a:prstGeom prst="rect">
            <a:avLst/>
          </a:prstGeom>
          <a:noFill/>
        </p:spPr>
        <p:txBody>
          <a:bodyPr wrap="square" lIns="0" rIns="0" tIns="0" bIns="0">
            <a:spAutoFit/>
          </a:bodyPr>
          <a:lstStyle/>
          <a:p>
            <a:pPr>
              <a:spcBef>
                <a:spcPts val="0"/>
              </a:spcBef>
              <a:spcAft>
                <a:spcPts val="500"/>
              </a:spcAft>
              <a:defRPr sz="2100" b="0">
                <a:solidFill>
                  <a:srgbClr val="173348"/>
                </a:solidFill>
                <a:latin typeface="Arial"/>
              </a:defRPr>
            </a:pPr>
            <a:r>
              <a:t>Dữ liệu nghiên cứu</a:t>
            </a:r>
          </a:p>
        </p:txBody>
      </p:sp>
      <p:sp>
        <p:nvSpPr>
          <p:cNvPr id="16" name="TextBox 15"/>
          <p:cNvSpPr txBox="1"/>
          <p:nvPr/>
        </p:nvSpPr>
        <p:spPr>
          <a:xfrm>
            <a:off x="1371600" y="4288536"/>
            <a:ext cx="4023360" cy="246888"/>
          </a:xfrm>
          <a:prstGeom prst="rect">
            <a:avLst/>
          </a:prstGeom>
          <a:noFill/>
        </p:spPr>
        <p:txBody>
          <a:bodyPr wrap="square" lIns="0" rIns="0" tIns="0" bIns="0">
            <a:spAutoFit/>
          </a:bodyPr>
          <a:lstStyle/>
          <a:p>
            <a:pPr>
              <a:spcBef>
                <a:spcPts val="0"/>
              </a:spcBef>
              <a:spcAft>
                <a:spcPts val="500"/>
              </a:spcAft>
              <a:defRPr sz="1200" b="0">
                <a:solidFill>
                  <a:srgbClr val="536778"/>
                </a:solidFill>
                <a:latin typeface="Arial"/>
              </a:defRPr>
            </a:pPr>
            <a:r>
              <a:t>Slide 06–08</a:t>
            </a:r>
          </a:p>
        </p:txBody>
      </p:sp>
      <p:sp>
        <p:nvSpPr>
          <p:cNvPr id="17" name="TextBox 16"/>
          <p:cNvSpPr txBox="1"/>
          <p:nvPr/>
        </p:nvSpPr>
        <p:spPr>
          <a:xfrm>
            <a:off x="640080" y="4837176"/>
            <a:ext cx="548640" cy="411480"/>
          </a:xfrm>
          <a:prstGeom prst="rect">
            <a:avLst/>
          </a:prstGeom>
          <a:noFill/>
        </p:spPr>
        <p:txBody>
          <a:bodyPr wrap="square" lIns="0" rIns="0" tIns="0" bIns="0">
            <a:spAutoFit/>
          </a:bodyPr>
          <a:lstStyle/>
          <a:p>
            <a:pPr>
              <a:spcBef>
                <a:spcPts val="0"/>
              </a:spcBef>
              <a:spcAft>
                <a:spcPts val="500"/>
              </a:spcAft>
              <a:defRPr sz="2500" b="1">
                <a:solidFill>
                  <a:srgbClr val="127B80"/>
                </a:solidFill>
                <a:latin typeface="Arial"/>
              </a:defRPr>
            </a:pPr>
            <a:r>
              <a:t>04</a:t>
            </a:r>
          </a:p>
        </p:txBody>
      </p:sp>
      <p:sp>
        <p:nvSpPr>
          <p:cNvPr id="18" name="TextBox 17"/>
          <p:cNvSpPr txBox="1"/>
          <p:nvPr/>
        </p:nvSpPr>
        <p:spPr>
          <a:xfrm>
            <a:off x="1371600" y="4837176"/>
            <a:ext cx="4023360" cy="411480"/>
          </a:xfrm>
          <a:prstGeom prst="rect">
            <a:avLst/>
          </a:prstGeom>
          <a:noFill/>
        </p:spPr>
        <p:txBody>
          <a:bodyPr wrap="square" lIns="0" rIns="0" tIns="0" bIns="0">
            <a:spAutoFit/>
          </a:bodyPr>
          <a:lstStyle/>
          <a:p>
            <a:pPr>
              <a:spcBef>
                <a:spcPts val="0"/>
              </a:spcBef>
              <a:spcAft>
                <a:spcPts val="500"/>
              </a:spcAft>
              <a:defRPr sz="2100" b="0">
                <a:solidFill>
                  <a:srgbClr val="173348"/>
                </a:solidFill>
                <a:latin typeface="Arial"/>
              </a:defRPr>
            </a:pPr>
            <a:r>
              <a:t>Phương pháp nghiên cứu</a:t>
            </a:r>
          </a:p>
        </p:txBody>
      </p:sp>
      <p:sp>
        <p:nvSpPr>
          <p:cNvPr id="19" name="TextBox 18"/>
          <p:cNvSpPr txBox="1"/>
          <p:nvPr/>
        </p:nvSpPr>
        <p:spPr>
          <a:xfrm>
            <a:off x="1371600" y="5276088"/>
            <a:ext cx="4023360" cy="246888"/>
          </a:xfrm>
          <a:prstGeom prst="rect">
            <a:avLst/>
          </a:prstGeom>
          <a:noFill/>
        </p:spPr>
        <p:txBody>
          <a:bodyPr wrap="square" lIns="0" rIns="0" tIns="0" bIns="0">
            <a:spAutoFit/>
          </a:bodyPr>
          <a:lstStyle/>
          <a:p>
            <a:pPr>
              <a:spcBef>
                <a:spcPts val="0"/>
              </a:spcBef>
              <a:spcAft>
                <a:spcPts val="500"/>
              </a:spcAft>
              <a:defRPr sz="1200" b="0">
                <a:solidFill>
                  <a:srgbClr val="536778"/>
                </a:solidFill>
                <a:latin typeface="Arial"/>
              </a:defRPr>
            </a:pPr>
            <a:r>
              <a:t>Slide 09–10</a:t>
            </a:r>
          </a:p>
        </p:txBody>
      </p:sp>
      <p:sp>
        <p:nvSpPr>
          <p:cNvPr id="20" name="TextBox 19"/>
          <p:cNvSpPr txBox="1"/>
          <p:nvPr/>
        </p:nvSpPr>
        <p:spPr>
          <a:xfrm>
            <a:off x="6400800" y="1874519"/>
            <a:ext cx="548640" cy="411480"/>
          </a:xfrm>
          <a:prstGeom prst="rect">
            <a:avLst/>
          </a:prstGeom>
          <a:noFill/>
        </p:spPr>
        <p:txBody>
          <a:bodyPr wrap="square" lIns="0" rIns="0" tIns="0" bIns="0">
            <a:spAutoFit/>
          </a:bodyPr>
          <a:lstStyle/>
          <a:p>
            <a:pPr>
              <a:spcBef>
                <a:spcPts val="0"/>
              </a:spcBef>
              <a:spcAft>
                <a:spcPts val="500"/>
              </a:spcAft>
              <a:defRPr sz="2500" b="1">
                <a:solidFill>
                  <a:srgbClr val="127B80"/>
                </a:solidFill>
                <a:latin typeface="Arial"/>
              </a:defRPr>
            </a:pPr>
            <a:r>
              <a:t>05</a:t>
            </a:r>
          </a:p>
        </p:txBody>
      </p:sp>
      <p:sp>
        <p:nvSpPr>
          <p:cNvPr id="21" name="TextBox 20"/>
          <p:cNvSpPr txBox="1"/>
          <p:nvPr/>
        </p:nvSpPr>
        <p:spPr>
          <a:xfrm>
            <a:off x="7132320" y="1874519"/>
            <a:ext cx="4023360" cy="411480"/>
          </a:xfrm>
          <a:prstGeom prst="rect">
            <a:avLst/>
          </a:prstGeom>
          <a:noFill/>
        </p:spPr>
        <p:txBody>
          <a:bodyPr wrap="square" lIns="0" rIns="0" tIns="0" bIns="0">
            <a:spAutoFit/>
          </a:bodyPr>
          <a:lstStyle/>
          <a:p>
            <a:pPr>
              <a:spcBef>
                <a:spcPts val="0"/>
              </a:spcBef>
              <a:spcAft>
                <a:spcPts val="500"/>
              </a:spcAft>
              <a:defRPr sz="2100" b="0">
                <a:solidFill>
                  <a:srgbClr val="173348"/>
                </a:solidFill>
                <a:latin typeface="Arial"/>
              </a:defRPr>
            </a:pPr>
            <a:r>
              <a:t>Mô hình và huấn luyện</a:t>
            </a:r>
          </a:p>
        </p:txBody>
      </p:sp>
      <p:sp>
        <p:nvSpPr>
          <p:cNvPr id="22" name="TextBox 21"/>
          <p:cNvSpPr txBox="1"/>
          <p:nvPr/>
        </p:nvSpPr>
        <p:spPr>
          <a:xfrm>
            <a:off x="7132320" y="2313432"/>
            <a:ext cx="4023360" cy="246888"/>
          </a:xfrm>
          <a:prstGeom prst="rect">
            <a:avLst/>
          </a:prstGeom>
          <a:noFill/>
        </p:spPr>
        <p:txBody>
          <a:bodyPr wrap="square" lIns="0" rIns="0" tIns="0" bIns="0">
            <a:spAutoFit/>
          </a:bodyPr>
          <a:lstStyle/>
          <a:p>
            <a:pPr>
              <a:spcBef>
                <a:spcPts val="0"/>
              </a:spcBef>
              <a:spcAft>
                <a:spcPts val="500"/>
              </a:spcAft>
              <a:defRPr sz="1200" b="0">
                <a:solidFill>
                  <a:srgbClr val="536778"/>
                </a:solidFill>
                <a:latin typeface="Arial"/>
              </a:defRPr>
            </a:pPr>
            <a:r>
              <a:t>Slide 11–12</a:t>
            </a:r>
          </a:p>
        </p:txBody>
      </p:sp>
      <p:sp>
        <p:nvSpPr>
          <p:cNvPr id="23" name="TextBox 22"/>
          <p:cNvSpPr txBox="1"/>
          <p:nvPr/>
        </p:nvSpPr>
        <p:spPr>
          <a:xfrm>
            <a:off x="6400800" y="2862072"/>
            <a:ext cx="548640" cy="411480"/>
          </a:xfrm>
          <a:prstGeom prst="rect">
            <a:avLst/>
          </a:prstGeom>
          <a:noFill/>
        </p:spPr>
        <p:txBody>
          <a:bodyPr wrap="square" lIns="0" rIns="0" tIns="0" bIns="0">
            <a:spAutoFit/>
          </a:bodyPr>
          <a:lstStyle/>
          <a:p>
            <a:pPr>
              <a:spcBef>
                <a:spcPts val="0"/>
              </a:spcBef>
              <a:spcAft>
                <a:spcPts val="500"/>
              </a:spcAft>
              <a:defRPr sz="2500" b="1">
                <a:solidFill>
                  <a:srgbClr val="127B80"/>
                </a:solidFill>
                <a:latin typeface="Arial"/>
              </a:defRPr>
            </a:pPr>
            <a:r>
              <a:t>06</a:t>
            </a:r>
          </a:p>
        </p:txBody>
      </p:sp>
      <p:sp>
        <p:nvSpPr>
          <p:cNvPr id="24" name="TextBox 23"/>
          <p:cNvSpPr txBox="1"/>
          <p:nvPr/>
        </p:nvSpPr>
        <p:spPr>
          <a:xfrm>
            <a:off x="7132320" y="2862072"/>
            <a:ext cx="4023360" cy="411480"/>
          </a:xfrm>
          <a:prstGeom prst="rect">
            <a:avLst/>
          </a:prstGeom>
          <a:noFill/>
        </p:spPr>
        <p:txBody>
          <a:bodyPr wrap="square" lIns="0" rIns="0" tIns="0" bIns="0">
            <a:spAutoFit/>
          </a:bodyPr>
          <a:lstStyle/>
          <a:p>
            <a:pPr>
              <a:spcBef>
                <a:spcPts val="0"/>
              </a:spcBef>
              <a:spcAft>
                <a:spcPts val="500"/>
              </a:spcAft>
              <a:defRPr sz="2100" b="0">
                <a:solidFill>
                  <a:srgbClr val="173348"/>
                </a:solidFill>
                <a:latin typeface="Arial"/>
              </a:defRPr>
            </a:pPr>
            <a:r>
              <a:t>Kết quả thực nghiệm</a:t>
            </a:r>
          </a:p>
        </p:txBody>
      </p:sp>
      <p:sp>
        <p:nvSpPr>
          <p:cNvPr id="25" name="TextBox 24"/>
          <p:cNvSpPr txBox="1"/>
          <p:nvPr/>
        </p:nvSpPr>
        <p:spPr>
          <a:xfrm>
            <a:off x="7132320" y="3300984"/>
            <a:ext cx="4023360" cy="246888"/>
          </a:xfrm>
          <a:prstGeom prst="rect">
            <a:avLst/>
          </a:prstGeom>
          <a:noFill/>
        </p:spPr>
        <p:txBody>
          <a:bodyPr wrap="square" lIns="0" rIns="0" tIns="0" bIns="0">
            <a:spAutoFit/>
          </a:bodyPr>
          <a:lstStyle/>
          <a:p>
            <a:pPr>
              <a:spcBef>
                <a:spcPts val="0"/>
              </a:spcBef>
              <a:spcAft>
                <a:spcPts val="500"/>
              </a:spcAft>
              <a:defRPr sz="1200" b="0">
                <a:solidFill>
                  <a:srgbClr val="536778"/>
                </a:solidFill>
                <a:latin typeface="Arial"/>
              </a:defRPr>
            </a:pPr>
            <a:r>
              <a:t>Slide 13–17</a:t>
            </a:r>
          </a:p>
        </p:txBody>
      </p:sp>
      <p:sp>
        <p:nvSpPr>
          <p:cNvPr id="26" name="TextBox 25"/>
          <p:cNvSpPr txBox="1"/>
          <p:nvPr/>
        </p:nvSpPr>
        <p:spPr>
          <a:xfrm>
            <a:off x="6400800" y="3849624"/>
            <a:ext cx="548640" cy="411480"/>
          </a:xfrm>
          <a:prstGeom prst="rect">
            <a:avLst/>
          </a:prstGeom>
          <a:noFill/>
        </p:spPr>
        <p:txBody>
          <a:bodyPr wrap="square" lIns="0" rIns="0" tIns="0" bIns="0">
            <a:spAutoFit/>
          </a:bodyPr>
          <a:lstStyle/>
          <a:p>
            <a:pPr>
              <a:spcBef>
                <a:spcPts val="0"/>
              </a:spcBef>
              <a:spcAft>
                <a:spcPts val="500"/>
              </a:spcAft>
              <a:defRPr sz="2500" b="1">
                <a:solidFill>
                  <a:srgbClr val="127B80"/>
                </a:solidFill>
                <a:latin typeface="Arial"/>
              </a:defRPr>
            </a:pPr>
            <a:r>
              <a:t>07</a:t>
            </a:r>
          </a:p>
        </p:txBody>
      </p:sp>
      <p:sp>
        <p:nvSpPr>
          <p:cNvPr id="27" name="TextBox 26"/>
          <p:cNvSpPr txBox="1"/>
          <p:nvPr/>
        </p:nvSpPr>
        <p:spPr>
          <a:xfrm>
            <a:off x="7132320" y="3849624"/>
            <a:ext cx="4023360" cy="411480"/>
          </a:xfrm>
          <a:prstGeom prst="rect">
            <a:avLst/>
          </a:prstGeom>
          <a:noFill/>
        </p:spPr>
        <p:txBody>
          <a:bodyPr wrap="square" lIns="0" rIns="0" tIns="0" bIns="0">
            <a:spAutoFit/>
          </a:bodyPr>
          <a:lstStyle/>
          <a:p>
            <a:pPr>
              <a:spcBef>
                <a:spcPts val="0"/>
              </a:spcBef>
              <a:spcAft>
                <a:spcPts val="500"/>
              </a:spcAft>
              <a:defRPr sz="2100" b="0">
                <a:solidFill>
                  <a:srgbClr val="173348"/>
                </a:solidFill>
                <a:latin typeface="Arial"/>
              </a:defRPr>
            </a:pPr>
            <a:r>
              <a:t>Hạn chế nghiên cứu</a:t>
            </a:r>
          </a:p>
        </p:txBody>
      </p:sp>
      <p:sp>
        <p:nvSpPr>
          <p:cNvPr id="28" name="TextBox 27"/>
          <p:cNvSpPr txBox="1"/>
          <p:nvPr/>
        </p:nvSpPr>
        <p:spPr>
          <a:xfrm>
            <a:off x="7132320" y="4288536"/>
            <a:ext cx="4023360" cy="246888"/>
          </a:xfrm>
          <a:prstGeom prst="rect">
            <a:avLst/>
          </a:prstGeom>
          <a:noFill/>
        </p:spPr>
        <p:txBody>
          <a:bodyPr wrap="square" lIns="0" rIns="0" tIns="0" bIns="0">
            <a:spAutoFit/>
          </a:bodyPr>
          <a:lstStyle/>
          <a:p>
            <a:pPr>
              <a:spcBef>
                <a:spcPts val="0"/>
              </a:spcBef>
              <a:spcAft>
                <a:spcPts val="500"/>
              </a:spcAft>
              <a:defRPr sz="1200" b="0">
                <a:solidFill>
                  <a:srgbClr val="536778"/>
                </a:solidFill>
                <a:latin typeface="Arial"/>
              </a:defRPr>
            </a:pPr>
            <a:r>
              <a:t>Slide 18</a:t>
            </a:r>
          </a:p>
        </p:txBody>
      </p:sp>
      <p:sp>
        <p:nvSpPr>
          <p:cNvPr id="29" name="TextBox 28"/>
          <p:cNvSpPr txBox="1"/>
          <p:nvPr/>
        </p:nvSpPr>
        <p:spPr>
          <a:xfrm>
            <a:off x="6400800" y="4837176"/>
            <a:ext cx="548640" cy="411480"/>
          </a:xfrm>
          <a:prstGeom prst="rect">
            <a:avLst/>
          </a:prstGeom>
          <a:noFill/>
        </p:spPr>
        <p:txBody>
          <a:bodyPr wrap="square" lIns="0" rIns="0" tIns="0" bIns="0">
            <a:spAutoFit/>
          </a:bodyPr>
          <a:lstStyle/>
          <a:p>
            <a:pPr>
              <a:spcBef>
                <a:spcPts val="0"/>
              </a:spcBef>
              <a:spcAft>
                <a:spcPts val="500"/>
              </a:spcAft>
              <a:defRPr sz="2500" b="1">
                <a:solidFill>
                  <a:srgbClr val="127B80"/>
                </a:solidFill>
                <a:latin typeface="Arial"/>
              </a:defRPr>
            </a:pPr>
            <a:r>
              <a:t>08</a:t>
            </a:r>
          </a:p>
        </p:txBody>
      </p:sp>
      <p:sp>
        <p:nvSpPr>
          <p:cNvPr id="30" name="TextBox 29"/>
          <p:cNvSpPr txBox="1"/>
          <p:nvPr/>
        </p:nvSpPr>
        <p:spPr>
          <a:xfrm>
            <a:off x="7132320" y="4837176"/>
            <a:ext cx="4023360" cy="411480"/>
          </a:xfrm>
          <a:prstGeom prst="rect">
            <a:avLst/>
          </a:prstGeom>
          <a:noFill/>
        </p:spPr>
        <p:txBody>
          <a:bodyPr wrap="square" lIns="0" rIns="0" tIns="0" bIns="0">
            <a:spAutoFit/>
          </a:bodyPr>
          <a:lstStyle/>
          <a:p>
            <a:pPr>
              <a:spcBef>
                <a:spcPts val="0"/>
              </a:spcBef>
              <a:spcAft>
                <a:spcPts val="500"/>
              </a:spcAft>
              <a:defRPr sz="2100" b="0">
                <a:solidFill>
                  <a:srgbClr val="173348"/>
                </a:solidFill>
                <a:latin typeface="Arial"/>
              </a:defRPr>
            </a:pPr>
            <a:r>
              <a:t>Kết luận và hướng phát triển</a:t>
            </a:r>
          </a:p>
        </p:txBody>
      </p:sp>
      <p:sp>
        <p:nvSpPr>
          <p:cNvPr id="31" name="TextBox 30"/>
          <p:cNvSpPr txBox="1"/>
          <p:nvPr/>
        </p:nvSpPr>
        <p:spPr>
          <a:xfrm>
            <a:off x="7132320" y="5276088"/>
            <a:ext cx="4023360" cy="246888"/>
          </a:xfrm>
          <a:prstGeom prst="rect">
            <a:avLst/>
          </a:prstGeom>
          <a:noFill/>
        </p:spPr>
        <p:txBody>
          <a:bodyPr wrap="square" lIns="0" rIns="0" tIns="0" bIns="0">
            <a:spAutoFit/>
          </a:bodyPr>
          <a:lstStyle/>
          <a:p>
            <a:pPr>
              <a:spcBef>
                <a:spcPts val="0"/>
              </a:spcBef>
              <a:spcAft>
                <a:spcPts val="500"/>
              </a:spcAft>
              <a:defRPr sz="1200" b="0">
                <a:solidFill>
                  <a:srgbClr val="536778"/>
                </a:solidFill>
                <a:latin typeface="Arial"/>
              </a:defRPr>
            </a:pPr>
            <a:r>
              <a:t>Slide 19–20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999" cy="59436"/>
          </a:xfrm>
          <a:prstGeom prst="rect">
            <a:avLst/>
          </a:prstGeom>
          <a:solidFill>
            <a:srgbClr val="127B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48640" y="256032"/>
            <a:ext cx="10972800" cy="228600"/>
          </a:xfrm>
          <a:prstGeom prst="rect">
            <a:avLst/>
          </a:prstGeom>
          <a:noFill/>
        </p:spPr>
        <p:txBody>
          <a:bodyPr wrap="square" lIns="0" rIns="0" tIns="0" bIns="0">
            <a:spAutoFit/>
          </a:bodyPr>
          <a:lstStyle/>
          <a:p>
            <a:pPr>
              <a:spcBef>
                <a:spcPts val="0"/>
              </a:spcBef>
              <a:spcAft>
                <a:spcPts val="500"/>
              </a:spcAft>
              <a:defRPr sz="1100" b="1">
                <a:solidFill>
                  <a:srgbClr val="127B80"/>
                </a:solidFill>
                <a:latin typeface="Arial"/>
              </a:defRPr>
            </a:pPr>
            <a:r>
              <a:t>01 · ĐẶT VẤN ĐỀ</a:t>
            </a:r>
          </a:p>
        </p:txBody>
      </p:sp>
      <p:sp>
        <p:nvSpPr>
          <p:cNvPr id="4" name="TextBox 3"/>
          <p:cNvSpPr txBox="1"/>
          <p:nvPr/>
        </p:nvSpPr>
        <p:spPr>
          <a:xfrm>
            <a:off x="548640" y="768096"/>
            <a:ext cx="11109960" cy="822960"/>
          </a:xfrm>
          <a:prstGeom prst="rect">
            <a:avLst/>
          </a:prstGeom>
          <a:noFill/>
        </p:spPr>
        <p:txBody>
          <a:bodyPr wrap="square" lIns="0" rIns="0" tIns="0" bIns="0">
            <a:spAutoFit/>
          </a:bodyPr>
          <a:lstStyle/>
          <a:p>
            <a:pPr>
              <a:spcBef>
                <a:spcPts val="0"/>
              </a:spcBef>
              <a:spcAft>
                <a:spcPts val="500"/>
              </a:spcAft>
              <a:defRPr sz="2700" b="1">
                <a:solidFill>
                  <a:srgbClr val="173348"/>
                </a:solidFill>
                <a:latin typeface="Arial"/>
              </a:defRPr>
            </a:pPr>
            <a:r>
              <a:t>Đổi nền tảng thu nhận làm thay đổi bối cảnh quan sát</a:t>
            </a:r>
          </a:p>
        </p:txBody>
      </p:sp>
      <p:cxnSp>
        <p:nvCxnSpPr>
          <p:cNvPr id="5" name="Connector 4"/>
          <p:cNvCxnSpPr/>
          <p:nvPr/>
        </p:nvCxnSpPr>
        <p:spPr>
          <a:xfrm>
            <a:off x="548640" y="6327648"/>
            <a:ext cx="11091672" cy="0"/>
          </a:xfrm>
          <a:prstGeom prst="line">
            <a:avLst/>
          </a:prstGeom>
          <a:ln w="16510">
            <a:solidFill>
              <a:srgbClr val="DCE6EC"/>
            </a:solidFill>
          </a:ln>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548640" y="6446520"/>
            <a:ext cx="10652760" cy="274320"/>
          </a:xfrm>
          <a:prstGeom prst="rect">
            <a:avLst/>
          </a:prstGeom>
          <a:noFill/>
        </p:spPr>
        <p:txBody>
          <a:bodyPr wrap="square" lIns="0" rIns="0" tIns="0" bIns="0">
            <a:spAutoFit/>
          </a:bodyPr>
          <a:lstStyle/>
          <a:p>
            <a:pPr>
              <a:spcBef>
                <a:spcPts val="0"/>
              </a:spcBef>
              <a:spcAft>
                <a:spcPts val="500"/>
              </a:spcAft>
              <a:defRPr sz="1000" b="0">
                <a:solidFill>
                  <a:srgbClr val="536778"/>
                </a:solidFill>
                <a:latin typeface="Arial"/>
              </a:defRPr>
            </a:pPr>
            <a:r>
              <a:t>Nguồn ảnh: YOLO11n D13/M13, run/val_batch0_labels.jpg · Ví dụ validation có nhãn gốc</a:t>
            </a:r>
          </a:p>
        </p:txBody>
      </p:sp>
      <p:sp>
        <p:nvSpPr>
          <p:cNvPr id="7" name="TextBox 6"/>
          <p:cNvSpPr txBox="1"/>
          <p:nvPr/>
        </p:nvSpPr>
        <p:spPr>
          <a:xfrm>
            <a:off x="11155680" y="6419088"/>
            <a:ext cx="484632" cy="292608"/>
          </a:xfrm>
          <a:prstGeom prst="rect">
            <a:avLst/>
          </a:prstGeom>
          <a:noFill/>
        </p:spPr>
        <p:txBody>
          <a:bodyPr wrap="square" lIns="0" rIns="0" tIns="0" bIns="0">
            <a:spAutoFit/>
          </a:bodyPr>
          <a:lstStyle/>
          <a:p>
            <a:pPr algn="r">
              <a:spcBef>
                <a:spcPts val="0"/>
              </a:spcBef>
              <a:spcAft>
                <a:spcPts val="500"/>
              </a:spcAft>
              <a:defRPr sz="1200" b="1">
                <a:solidFill>
                  <a:srgbClr val="127B80"/>
                </a:solidFill>
                <a:latin typeface="Arial"/>
              </a:defRPr>
            </a:pPr>
            <a:r>
              <a:t>03</a:t>
            </a:r>
          </a:p>
        </p:txBody>
      </p:sp>
      <p:pic>
        <p:nvPicPr>
          <p:cNvPr id="8" name="Picture 7" descr="drone_scene.png"/>
          <p:cNvPicPr>
            <a:picLocks noChangeAspect="1"/>
          </p:cNvPicPr>
          <p:nvPr/>
        </p:nvPicPr>
        <p:blipFill>
          <a:blip r:embed="rId2"/>
          <a:stretch>
            <a:fillRect/>
          </a:stretch>
        </p:blipFill>
        <p:spPr>
          <a:xfrm>
            <a:off x="822959" y="1737359"/>
            <a:ext cx="3566160" cy="3566160"/>
          </a:xfrm>
          <a:prstGeom prst="rect">
            <a:avLst/>
          </a:prstGeom>
        </p:spPr>
      </p:pic>
      <p:pic>
        <p:nvPicPr>
          <p:cNvPr id="9" name="Picture 8" descr="motorbike_scene.png"/>
          <p:cNvPicPr>
            <a:picLocks noChangeAspect="1"/>
          </p:cNvPicPr>
          <p:nvPr/>
        </p:nvPicPr>
        <p:blipFill>
          <a:blip r:embed="rId3"/>
          <a:stretch>
            <a:fillRect/>
          </a:stretch>
        </p:blipFill>
        <p:spPr>
          <a:xfrm>
            <a:off x="4663440" y="1737359"/>
            <a:ext cx="3566160" cy="3566160"/>
          </a:xfrm>
          <a:prstGeom prst="rect">
            <a:avLst/>
          </a:prstGeom>
        </p:spPr>
      </p:pic>
      <p:sp>
        <p:nvSpPr>
          <p:cNvPr id="10" name="TextBox 9"/>
          <p:cNvSpPr txBox="1"/>
          <p:nvPr/>
        </p:nvSpPr>
        <p:spPr>
          <a:xfrm>
            <a:off x="914400" y="5376672"/>
            <a:ext cx="3383280" cy="365760"/>
          </a:xfrm>
          <a:prstGeom prst="rect">
            <a:avLst/>
          </a:prstGeom>
          <a:noFill/>
        </p:spPr>
        <p:txBody>
          <a:bodyPr wrap="square" lIns="0" rIns="0" tIns="0" bIns="0">
            <a:spAutoFit/>
          </a:bodyPr>
          <a:lstStyle/>
          <a:p>
            <a:pPr>
              <a:spcBef>
                <a:spcPts val="0"/>
              </a:spcBef>
              <a:spcAft>
                <a:spcPts val="500"/>
              </a:spcAft>
              <a:defRPr sz="1800" b="1">
                <a:solidFill>
                  <a:srgbClr val="127B80"/>
                </a:solidFill>
                <a:latin typeface="Arial"/>
              </a:defRPr>
            </a:pPr>
            <a:r>
              <a:t>Drone · góc nhìn từ trên</a:t>
            </a:r>
          </a:p>
        </p:txBody>
      </p:sp>
      <p:sp>
        <p:nvSpPr>
          <p:cNvPr id="11" name="TextBox 10"/>
          <p:cNvSpPr txBox="1"/>
          <p:nvPr/>
        </p:nvSpPr>
        <p:spPr>
          <a:xfrm>
            <a:off x="4754880" y="5376672"/>
            <a:ext cx="3383280" cy="365760"/>
          </a:xfrm>
          <a:prstGeom prst="rect">
            <a:avLst/>
          </a:prstGeom>
          <a:noFill/>
        </p:spPr>
        <p:txBody>
          <a:bodyPr wrap="square" lIns="0" rIns="0" tIns="0" bIns="0">
            <a:spAutoFit/>
          </a:bodyPr>
          <a:lstStyle/>
          <a:p>
            <a:pPr>
              <a:spcBef>
                <a:spcPts val="0"/>
              </a:spcBef>
              <a:spcAft>
                <a:spcPts val="500"/>
              </a:spcAft>
              <a:defRPr sz="1800" b="1">
                <a:solidFill>
                  <a:srgbClr val="127B80"/>
                </a:solidFill>
                <a:latin typeface="Arial"/>
              </a:defRPr>
            </a:pPr>
            <a:r>
              <a:t>MotorBike · góc nhìn mặt đường</a:t>
            </a:r>
          </a:p>
        </p:txBody>
      </p:sp>
      <p:sp>
        <p:nvSpPr>
          <p:cNvPr id="12" name="TextBox 11"/>
          <p:cNvSpPr txBox="1"/>
          <p:nvPr/>
        </p:nvSpPr>
        <p:spPr>
          <a:xfrm>
            <a:off x="8778240" y="2011680"/>
            <a:ext cx="2514600" cy="2651760"/>
          </a:xfrm>
          <a:prstGeom prst="rect">
            <a:avLst/>
          </a:prstGeom>
          <a:noFill/>
        </p:spPr>
        <p:txBody>
          <a:bodyPr wrap="square" lIns="0" rIns="0" tIns="0" bIns="0">
            <a:spAutoFit/>
          </a:bodyPr>
          <a:lstStyle/>
          <a:p>
            <a:pPr>
              <a:spcBef>
                <a:spcPts val="0"/>
              </a:spcBef>
              <a:spcAft>
                <a:spcPts val="500"/>
              </a:spcAft>
              <a:defRPr sz="2100" b="0">
                <a:solidFill>
                  <a:srgbClr val="173348"/>
                </a:solidFill>
                <a:latin typeface="Arial"/>
              </a:defRPr>
            </a:pPr>
            <a:r>
              <a:t>Cùng bài toán</a:t>
            </a:r>
          </a:p>
          <a:p>
            <a:pPr>
              <a:spcBef>
                <a:spcPts val="0"/>
              </a:spcBef>
              <a:spcAft>
                <a:spcPts val="500"/>
              </a:spcAft>
              <a:defRPr sz="2100" b="0">
                <a:solidFill>
                  <a:srgbClr val="173348"/>
                </a:solidFill>
                <a:latin typeface="Arial"/>
              </a:defRPr>
            </a:pPr>
            <a:r>
              <a:t>Khác góc nhìn</a:t>
            </a:r>
          </a:p>
          <a:p>
            <a:pPr>
              <a:spcBef>
                <a:spcPts val="0"/>
              </a:spcBef>
              <a:spcAft>
                <a:spcPts val="500"/>
              </a:spcAft>
              <a:defRPr sz="2100" b="0">
                <a:solidFill>
                  <a:srgbClr val="173348"/>
                </a:solidFill>
                <a:latin typeface="Arial"/>
              </a:defRPr>
            </a:pPr>
            <a:r>
              <a:t>Khác cảnh</a:t>
            </a:r>
          </a:p>
          <a:p>
            <a:pPr>
              <a:spcBef>
                <a:spcPts val="0"/>
              </a:spcBef>
              <a:spcAft>
                <a:spcPts val="500"/>
              </a:spcAft>
              <a:defRPr sz="2100" b="0">
                <a:solidFill>
                  <a:srgbClr val="173348"/>
                </a:solidFill>
                <a:latin typeface="Arial"/>
              </a:defRPr>
            </a:pPr>
            <a:r>
              <a:t>Khác phân bố dữ liệu</a:t>
            </a:r>
          </a:p>
        </p:txBody>
      </p:sp>
      <p:sp>
        <p:nvSpPr>
          <p:cNvPr id="13" name="Rectangle 12"/>
          <p:cNvSpPr/>
          <p:nvPr/>
        </p:nvSpPr>
        <p:spPr>
          <a:xfrm>
            <a:off x="548640" y="5806440"/>
            <a:ext cx="11091672" cy="365760"/>
          </a:xfrm>
          <a:prstGeom prst="rect">
            <a:avLst/>
          </a:prstGeom>
          <a:solidFill>
            <a:srgbClr val="EDF4F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713232" y="5856731"/>
            <a:ext cx="10744200" cy="274320"/>
          </a:xfrm>
          <a:prstGeom prst="rect">
            <a:avLst/>
          </a:prstGeom>
          <a:noFill/>
        </p:spPr>
        <p:txBody>
          <a:bodyPr wrap="square" lIns="0" rIns="0" tIns="0" bIns="0">
            <a:spAutoFit/>
          </a:bodyPr>
          <a:lstStyle/>
          <a:p>
            <a:pPr>
              <a:spcBef>
                <a:spcPts val="0"/>
              </a:spcBef>
              <a:spcAft>
                <a:spcPts val="500"/>
              </a:spcAft>
              <a:defRPr sz="1500" b="1">
                <a:solidFill>
                  <a:srgbClr val="127B80"/>
                </a:solidFill>
                <a:latin typeface="Arial"/>
              </a:defRPr>
            </a:pPr>
            <a:r>
              <a:t>Hiệu năng trên dữ liệu giống miền huấn luyện chưa đủ để bảo đảm khi triển khai sang miền khác.</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999" cy="59436"/>
          </a:xfrm>
          <a:prstGeom prst="rect">
            <a:avLst/>
          </a:prstGeom>
          <a:solidFill>
            <a:srgbClr val="127B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48640" y="256032"/>
            <a:ext cx="10972800" cy="228600"/>
          </a:xfrm>
          <a:prstGeom prst="rect">
            <a:avLst/>
          </a:prstGeom>
          <a:noFill/>
        </p:spPr>
        <p:txBody>
          <a:bodyPr wrap="square" lIns="0" rIns="0" tIns="0" bIns="0">
            <a:spAutoFit/>
          </a:bodyPr>
          <a:lstStyle/>
          <a:p>
            <a:pPr>
              <a:spcBef>
                <a:spcPts val="0"/>
              </a:spcBef>
              <a:spcAft>
                <a:spcPts val="500"/>
              </a:spcAft>
              <a:defRPr sz="1100" b="1">
                <a:solidFill>
                  <a:srgbClr val="127B80"/>
                </a:solidFill>
                <a:latin typeface="Arial"/>
              </a:defRPr>
            </a:pPr>
            <a:r>
              <a:t>01 · ĐẶT VẤN ĐỀ</a:t>
            </a:r>
          </a:p>
        </p:txBody>
      </p:sp>
      <p:sp>
        <p:nvSpPr>
          <p:cNvPr id="4" name="TextBox 3"/>
          <p:cNvSpPr txBox="1"/>
          <p:nvPr/>
        </p:nvSpPr>
        <p:spPr>
          <a:xfrm>
            <a:off x="548640" y="768096"/>
            <a:ext cx="11109960" cy="822960"/>
          </a:xfrm>
          <a:prstGeom prst="rect">
            <a:avLst/>
          </a:prstGeom>
          <a:noFill/>
        </p:spPr>
        <p:txBody>
          <a:bodyPr wrap="square" lIns="0" rIns="0" tIns="0" bIns="0">
            <a:spAutoFit/>
          </a:bodyPr>
          <a:lstStyle/>
          <a:p>
            <a:pPr>
              <a:spcBef>
                <a:spcPts val="0"/>
              </a:spcBef>
              <a:spcAft>
                <a:spcPts val="500"/>
              </a:spcAft>
              <a:defRPr sz="2700" b="1">
                <a:solidFill>
                  <a:srgbClr val="173348"/>
                </a:solidFill>
                <a:latin typeface="Arial"/>
              </a:defRPr>
            </a:pPr>
            <a:r>
              <a:t>Bốn câu hỏi cần trả lời bằng cùng một giao thức</a:t>
            </a:r>
          </a:p>
        </p:txBody>
      </p:sp>
      <p:cxnSp>
        <p:nvCxnSpPr>
          <p:cNvPr id="5" name="Connector 4"/>
          <p:cNvCxnSpPr/>
          <p:nvPr/>
        </p:nvCxnSpPr>
        <p:spPr>
          <a:xfrm>
            <a:off x="548640" y="6327648"/>
            <a:ext cx="11091672" cy="0"/>
          </a:xfrm>
          <a:prstGeom prst="line">
            <a:avLst/>
          </a:prstGeom>
          <a:ln w="16510">
            <a:solidFill>
              <a:srgbClr val="DCE6EC"/>
            </a:solidFill>
          </a:ln>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548640" y="6446520"/>
            <a:ext cx="10652760" cy="274320"/>
          </a:xfrm>
          <a:prstGeom prst="rect">
            <a:avLst/>
          </a:prstGeom>
          <a:noFill/>
        </p:spPr>
        <p:txBody>
          <a:bodyPr wrap="square" lIns="0" rIns="0" tIns="0" bIns="0">
            <a:spAutoFit/>
          </a:bodyPr>
          <a:lstStyle/>
          <a:p>
            <a:pPr>
              <a:spcBef>
                <a:spcPts val="0"/>
              </a:spcBef>
              <a:spcAft>
                <a:spcPts val="500"/>
              </a:spcAft>
              <a:defRPr sz="1000" b="0">
                <a:solidFill>
                  <a:srgbClr val="536778"/>
                </a:solidFill>
                <a:latin typeface="Arial"/>
              </a:defRPr>
            </a:pPr>
            <a:r>
              <a:t>Nguồn: paper hiện tại, phần I · RQ1–RQ4</a:t>
            </a:r>
          </a:p>
        </p:txBody>
      </p:sp>
      <p:sp>
        <p:nvSpPr>
          <p:cNvPr id="7" name="TextBox 6"/>
          <p:cNvSpPr txBox="1"/>
          <p:nvPr/>
        </p:nvSpPr>
        <p:spPr>
          <a:xfrm>
            <a:off x="11155680" y="6419088"/>
            <a:ext cx="484632" cy="292608"/>
          </a:xfrm>
          <a:prstGeom prst="rect">
            <a:avLst/>
          </a:prstGeom>
          <a:noFill/>
        </p:spPr>
        <p:txBody>
          <a:bodyPr wrap="square" lIns="0" rIns="0" tIns="0" bIns="0">
            <a:spAutoFit/>
          </a:bodyPr>
          <a:lstStyle/>
          <a:p>
            <a:pPr algn="r">
              <a:spcBef>
                <a:spcPts val="0"/>
              </a:spcBef>
              <a:spcAft>
                <a:spcPts val="500"/>
              </a:spcAft>
              <a:defRPr sz="1200" b="1">
                <a:solidFill>
                  <a:srgbClr val="127B80"/>
                </a:solidFill>
                <a:latin typeface="Arial"/>
              </a:defRPr>
            </a:pPr>
            <a:r>
              <a:t>04</a:t>
            </a:r>
          </a:p>
        </p:txBody>
      </p:sp>
      <p:sp>
        <p:nvSpPr>
          <p:cNvPr id="8" name="TextBox 7"/>
          <p:cNvSpPr txBox="1"/>
          <p:nvPr/>
        </p:nvSpPr>
        <p:spPr>
          <a:xfrm>
            <a:off x="731520" y="1810512"/>
            <a:ext cx="914400" cy="411480"/>
          </a:xfrm>
          <a:prstGeom prst="rect">
            <a:avLst/>
          </a:prstGeom>
          <a:noFill/>
        </p:spPr>
        <p:txBody>
          <a:bodyPr wrap="square" lIns="0" rIns="0" tIns="0" bIns="0">
            <a:spAutoFit/>
          </a:bodyPr>
          <a:lstStyle/>
          <a:p>
            <a:pPr>
              <a:spcBef>
                <a:spcPts val="0"/>
              </a:spcBef>
              <a:spcAft>
                <a:spcPts val="500"/>
              </a:spcAft>
              <a:defRPr sz="2300" b="1">
                <a:solidFill>
                  <a:srgbClr val="127B80"/>
                </a:solidFill>
                <a:latin typeface="Arial"/>
              </a:defRPr>
            </a:pPr>
            <a:r>
              <a:t>RQ1</a:t>
            </a:r>
          </a:p>
        </p:txBody>
      </p:sp>
      <p:sp>
        <p:nvSpPr>
          <p:cNvPr id="9" name="TextBox 8"/>
          <p:cNvSpPr txBox="1"/>
          <p:nvPr/>
        </p:nvSpPr>
        <p:spPr>
          <a:xfrm>
            <a:off x="1828800" y="1810512"/>
            <a:ext cx="9326880" cy="658368"/>
          </a:xfrm>
          <a:prstGeom prst="rect">
            <a:avLst/>
          </a:prstGeom>
          <a:noFill/>
        </p:spPr>
        <p:txBody>
          <a:bodyPr wrap="square" lIns="0" rIns="0" tIns="0" bIns="0">
            <a:spAutoFit/>
          </a:bodyPr>
          <a:lstStyle/>
          <a:p>
            <a:pPr>
              <a:spcBef>
                <a:spcPts val="0"/>
              </a:spcBef>
              <a:spcAft>
                <a:spcPts val="500"/>
              </a:spcAft>
              <a:defRPr sz="2300" b="0">
                <a:solidFill>
                  <a:srgbClr val="173348"/>
                </a:solidFill>
                <a:latin typeface="Arial"/>
              </a:defRPr>
            </a:pPr>
            <a:r>
              <a:t>Gap lớn bao nhiêu và có bất đối xứng giữa hai tập đích?</a:t>
            </a:r>
          </a:p>
        </p:txBody>
      </p:sp>
      <p:cxnSp>
        <p:nvCxnSpPr>
          <p:cNvPr id="10" name="Connector 9"/>
          <p:cNvCxnSpPr/>
          <p:nvPr/>
        </p:nvCxnSpPr>
        <p:spPr>
          <a:xfrm>
            <a:off x="1828800" y="2523744"/>
            <a:ext cx="9509760" cy="0"/>
          </a:xfrm>
          <a:prstGeom prst="line">
            <a:avLst/>
          </a:prstGeom>
          <a:ln w="16510">
            <a:solidFill>
              <a:srgbClr val="DCE6EC"/>
            </a:solidFill>
          </a:ln>
        </p:spPr>
        <p:style>
          <a:lnRef idx="2">
            <a:schemeClr val="accent1"/>
          </a:lnRef>
          <a:fillRef idx="0">
            <a:schemeClr val="accent1"/>
          </a:fillRef>
          <a:effectRef idx="0">
            <a:schemeClr val="accent1"/>
          </a:effectRef>
          <a:fontRef idx="minor">
            <a:schemeClr val="tx1"/>
          </a:fontRef>
        </p:style>
      </p:cxnSp>
      <p:sp>
        <p:nvSpPr>
          <p:cNvPr id="11" name="TextBox 10"/>
          <p:cNvSpPr txBox="1"/>
          <p:nvPr/>
        </p:nvSpPr>
        <p:spPr>
          <a:xfrm>
            <a:off x="731520" y="2688336"/>
            <a:ext cx="914400" cy="411480"/>
          </a:xfrm>
          <a:prstGeom prst="rect">
            <a:avLst/>
          </a:prstGeom>
          <a:noFill/>
        </p:spPr>
        <p:txBody>
          <a:bodyPr wrap="square" lIns="0" rIns="0" tIns="0" bIns="0">
            <a:spAutoFit/>
          </a:bodyPr>
          <a:lstStyle/>
          <a:p>
            <a:pPr>
              <a:spcBef>
                <a:spcPts val="0"/>
              </a:spcBef>
              <a:spcAft>
                <a:spcPts val="500"/>
              </a:spcAft>
              <a:defRPr sz="2300" b="1">
                <a:solidFill>
                  <a:srgbClr val="127B80"/>
                </a:solidFill>
                <a:latin typeface="Arial"/>
              </a:defRPr>
            </a:pPr>
            <a:r>
              <a:t>RQ2</a:t>
            </a:r>
          </a:p>
        </p:txBody>
      </p:sp>
      <p:sp>
        <p:nvSpPr>
          <p:cNvPr id="12" name="TextBox 11"/>
          <p:cNvSpPr txBox="1"/>
          <p:nvPr/>
        </p:nvSpPr>
        <p:spPr>
          <a:xfrm>
            <a:off x="1828800" y="2688336"/>
            <a:ext cx="9326880" cy="658368"/>
          </a:xfrm>
          <a:prstGeom prst="rect">
            <a:avLst/>
          </a:prstGeom>
          <a:noFill/>
        </p:spPr>
        <p:txBody>
          <a:bodyPr wrap="square" lIns="0" rIns="0" tIns="0" bIns="0">
            <a:spAutoFit/>
          </a:bodyPr>
          <a:lstStyle/>
          <a:p>
            <a:pPr>
              <a:spcBef>
                <a:spcPts val="0"/>
              </a:spcBef>
              <a:spcAft>
                <a:spcPts val="500"/>
              </a:spcAft>
              <a:defRPr sz="2300" b="0">
                <a:solidFill>
                  <a:srgbClr val="173348"/>
                </a:solidFill>
                <a:latin typeface="Arial"/>
              </a:defRPr>
            </a:pPr>
            <a:r>
              <a:t>Chiều và độ lớn gap có ổn định qua seed và ba model?</a:t>
            </a:r>
          </a:p>
        </p:txBody>
      </p:sp>
      <p:cxnSp>
        <p:nvCxnSpPr>
          <p:cNvPr id="13" name="Connector 12"/>
          <p:cNvCxnSpPr/>
          <p:nvPr/>
        </p:nvCxnSpPr>
        <p:spPr>
          <a:xfrm>
            <a:off x="1828800" y="3401568"/>
            <a:ext cx="9509760" cy="0"/>
          </a:xfrm>
          <a:prstGeom prst="line">
            <a:avLst/>
          </a:prstGeom>
          <a:ln w="16510">
            <a:solidFill>
              <a:srgbClr val="DCE6EC"/>
            </a:solidFill>
          </a:ln>
        </p:spPr>
        <p:style>
          <a:lnRef idx="2">
            <a:schemeClr val="accent1"/>
          </a:lnRef>
          <a:fillRef idx="0">
            <a:schemeClr val="accent1"/>
          </a:fillRef>
          <a:effectRef idx="0">
            <a:schemeClr val="accent1"/>
          </a:effectRef>
          <a:fontRef idx="minor">
            <a:schemeClr val="tx1"/>
          </a:fontRef>
        </p:style>
      </p:cxnSp>
      <p:sp>
        <p:nvSpPr>
          <p:cNvPr id="14" name="TextBox 13"/>
          <p:cNvSpPr txBox="1"/>
          <p:nvPr/>
        </p:nvSpPr>
        <p:spPr>
          <a:xfrm>
            <a:off x="731520" y="3566160"/>
            <a:ext cx="914400" cy="411480"/>
          </a:xfrm>
          <a:prstGeom prst="rect">
            <a:avLst/>
          </a:prstGeom>
          <a:noFill/>
        </p:spPr>
        <p:txBody>
          <a:bodyPr wrap="square" lIns="0" rIns="0" tIns="0" bIns="0">
            <a:spAutoFit/>
          </a:bodyPr>
          <a:lstStyle/>
          <a:p>
            <a:pPr>
              <a:spcBef>
                <a:spcPts val="0"/>
              </a:spcBef>
              <a:spcAft>
                <a:spcPts val="500"/>
              </a:spcAft>
              <a:defRPr sz="2300" b="1">
                <a:solidFill>
                  <a:srgbClr val="127B80"/>
                </a:solidFill>
                <a:latin typeface="Arial"/>
              </a:defRPr>
            </a:pPr>
            <a:r>
              <a:t>RQ3</a:t>
            </a:r>
          </a:p>
        </p:txBody>
      </p:sp>
      <p:sp>
        <p:nvSpPr>
          <p:cNvPr id="15" name="TextBox 14"/>
          <p:cNvSpPr txBox="1"/>
          <p:nvPr/>
        </p:nvSpPr>
        <p:spPr>
          <a:xfrm>
            <a:off x="1828800" y="3566160"/>
            <a:ext cx="9326880" cy="658368"/>
          </a:xfrm>
          <a:prstGeom prst="rect">
            <a:avLst/>
          </a:prstGeom>
          <a:noFill/>
        </p:spPr>
        <p:txBody>
          <a:bodyPr wrap="square" lIns="0" rIns="0" tIns="0" bIns="0">
            <a:spAutoFit/>
          </a:bodyPr>
          <a:lstStyle/>
          <a:p>
            <a:pPr>
              <a:spcBef>
                <a:spcPts val="0"/>
              </a:spcBef>
              <a:spcAft>
                <a:spcPts val="500"/>
              </a:spcAft>
              <a:defRPr sz="2300" b="0">
                <a:solidFill>
                  <a:srgbClr val="173348"/>
                </a:solidFill>
                <a:latin typeface="Arial"/>
              </a:defRPr>
            </a:pPr>
            <a:r>
              <a:t>D00, D10, D20, D40 suy giảm khác nhau như thế nào?</a:t>
            </a:r>
          </a:p>
        </p:txBody>
      </p:sp>
      <p:cxnSp>
        <p:nvCxnSpPr>
          <p:cNvPr id="16" name="Connector 15"/>
          <p:cNvCxnSpPr/>
          <p:nvPr/>
        </p:nvCxnSpPr>
        <p:spPr>
          <a:xfrm>
            <a:off x="1828800" y="4279392"/>
            <a:ext cx="9509760" cy="0"/>
          </a:xfrm>
          <a:prstGeom prst="line">
            <a:avLst/>
          </a:prstGeom>
          <a:ln w="16510">
            <a:solidFill>
              <a:srgbClr val="DCE6EC"/>
            </a:solidFill>
          </a:ln>
        </p:spPr>
        <p:style>
          <a:lnRef idx="2">
            <a:schemeClr val="accent1"/>
          </a:lnRef>
          <a:fillRef idx="0">
            <a:schemeClr val="accent1"/>
          </a:fillRef>
          <a:effectRef idx="0">
            <a:schemeClr val="accent1"/>
          </a:effectRef>
          <a:fontRef idx="minor">
            <a:schemeClr val="tx1"/>
          </a:fontRef>
        </p:style>
      </p:cxnSp>
      <p:sp>
        <p:nvSpPr>
          <p:cNvPr id="17" name="TextBox 16"/>
          <p:cNvSpPr txBox="1"/>
          <p:nvPr/>
        </p:nvSpPr>
        <p:spPr>
          <a:xfrm>
            <a:off x="731520" y="4443983"/>
            <a:ext cx="914400" cy="411480"/>
          </a:xfrm>
          <a:prstGeom prst="rect">
            <a:avLst/>
          </a:prstGeom>
          <a:noFill/>
        </p:spPr>
        <p:txBody>
          <a:bodyPr wrap="square" lIns="0" rIns="0" tIns="0" bIns="0">
            <a:spAutoFit/>
          </a:bodyPr>
          <a:lstStyle/>
          <a:p>
            <a:pPr>
              <a:spcBef>
                <a:spcPts val="0"/>
              </a:spcBef>
              <a:spcAft>
                <a:spcPts val="500"/>
              </a:spcAft>
              <a:defRPr sz="2300" b="1">
                <a:solidFill>
                  <a:srgbClr val="127B80"/>
                </a:solidFill>
                <a:latin typeface="Arial"/>
              </a:defRPr>
            </a:pPr>
            <a:r>
              <a:t>RQ4</a:t>
            </a:r>
          </a:p>
        </p:txBody>
      </p:sp>
      <p:sp>
        <p:nvSpPr>
          <p:cNvPr id="18" name="TextBox 17"/>
          <p:cNvSpPr txBox="1"/>
          <p:nvPr/>
        </p:nvSpPr>
        <p:spPr>
          <a:xfrm>
            <a:off x="1828800" y="4443983"/>
            <a:ext cx="9326880" cy="658368"/>
          </a:xfrm>
          <a:prstGeom prst="rect">
            <a:avLst/>
          </a:prstGeom>
          <a:noFill/>
        </p:spPr>
        <p:txBody>
          <a:bodyPr wrap="square" lIns="0" rIns="0" tIns="0" bIns="0">
            <a:spAutoFit/>
          </a:bodyPr>
          <a:lstStyle/>
          <a:p>
            <a:pPr>
              <a:spcBef>
                <a:spcPts val="0"/>
              </a:spcBef>
              <a:spcAft>
                <a:spcPts val="500"/>
              </a:spcAft>
              <a:defRPr sz="2300" b="0">
                <a:solidFill>
                  <a:srgbClr val="173348"/>
                </a:solidFill>
                <a:latin typeface="Arial"/>
              </a:defRPr>
            </a:pPr>
            <a:r>
              <a:t>YOLO26n tăng độ chính xác tuyệt đối có làm giảm gap?</a:t>
            </a:r>
          </a:p>
        </p:txBody>
      </p:sp>
      <p:cxnSp>
        <p:nvCxnSpPr>
          <p:cNvPr id="19" name="Connector 18"/>
          <p:cNvCxnSpPr/>
          <p:nvPr/>
        </p:nvCxnSpPr>
        <p:spPr>
          <a:xfrm>
            <a:off x="1828800" y="5157216"/>
            <a:ext cx="9509760" cy="0"/>
          </a:xfrm>
          <a:prstGeom prst="line">
            <a:avLst/>
          </a:prstGeom>
          <a:ln w="16510">
            <a:solidFill>
              <a:srgbClr val="DCE6EC"/>
            </a:solidFill>
          </a:ln>
        </p:spPr>
        <p:style>
          <a:lnRef idx="2">
            <a:schemeClr val="accent1"/>
          </a:lnRef>
          <a:fillRef idx="0">
            <a:schemeClr val="accent1"/>
          </a:fillRef>
          <a:effectRef idx="0">
            <a:schemeClr val="accent1"/>
          </a:effectRef>
          <a:fontRef idx="minor">
            <a:schemeClr val="tx1"/>
          </a:fontRef>
        </p:style>
      </p:cxnSp>
      <p:sp>
        <p:nvSpPr>
          <p:cNvPr id="20" name="Rectangle 19"/>
          <p:cNvSpPr/>
          <p:nvPr/>
        </p:nvSpPr>
        <p:spPr>
          <a:xfrm>
            <a:off x="548640" y="5806440"/>
            <a:ext cx="11091672" cy="365760"/>
          </a:xfrm>
          <a:prstGeom prst="rect">
            <a:avLst/>
          </a:prstGeom>
          <a:solidFill>
            <a:srgbClr val="EDF4F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713232" y="5856731"/>
            <a:ext cx="10744200" cy="274320"/>
          </a:xfrm>
          <a:prstGeom prst="rect">
            <a:avLst/>
          </a:prstGeom>
          <a:noFill/>
        </p:spPr>
        <p:txBody>
          <a:bodyPr wrap="square" lIns="0" rIns="0" tIns="0" bIns="0">
            <a:spAutoFit/>
          </a:bodyPr>
          <a:lstStyle/>
          <a:p>
            <a:pPr>
              <a:spcBef>
                <a:spcPts val="0"/>
              </a:spcBef>
              <a:spcAft>
                <a:spcPts val="500"/>
              </a:spcAft>
              <a:defRPr sz="1500" b="1">
                <a:solidFill>
                  <a:srgbClr val="127B80"/>
                </a:solidFill>
                <a:latin typeface="Arial"/>
              </a:defRPr>
            </a:pPr>
            <a:r>
              <a:t>Giả thuyết kiểm tra: huấn luyện trên miền đích có lợi thế dương khi đánh giá trên cùng ảnh đích.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999" cy="59436"/>
          </a:xfrm>
          <a:prstGeom prst="rect">
            <a:avLst/>
          </a:prstGeom>
          <a:solidFill>
            <a:srgbClr val="127B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48640" y="256032"/>
            <a:ext cx="10972800" cy="228600"/>
          </a:xfrm>
          <a:prstGeom prst="rect">
            <a:avLst/>
          </a:prstGeom>
          <a:noFill/>
        </p:spPr>
        <p:txBody>
          <a:bodyPr wrap="square" lIns="0" rIns="0" tIns="0" bIns="0">
            <a:spAutoFit/>
          </a:bodyPr>
          <a:lstStyle/>
          <a:p>
            <a:pPr>
              <a:spcBef>
                <a:spcPts val="0"/>
              </a:spcBef>
              <a:spcAft>
                <a:spcPts val="500"/>
              </a:spcAft>
              <a:defRPr sz="1100" b="1">
                <a:solidFill>
                  <a:srgbClr val="127B80"/>
                </a:solidFill>
                <a:latin typeface="Arial"/>
              </a:defRPr>
            </a:pPr>
            <a:r>
              <a:t>02 · MỤC TIÊU NGHIÊN CỨU</a:t>
            </a:r>
          </a:p>
        </p:txBody>
      </p:sp>
      <p:sp>
        <p:nvSpPr>
          <p:cNvPr id="4" name="TextBox 3"/>
          <p:cNvSpPr txBox="1"/>
          <p:nvPr/>
        </p:nvSpPr>
        <p:spPr>
          <a:xfrm>
            <a:off x="548640" y="768096"/>
            <a:ext cx="11109960" cy="822960"/>
          </a:xfrm>
          <a:prstGeom prst="rect">
            <a:avLst/>
          </a:prstGeom>
          <a:noFill/>
        </p:spPr>
        <p:txBody>
          <a:bodyPr wrap="square" lIns="0" rIns="0" tIns="0" bIns="0">
            <a:spAutoFit/>
          </a:bodyPr>
          <a:lstStyle/>
          <a:p>
            <a:pPr>
              <a:spcBef>
                <a:spcPts val="0"/>
              </a:spcBef>
              <a:spcAft>
                <a:spcPts val="500"/>
              </a:spcAft>
              <a:defRPr sz="2700" b="1">
                <a:solidFill>
                  <a:srgbClr val="173348"/>
                </a:solidFill>
                <a:latin typeface="Arial"/>
              </a:defRPr>
            </a:pPr>
            <a:r>
              <a:t>Định lượng khả năng chuyển miền, kiểm tra tính lặp lại</a:t>
            </a:r>
          </a:p>
        </p:txBody>
      </p:sp>
      <p:cxnSp>
        <p:nvCxnSpPr>
          <p:cNvPr id="5" name="Connector 4"/>
          <p:cNvCxnSpPr/>
          <p:nvPr/>
        </p:nvCxnSpPr>
        <p:spPr>
          <a:xfrm>
            <a:off x="548640" y="6327648"/>
            <a:ext cx="11091672" cy="0"/>
          </a:xfrm>
          <a:prstGeom prst="line">
            <a:avLst/>
          </a:prstGeom>
          <a:ln w="16510">
            <a:solidFill>
              <a:srgbClr val="DCE6EC"/>
            </a:solidFill>
          </a:ln>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548640" y="6446520"/>
            <a:ext cx="10652760" cy="274320"/>
          </a:xfrm>
          <a:prstGeom prst="rect">
            <a:avLst/>
          </a:prstGeom>
          <a:noFill/>
        </p:spPr>
        <p:txBody>
          <a:bodyPr wrap="square" lIns="0" rIns="0" tIns="0" bIns="0">
            <a:spAutoFit/>
          </a:bodyPr>
          <a:lstStyle/>
          <a:p>
            <a:pPr>
              <a:spcBef>
                <a:spcPts val="0"/>
              </a:spcBef>
              <a:spcAft>
                <a:spcPts val="500"/>
              </a:spcAft>
              <a:defRPr sz="1000" b="0">
                <a:solidFill>
                  <a:srgbClr val="536778"/>
                </a:solidFill>
                <a:latin typeface="Arial"/>
              </a:defRPr>
            </a:pPr>
            <a:r>
              <a:t>Nguồn: paper hiện tại, mục tiêu và đóng góp; thiết kế 18 lượt huấn luyện</a:t>
            </a:r>
          </a:p>
        </p:txBody>
      </p:sp>
      <p:sp>
        <p:nvSpPr>
          <p:cNvPr id="7" name="TextBox 6"/>
          <p:cNvSpPr txBox="1"/>
          <p:nvPr/>
        </p:nvSpPr>
        <p:spPr>
          <a:xfrm>
            <a:off x="11155680" y="6419088"/>
            <a:ext cx="484632" cy="292608"/>
          </a:xfrm>
          <a:prstGeom prst="rect">
            <a:avLst/>
          </a:prstGeom>
          <a:noFill/>
        </p:spPr>
        <p:txBody>
          <a:bodyPr wrap="square" lIns="0" rIns="0" tIns="0" bIns="0">
            <a:spAutoFit/>
          </a:bodyPr>
          <a:lstStyle/>
          <a:p>
            <a:pPr algn="r">
              <a:spcBef>
                <a:spcPts val="0"/>
              </a:spcBef>
              <a:spcAft>
                <a:spcPts val="500"/>
              </a:spcAft>
              <a:defRPr sz="1200" b="1">
                <a:solidFill>
                  <a:srgbClr val="127B80"/>
                </a:solidFill>
                <a:latin typeface="Arial"/>
              </a:defRPr>
            </a:pPr>
            <a:r>
              <a:t>05</a:t>
            </a:r>
          </a:p>
        </p:txBody>
      </p:sp>
      <p:sp>
        <p:nvSpPr>
          <p:cNvPr id="8" name="TextBox 7"/>
          <p:cNvSpPr txBox="1"/>
          <p:nvPr/>
        </p:nvSpPr>
        <p:spPr>
          <a:xfrm>
            <a:off x="685800" y="1828800"/>
            <a:ext cx="3657600" cy="411480"/>
          </a:xfrm>
          <a:prstGeom prst="rect">
            <a:avLst/>
          </a:prstGeom>
          <a:noFill/>
        </p:spPr>
        <p:txBody>
          <a:bodyPr wrap="square" lIns="0" rIns="0" tIns="0" bIns="0">
            <a:spAutoFit/>
          </a:bodyPr>
          <a:lstStyle/>
          <a:p>
            <a:pPr>
              <a:spcBef>
                <a:spcPts val="0"/>
              </a:spcBef>
              <a:spcAft>
                <a:spcPts val="500"/>
              </a:spcAft>
              <a:defRPr sz="2300" b="1">
                <a:solidFill>
                  <a:srgbClr val="127B80"/>
                </a:solidFill>
                <a:latin typeface="Arial"/>
              </a:defRPr>
            </a:pPr>
            <a:r>
              <a:t>Đo hai chiều</a:t>
            </a:r>
          </a:p>
        </p:txBody>
      </p:sp>
      <p:sp>
        <p:nvSpPr>
          <p:cNvPr id="9" name="TextBox 8"/>
          <p:cNvSpPr txBox="1"/>
          <p:nvPr/>
        </p:nvSpPr>
        <p:spPr>
          <a:xfrm>
            <a:off x="4526280" y="1828800"/>
            <a:ext cx="6812280" cy="576072"/>
          </a:xfrm>
          <a:prstGeom prst="rect">
            <a:avLst/>
          </a:prstGeom>
          <a:noFill/>
        </p:spPr>
        <p:txBody>
          <a:bodyPr wrap="square" lIns="0" rIns="0" tIns="0" bIns="0">
            <a:spAutoFit/>
          </a:bodyPr>
          <a:lstStyle/>
          <a:p>
            <a:pPr>
              <a:spcBef>
                <a:spcPts val="0"/>
              </a:spcBef>
              <a:spcAft>
                <a:spcPts val="500"/>
              </a:spcAft>
              <a:defRPr sz="2100" b="0">
                <a:solidFill>
                  <a:srgbClr val="173348"/>
                </a:solidFill>
                <a:latin typeface="Arial"/>
              </a:defRPr>
            </a:pPr>
            <a:r>
              <a:t>Giữ cố định từng tập đích khi so sánh.</a:t>
            </a:r>
          </a:p>
        </p:txBody>
      </p:sp>
      <p:sp>
        <p:nvSpPr>
          <p:cNvPr id="10" name="TextBox 9"/>
          <p:cNvSpPr txBox="1"/>
          <p:nvPr/>
        </p:nvSpPr>
        <p:spPr>
          <a:xfrm>
            <a:off x="685800" y="2761488"/>
            <a:ext cx="3657600" cy="411480"/>
          </a:xfrm>
          <a:prstGeom prst="rect">
            <a:avLst/>
          </a:prstGeom>
          <a:noFill/>
        </p:spPr>
        <p:txBody>
          <a:bodyPr wrap="square" lIns="0" rIns="0" tIns="0" bIns="0">
            <a:spAutoFit/>
          </a:bodyPr>
          <a:lstStyle/>
          <a:p>
            <a:pPr>
              <a:spcBef>
                <a:spcPts val="0"/>
              </a:spcBef>
              <a:spcAft>
                <a:spcPts val="500"/>
              </a:spcAft>
              <a:defRPr sz="2300" b="1">
                <a:solidFill>
                  <a:srgbClr val="127B80"/>
                </a:solidFill>
                <a:latin typeface="Arial"/>
              </a:defRPr>
            </a:pPr>
            <a:r>
              <a:t>Kiểm tra độ ổn định</a:t>
            </a:r>
          </a:p>
        </p:txBody>
      </p:sp>
      <p:sp>
        <p:nvSpPr>
          <p:cNvPr id="11" name="TextBox 10"/>
          <p:cNvSpPr txBox="1"/>
          <p:nvPr/>
        </p:nvSpPr>
        <p:spPr>
          <a:xfrm>
            <a:off x="4526280" y="2761488"/>
            <a:ext cx="6812280" cy="576072"/>
          </a:xfrm>
          <a:prstGeom prst="rect">
            <a:avLst/>
          </a:prstGeom>
          <a:noFill/>
        </p:spPr>
        <p:txBody>
          <a:bodyPr wrap="square" lIns="0" rIns="0" tIns="0" bIns="0">
            <a:spAutoFit/>
          </a:bodyPr>
          <a:lstStyle/>
          <a:p>
            <a:pPr>
              <a:spcBef>
                <a:spcPts val="0"/>
              </a:spcBef>
              <a:spcAft>
                <a:spcPts val="500"/>
              </a:spcAft>
              <a:defRPr sz="2100" b="0">
                <a:solidFill>
                  <a:srgbClr val="173348"/>
                </a:solidFill>
                <a:latin typeface="Arial"/>
              </a:defRPr>
            </a:pPr>
            <a:r>
              <a:t>Ghép cặp seed 13, 37, 71 trên ba model.</a:t>
            </a:r>
          </a:p>
        </p:txBody>
      </p:sp>
      <p:sp>
        <p:nvSpPr>
          <p:cNvPr id="12" name="TextBox 11"/>
          <p:cNvSpPr txBox="1"/>
          <p:nvPr/>
        </p:nvSpPr>
        <p:spPr>
          <a:xfrm>
            <a:off x="685800" y="3694176"/>
            <a:ext cx="3657600" cy="411480"/>
          </a:xfrm>
          <a:prstGeom prst="rect">
            <a:avLst/>
          </a:prstGeom>
          <a:noFill/>
        </p:spPr>
        <p:txBody>
          <a:bodyPr wrap="square" lIns="0" rIns="0" tIns="0" bIns="0">
            <a:spAutoFit/>
          </a:bodyPr>
          <a:lstStyle/>
          <a:p>
            <a:pPr>
              <a:spcBef>
                <a:spcPts val="0"/>
              </a:spcBef>
              <a:spcAft>
                <a:spcPts val="500"/>
              </a:spcAft>
              <a:defRPr sz="2300" b="1">
                <a:solidFill>
                  <a:srgbClr val="127B80"/>
                </a:solidFill>
                <a:latin typeface="Arial"/>
              </a:defRPr>
            </a:pPr>
            <a:r>
              <a:t>Phân tích theo lớp</a:t>
            </a:r>
          </a:p>
        </p:txBody>
      </p:sp>
      <p:sp>
        <p:nvSpPr>
          <p:cNvPr id="13" name="TextBox 12"/>
          <p:cNvSpPr txBox="1"/>
          <p:nvPr/>
        </p:nvSpPr>
        <p:spPr>
          <a:xfrm>
            <a:off x="4526280" y="3694176"/>
            <a:ext cx="6812280" cy="576072"/>
          </a:xfrm>
          <a:prstGeom prst="rect">
            <a:avLst/>
          </a:prstGeom>
          <a:noFill/>
        </p:spPr>
        <p:txBody>
          <a:bodyPr wrap="square" lIns="0" rIns="0" tIns="0" bIns="0">
            <a:spAutoFit/>
          </a:bodyPr>
          <a:lstStyle/>
          <a:p>
            <a:pPr>
              <a:spcBef>
                <a:spcPts val="0"/>
              </a:spcBef>
              <a:spcAft>
                <a:spcPts val="500"/>
              </a:spcAft>
              <a:defRPr sz="2100" b="0">
                <a:solidFill>
                  <a:srgbClr val="173348"/>
                </a:solidFill>
                <a:latin typeface="Arial"/>
              </a:defRPr>
            </a:pPr>
            <a:r>
              <a:t>Giữ đủ bốn lớp, kể cả kết quả bất lợi.</a:t>
            </a:r>
          </a:p>
        </p:txBody>
      </p:sp>
      <p:sp>
        <p:nvSpPr>
          <p:cNvPr id="14" name="TextBox 13"/>
          <p:cNvSpPr txBox="1"/>
          <p:nvPr/>
        </p:nvSpPr>
        <p:spPr>
          <a:xfrm>
            <a:off x="685800" y="4626864"/>
            <a:ext cx="3657600" cy="411480"/>
          </a:xfrm>
          <a:prstGeom prst="rect">
            <a:avLst/>
          </a:prstGeom>
          <a:noFill/>
        </p:spPr>
        <p:txBody>
          <a:bodyPr wrap="square" lIns="0" rIns="0" tIns="0" bIns="0">
            <a:spAutoFit/>
          </a:bodyPr>
          <a:lstStyle/>
          <a:p>
            <a:pPr>
              <a:spcBef>
                <a:spcPts val="0"/>
              </a:spcBef>
              <a:spcAft>
                <a:spcPts val="500"/>
              </a:spcAft>
              <a:defRPr sz="2300" b="1">
                <a:solidFill>
                  <a:srgbClr val="127B80"/>
                </a:solidFill>
                <a:latin typeface="Arial"/>
              </a:defRPr>
            </a:pPr>
            <a:r>
              <a:t>Mở rộng bằng YOLO26n</a:t>
            </a:r>
          </a:p>
        </p:txBody>
      </p:sp>
      <p:sp>
        <p:nvSpPr>
          <p:cNvPr id="15" name="TextBox 14"/>
          <p:cNvSpPr txBox="1"/>
          <p:nvPr/>
        </p:nvSpPr>
        <p:spPr>
          <a:xfrm>
            <a:off x="4526280" y="4626864"/>
            <a:ext cx="6812280" cy="576072"/>
          </a:xfrm>
          <a:prstGeom prst="rect">
            <a:avLst/>
          </a:prstGeom>
          <a:noFill/>
        </p:spPr>
        <p:txBody>
          <a:bodyPr wrap="square" lIns="0" rIns="0" tIns="0" bIns="0">
            <a:spAutoFit/>
          </a:bodyPr>
          <a:lstStyle/>
          <a:p>
            <a:pPr>
              <a:spcBef>
                <a:spcPts val="0"/>
              </a:spcBef>
              <a:spcAft>
                <a:spcPts val="500"/>
              </a:spcAft>
              <a:defRPr sz="2100" b="0">
                <a:solidFill>
                  <a:srgbClr val="173348"/>
                </a:solidFill>
                <a:latin typeface="Arial"/>
              </a:defRPr>
            </a:pPr>
            <a:r>
              <a:t>So sánh độ chính xác và gap với hai model trước.</a:t>
            </a:r>
          </a:p>
        </p:txBody>
      </p:sp>
      <p:sp>
        <p:nvSpPr>
          <p:cNvPr id="16" name="Rectangle 15"/>
          <p:cNvSpPr/>
          <p:nvPr/>
        </p:nvSpPr>
        <p:spPr>
          <a:xfrm>
            <a:off x="548640" y="5806440"/>
            <a:ext cx="11091672" cy="365760"/>
          </a:xfrm>
          <a:prstGeom prst="rect">
            <a:avLst/>
          </a:prstGeom>
          <a:solidFill>
            <a:srgbClr val="EDF4F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713232" y="5856731"/>
            <a:ext cx="10744200" cy="274320"/>
          </a:xfrm>
          <a:prstGeom prst="rect">
            <a:avLst/>
          </a:prstGeom>
          <a:noFill/>
        </p:spPr>
        <p:txBody>
          <a:bodyPr wrap="square" lIns="0" rIns="0" tIns="0" bIns="0">
            <a:spAutoFit/>
          </a:bodyPr>
          <a:lstStyle/>
          <a:p>
            <a:pPr>
              <a:spcBef>
                <a:spcPts val="0"/>
              </a:spcBef>
              <a:spcAft>
                <a:spcPts val="500"/>
              </a:spcAft>
              <a:defRPr sz="1500" b="1">
                <a:solidFill>
                  <a:srgbClr val="127B80"/>
                </a:solidFill>
                <a:latin typeface="Arial"/>
              </a:defRPr>
            </a:pPr>
            <a:r>
              <a:t>Phạm vi: 2 miền × 3 model × 3 seed = 18 lượt huấn luyện; mỗi lượt được đánh giá trên cả hai tập đích.</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999" cy="59436"/>
          </a:xfrm>
          <a:prstGeom prst="rect">
            <a:avLst/>
          </a:prstGeom>
          <a:solidFill>
            <a:srgbClr val="127B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48640" y="256032"/>
            <a:ext cx="10972800" cy="228600"/>
          </a:xfrm>
          <a:prstGeom prst="rect">
            <a:avLst/>
          </a:prstGeom>
          <a:noFill/>
        </p:spPr>
        <p:txBody>
          <a:bodyPr wrap="square" lIns="0" rIns="0" tIns="0" bIns="0">
            <a:spAutoFit/>
          </a:bodyPr>
          <a:lstStyle/>
          <a:p>
            <a:pPr>
              <a:spcBef>
                <a:spcPts val="0"/>
              </a:spcBef>
              <a:spcAft>
                <a:spcPts val="500"/>
              </a:spcAft>
              <a:defRPr sz="1100" b="1">
                <a:solidFill>
                  <a:srgbClr val="127B80"/>
                </a:solidFill>
                <a:latin typeface="Arial"/>
              </a:defRPr>
            </a:pPr>
            <a:r>
              <a:t>03 · DỮ LIỆU NGHIÊN CỨU</a:t>
            </a:r>
          </a:p>
        </p:txBody>
      </p:sp>
      <p:sp>
        <p:nvSpPr>
          <p:cNvPr id="4" name="TextBox 3"/>
          <p:cNvSpPr txBox="1"/>
          <p:nvPr/>
        </p:nvSpPr>
        <p:spPr>
          <a:xfrm>
            <a:off x="548640" y="768096"/>
            <a:ext cx="11109960" cy="822960"/>
          </a:xfrm>
          <a:prstGeom prst="rect">
            <a:avLst/>
          </a:prstGeom>
          <a:noFill/>
        </p:spPr>
        <p:txBody>
          <a:bodyPr wrap="square" lIns="0" rIns="0" tIns="0" bIns="0">
            <a:spAutoFit/>
          </a:bodyPr>
          <a:lstStyle/>
          <a:p>
            <a:pPr>
              <a:spcBef>
                <a:spcPts val="0"/>
              </a:spcBef>
              <a:spcAft>
                <a:spcPts val="500"/>
              </a:spcAft>
              <a:defRPr sz="2700" b="1">
                <a:solidFill>
                  <a:srgbClr val="173348"/>
                </a:solidFill>
                <a:latin typeface="Arial"/>
              </a:defRPr>
            </a:pPr>
            <a:r>
              <a:t>Tập con khóa v4.1 gồm 4.378 ảnh và 658 ảnh test</a:t>
            </a:r>
          </a:p>
        </p:txBody>
      </p:sp>
      <p:cxnSp>
        <p:nvCxnSpPr>
          <p:cNvPr id="5" name="Connector 4"/>
          <p:cNvCxnSpPr/>
          <p:nvPr/>
        </p:nvCxnSpPr>
        <p:spPr>
          <a:xfrm>
            <a:off x="548640" y="6327648"/>
            <a:ext cx="11091672" cy="0"/>
          </a:xfrm>
          <a:prstGeom prst="line">
            <a:avLst/>
          </a:prstGeom>
          <a:ln w="16510">
            <a:solidFill>
              <a:srgbClr val="DCE6EC"/>
            </a:solidFill>
          </a:ln>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548640" y="6446520"/>
            <a:ext cx="10652760" cy="274320"/>
          </a:xfrm>
          <a:prstGeom prst="rect">
            <a:avLst/>
          </a:prstGeom>
          <a:noFill/>
        </p:spPr>
        <p:txBody>
          <a:bodyPr wrap="square" lIns="0" rIns="0" tIns="0" bIns="0">
            <a:spAutoFit/>
          </a:bodyPr>
          <a:lstStyle/>
          <a:p>
            <a:pPr>
              <a:spcBef>
                <a:spcPts val="0"/>
              </a:spcBef>
              <a:spcAft>
                <a:spcPts val="500"/>
              </a:spcAft>
              <a:defRPr sz="1000" b="0">
                <a:solidFill>
                  <a:srgbClr val="536778"/>
                </a:solidFill>
                <a:latin typeface="Arial"/>
              </a:defRPr>
            </a:pPr>
            <a:r>
              <a:t>Nguồn: paper, Bảng I và phần II · Số ảnh của tập con khóa, không phải toàn bộ RDD2022</a:t>
            </a:r>
          </a:p>
        </p:txBody>
      </p:sp>
      <p:sp>
        <p:nvSpPr>
          <p:cNvPr id="7" name="TextBox 6"/>
          <p:cNvSpPr txBox="1"/>
          <p:nvPr/>
        </p:nvSpPr>
        <p:spPr>
          <a:xfrm>
            <a:off x="11155680" y="6419088"/>
            <a:ext cx="484632" cy="292608"/>
          </a:xfrm>
          <a:prstGeom prst="rect">
            <a:avLst/>
          </a:prstGeom>
          <a:noFill/>
        </p:spPr>
        <p:txBody>
          <a:bodyPr wrap="square" lIns="0" rIns="0" tIns="0" bIns="0">
            <a:spAutoFit/>
          </a:bodyPr>
          <a:lstStyle/>
          <a:p>
            <a:pPr algn="r">
              <a:spcBef>
                <a:spcPts val="0"/>
              </a:spcBef>
              <a:spcAft>
                <a:spcPts val="500"/>
              </a:spcAft>
              <a:defRPr sz="1200" b="1">
                <a:solidFill>
                  <a:srgbClr val="127B80"/>
                </a:solidFill>
                <a:latin typeface="Arial"/>
              </a:defRPr>
            </a:pPr>
            <a:r>
              <a:t>06</a:t>
            </a:r>
          </a:p>
        </p:txBody>
      </p:sp>
      <p:graphicFrame>
        <p:nvGraphicFramePr>
          <p:cNvPr id="8" name="Table 7"/>
          <p:cNvGraphicFramePr>
            <a:graphicFrameLocks noGrp="1"/>
          </p:cNvGraphicFramePr>
          <p:nvPr/>
        </p:nvGraphicFramePr>
        <p:xfrm>
          <a:off x="685800" y="1920240"/>
          <a:ext cx="10835640" cy="2779776"/>
        </p:xfrm>
        <a:graphic>
          <a:graphicData uri="http://schemas.openxmlformats.org/drawingml/2006/table">
            <a:tbl>
              <a:tblPr firstRow="1" bandRow="1">
                <a:tableStyleId>{5C22544A-7EE6-4342-B048-85BDC9FD1C3A}</a:tableStyleId>
              </a:tblPr>
              <a:tblGrid>
                <a:gridCol w="2971800"/>
                <a:gridCol w="1920240"/>
                <a:gridCol w="2103120"/>
                <a:gridCol w="1920240"/>
                <a:gridCol w="1920240"/>
              </a:tblGrid>
              <a:tr h="694944">
                <a:tc>
                  <a:txBody>
                    <a:bodyPr/>
                    <a:lstStyle/>
                    <a:p>
                      <a:pPr>
                        <a:defRPr sz="2100" b="1">
                          <a:solidFill>
                            <a:srgbClr val="FFFFFF"/>
                          </a:solidFill>
                          <a:latin typeface="Arial"/>
                        </a:defRPr>
                      </a:pPr>
                      <a:r>
                        <a:t>Miền</a:t>
                      </a:r>
                    </a:p>
                  </a:txBody>
                  <a:tcPr marL="118872" marR="91440" marT="91440" marB="45720" anchor="ctr">
                    <a:solidFill>
                      <a:srgbClr val="173348"/>
                    </a:solidFill>
                  </a:tcPr>
                </a:tc>
                <a:tc>
                  <a:txBody>
                    <a:bodyPr/>
                    <a:lstStyle/>
                    <a:p>
                      <a:pPr>
                        <a:defRPr sz="2100" b="1">
                          <a:solidFill>
                            <a:srgbClr val="FFFFFF"/>
                          </a:solidFill>
                          <a:latin typeface="Arial"/>
                        </a:defRPr>
                      </a:pPr>
                      <a:r>
                        <a:t>Train</a:t>
                      </a:r>
                    </a:p>
                  </a:txBody>
                  <a:tcPr marL="118872" marR="91440" marT="91440" marB="45720" anchor="ctr">
                    <a:solidFill>
                      <a:srgbClr val="173348"/>
                    </a:solidFill>
                  </a:tcPr>
                </a:tc>
                <a:tc>
                  <a:txBody>
                    <a:bodyPr/>
                    <a:lstStyle/>
                    <a:p>
                      <a:pPr>
                        <a:defRPr sz="2100" b="1">
                          <a:solidFill>
                            <a:srgbClr val="FFFFFF"/>
                          </a:solidFill>
                          <a:latin typeface="Arial"/>
                        </a:defRPr>
                      </a:pPr>
                      <a:r>
                        <a:t>Validation</a:t>
                      </a:r>
                    </a:p>
                  </a:txBody>
                  <a:tcPr marL="118872" marR="91440" marT="91440" marB="45720" anchor="ctr">
                    <a:solidFill>
                      <a:srgbClr val="173348"/>
                    </a:solidFill>
                  </a:tcPr>
                </a:tc>
                <a:tc>
                  <a:txBody>
                    <a:bodyPr/>
                    <a:lstStyle/>
                    <a:p>
                      <a:pPr>
                        <a:defRPr sz="2100" b="1">
                          <a:solidFill>
                            <a:srgbClr val="FFFFFF"/>
                          </a:solidFill>
                          <a:latin typeface="Arial"/>
                        </a:defRPr>
                      </a:pPr>
                      <a:r>
                        <a:t>Test</a:t>
                      </a:r>
                    </a:p>
                  </a:txBody>
                  <a:tcPr marL="118872" marR="91440" marT="91440" marB="45720" anchor="ctr">
                    <a:solidFill>
                      <a:srgbClr val="173348"/>
                    </a:solidFill>
                  </a:tcPr>
                </a:tc>
                <a:tc>
                  <a:txBody>
                    <a:bodyPr/>
                    <a:lstStyle/>
                    <a:p>
                      <a:pPr>
                        <a:defRPr sz="2100" b="1">
                          <a:solidFill>
                            <a:srgbClr val="FFFFFF"/>
                          </a:solidFill>
                          <a:latin typeface="Arial"/>
                        </a:defRPr>
                      </a:pPr>
                      <a:r>
                        <a:t>Tổng</a:t>
                      </a:r>
                    </a:p>
                  </a:txBody>
                  <a:tcPr marL="118872" marR="91440" marT="91440" marB="45720" anchor="ctr">
                    <a:solidFill>
                      <a:srgbClr val="173348"/>
                    </a:solidFill>
                  </a:tcPr>
                </a:tc>
              </a:tr>
              <a:tr h="694944">
                <a:tc>
                  <a:txBody>
                    <a:bodyPr/>
                    <a:lstStyle/>
                    <a:p>
                      <a:pPr>
                        <a:defRPr sz="2100" b="0">
                          <a:solidFill>
                            <a:srgbClr val="173348"/>
                          </a:solidFill>
                          <a:latin typeface="Arial"/>
                        </a:defRPr>
                      </a:pPr>
                      <a:r>
                        <a:t>Drone</a:t>
                      </a:r>
                    </a:p>
                  </a:txBody>
                  <a:tcPr marL="118872" marR="91440" marT="91440" marB="45720" anchor="ctr">
                    <a:solidFill>
                      <a:srgbClr val="F2F6F8"/>
                    </a:solidFill>
                  </a:tcPr>
                </a:tc>
                <a:tc>
                  <a:txBody>
                    <a:bodyPr/>
                    <a:lstStyle/>
                    <a:p>
                      <a:pPr>
                        <a:defRPr sz="2100" b="0">
                          <a:solidFill>
                            <a:srgbClr val="173348"/>
                          </a:solidFill>
                          <a:latin typeface="Arial"/>
                        </a:defRPr>
                      </a:pPr>
                      <a:r>
                        <a:t>1.680</a:t>
                      </a:r>
                    </a:p>
                  </a:txBody>
                  <a:tcPr marL="118872" marR="91440" marT="91440" marB="45720" anchor="ctr">
                    <a:solidFill>
                      <a:srgbClr val="F2F6F8"/>
                    </a:solidFill>
                  </a:tcPr>
                </a:tc>
                <a:tc>
                  <a:txBody>
                    <a:bodyPr/>
                    <a:lstStyle/>
                    <a:p>
                      <a:pPr>
                        <a:defRPr sz="2100" b="0">
                          <a:solidFill>
                            <a:srgbClr val="173348"/>
                          </a:solidFill>
                          <a:latin typeface="Arial"/>
                        </a:defRPr>
                      </a:pPr>
                      <a:r>
                        <a:t>360</a:t>
                      </a:r>
                    </a:p>
                  </a:txBody>
                  <a:tcPr marL="118872" marR="91440" marT="91440" marB="45720" anchor="ctr">
                    <a:solidFill>
                      <a:srgbClr val="F2F6F8"/>
                    </a:solidFill>
                  </a:tcPr>
                </a:tc>
                <a:tc>
                  <a:txBody>
                    <a:bodyPr/>
                    <a:lstStyle/>
                    <a:p>
                      <a:pPr>
                        <a:defRPr sz="2100" b="0">
                          <a:solidFill>
                            <a:srgbClr val="173348"/>
                          </a:solidFill>
                          <a:latin typeface="Arial"/>
                        </a:defRPr>
                      </a:pPr>
                      <a:r>
                        <a:t>361</a:t>
                      </a:r>
                    </a:p>
                  </a:txBody>
                  <a:tcPr marL="118872" marR="91440" marT="91440" marB="45720" anchor="ctr">
                    <a:solidFill>
                      <a:srgbClr val="F2F6F8"/>
                    </a:solidFill>
                  </a:tcPr>
                </a:tc>
                <a:tc>
                  <a:txBody>
                    <a:bodyPr/>
                    <a:lstStyle/>
                    <a:p>
                      <a:pPr>
                        <a:defRPr sz="2100" b="0">
                          <a:solidFill>
                            <a:srgbClr val="173348"/>
                          </a:solidFill>
                          <a:latin typeface="Arial"/>
                        </a:defRPr>
                      </a:pPr>
                      <a:r>
                        <a:t>2.401</a:t>
                      </a:r>
                    </a:p>
                  </a:txBody>
                  <a:tcPr marL="118872" marR="91440" marT="91440" marB="45720" anchor="ctr">
                    <a:solidFill>
                      <a:srgbClr val="F2F6F8"/>
                    </a:solidFill>
                  </a:tcPr>
                </a:tc>
              </a:tr>
              <a:tr h="694944">
                <a:tc>
                  <a:txBody>
                    <a:bodyPr/>
                    <a:lstStyle/>
                    <a:p>
                      <a:pPr>
                        <a:defRPr sz="2100" b="0">
                          <a:solidFill>
                            <a:srgbClr val="173348"/>
                          </a:solidFill>
                          <a:latin typeface="Arial"/>
                        </a:defRPr>
                      </a:pPr>
                      <a:r>
                        <a:t>MotorBike</a:t>
                      </a:r>
                    </a:p>
                  </a:txBody>
                  <a:tcPr marL="118872" marR="91440" marT="91440" marB="45720" anchor="ctr">
                    <a:solidFill>
                      <a:srgbClr val="FFFFFF"/>
                    </a:solidFill>
                  </a:tcPr>
                </a:tc>
                <a:tc>
                  <a:txBody>
                    <a:bodyPr/>
                    <a:lstStyle/>
                    <a:p>
                      <a:pPr>
                        <a:defRPr sz="2100" b="0">
                          <a:solidFill>
                            <a:srgbClr val="173348"/>
                          </a:solidFill>
                          <a:latin typeface="Arial"/>
                        </a:defRPr>
                      </a:pPr>
                      <a:r>
                        <a:t>1.383</a:t>
                      </a:r>
                    </a:p>
                  </a:txBody>
                  <a:tcPr marL="118872" marR="91440" marT="91440" marB="45720" anchor="ctr">
                    <a:solidFill>
                      <a:srgbClr val="FFFFFF"/>
                    </a:solidFill>
                  </a:tcPr>
                </a:tc>
                <a:tc>
                  <a:txBody>
                    <a:bodyPr/>
                    <a:lstStyle/>
                    <a:p>
                      <a:pPr>
                        <a:defRPr sz="2100" b="0">
                          <a:solidFill>
                            <a:srgbClr val="173348"/>
                          </a:solidFill>
                          <a:latin typeface="Arial"/>
                        </a:defRPr>
                      </a:pPr>
                      <a:r>
                        <a:t>297</a:t>
                      </a:r>
                    </a:p>
                  </a:txBody>
                  <a:tcPr marL="118872" marR="91440" marT="91440" marB="45720" anchor="ctr">
                    <a:solidFill>
                      <a:srgbClr val="FFFFFF"/>
                    </a:solidFill>
                  </a:tcPr>
                </a:tc>
                <a:tc>
                  <a:txBody>
                    <a:bodyPr/>
                    <a:lstStyle/>
                    <a:p>
                      <a:pPr>
                        <a:defRPr sz="2100" b="0">
                          <a:solidFill>
                            <a:srgbClr val="173348"/>
                          </a:solidFill>
                          <a:latin typeface="Arial"/>
                        </a:defRPr>
                      </a:pPr>
                      <a:r>
                        <a:t>297</a:t>
                      </a:r>
                    </a:p>
                  </a:txBody>
                  <a:tcPr marL="118872" marR="91440" marT="91440" marB="45720" anchor="ctr">
                    <a:solidFill>
                      <a:srgbClr val="FFFFFF"/>
                    </a:solidFill>
                  </a:tcPr>
                </a:tc>
                <a:tc>
                  <a:txBody>
                    <a:bodyPr/>
                    <a:lstStyle/>
                    <a:p>
                      <a:pPr>
                        <a:defRPr sz="2100" b="0">
                          <a:solidFill>
                            <a:srgbClr val="173348"/>
                          </a:solidFill>
                          <a:latin typeface="Arial"/>
                        </a:defRPr>
                      </a:pPr>
                      <a:r>
                        <a:t>1.977</a:t>
                      </a:r>
                    </a:p>
                  </a:txBody>
                  <a:tcPr marL="118872" marR="91440" marT="91440" marB="45720" anchor="ctr">
                    <a:solidFill>
                      <a:srgbClr val="FFFFFF"/>
                    </a:solidFill>
                  </a:tcPr>
                </a:tc>
              </a:tr>
              <a:tr h="694944">
                <a:tc>
                  <a:txBody>
                    <a:bodyPr/>
                    <a:lstStyle/>
                    <a:p>
                      <a:pPr>
                        <a:defRPr sz="2100" b="0">
                          <a:solidFill>
                            <a:srgbClr val="173348"/>
                          </a:solidFill>
                          <a:latin typeface="Arial"/>
                        </a:defRPr>
                      </a:pPr>
                      <a:r>
                        <a:t>Tổng</a:t>
                      </a:r>
                    </a:p>
                  </a:txBody>
                  <a:tcPr marL="118872" marR="91440" marT="91440" marB="45720" anchor="ctr">
                    <a:solidFill>
                      <a:srgbClr val="F2F6F8"/>
                    </a:solidFill>
                  </a:tcPr>
                </a:tc>
                <a:tc>
                  <a:txBody>
                    <a:bodyPr/>
                    <a:lstStyle/>
                    <a:p>
                      <a:pPr>
                        <a:defRPr sz="2100" b="0">
                          <a:solidFill>
                            <a:srgbClr val="173348"/>
                          </a:solidFill>
                          <a:latin typeface="Arial"/>
                        </a:defRPr>
                      </a:pPr>
                      <a:r>
                        <a:t>3.063</a:t>
                      </a:r>
                    </a:p>
                  </a:txBody>
                  <a:tcPr marL="118872" marR="91440" marT="91440" marB="45720" anchor="ctr">
                    <a:solidFill>
                      <a:srgbClr val="F2F6F8"/>
                    </a:solidFill>
                  </a:tcPr>
                </a:tc>
                <a:tc>
                  <a:txBody>
                    <a:bodyPr/>
                    <a:lstStyle/>
                    <a:p>
                      <a:pPr>
                        <a:defRPr sz="2100" b="0">
                          <a:solidFill>
                            <a:srgbClr val="173348"/>
                          </a:solidFill>
                          <a:latin typeface="Arial"/>
                        </a:defRPr>
                      </a:pPr>
                      <a:r>
                        <a:t>657</a:t>
                      </a:r>
                    </a:p>
                  </a:txBody>
                  <a:tcPr marL="118872" marR="91440" marT="91440" marB="45720" anchor="ctr">
                    <a:solidFill>
                      <a:srgbClr val="F2F6F8"/>
                    </a:solidFill>
                  </a:tcPr>
                </a:tc>
                <a:tc>
                  <a:txBody>
                    <a:bodyPr/>
                    <a:lstStyle/>
                    <a:p>
                      <a:pPr>
                        <a:defRPr sz="2100" b="0">
                          <a:solidFill>
                            <a:srgbClr val="173348"/>
                          </a:solidFill>
                          <a:latin typeface="Arial"/>
                        </a:defRPr>
                      </a:pPr>
                      <a:r>
                        <a:t>658</a:t>
                      </a:r>
                    </a:p>
                  </a:txBody>
                  <a:tcPr marL="118872" marR="91440" marT="91440" marB="45720" anchor="ctr">
                    <a:solidFill>
                      <a:srgbClr val="F2F6F8"/>
                    </a:solidFill>
                  </a:tcPr>
                </a:tc>
                <a:tc>
                  <a:txBody>
                    <a:bodyPr/>
                    <a:lstStyle/>
                    <a:p>
                      <a:pPr>
                        <a:defRPr sz="2100" b="0">
                          <a:solidFill>
                            <a:srgbClr val="173348"/>
                          </a:solidFill>
                          <a:latin typeface="Arial"/>
                        </a:defRPr>
                      </a:pPr>
                      <a:r>
                        <a:t>4.378</a:t>
                      </a:r>
                    </a:p>
                  </a:txBody>
                  <a:tcPr marL="118872" marR="91440" marT="91440" marB="45720" anchor="ctr">
                    <a:solidFill>
                      <a:srgbClr val="F2F6F8"/>
                    </a:solidFill>
                  </a:tcPr>
                </a:tc>
              </a:tr>
            </a:tbl>
          </a:graphicData>
        </a:graphic>
      </p:graphicFrame>
      <p:sp>
        <p:nvSpPr>
          <p:cNvPr id="9" name="TextBox 8"/>
          <p:cNvSpPr txBox="1"/>
          <p:nvPr/>
        </p:nvSpPr>
        <p:spPr>
          <a:xfrm>
            <a:off x="731520" y="5047488"/>
            <a:ext cx="10698480" cy="594360"/>
          </a:xfrm>
          <a:prstGeom prst="rect">
            <a:avLst/>
          </a:prstGeom>
          <a:noFill/>
        </p:spPr>
        <p:txBody>
          <a:bodyPr wrap="square" lIns="0" rIns="0" tIns="0" bIns="0">
            <a:spAutoFit/>
          </a:bodyPr>
          <a:lstStyle/>
          <a:p>
            <a:pPr>
              <a:spcBef>
                <a:spcPts val="0"/>
              </a:spcBef>
              <a:spcAft>
                <a:spcPts val="500"/>
              </a:spcAft>
              <a:defRPr sz="2200" b="1">
                <a:solidFill>
                  <a:srgbClr val="127B80"/>
                </a:solidFill>
                <a:latin typeface="Arial"/>
              </a:defRPr>
            </a:pPr>
            <a:r>
              <a:t>Chia tập theo nhóm cảnh; cùng manifest khóa cho ba model và ba seed.</a:t>
            </a:r>
          </a:p>
        </p:txBody>
      </p:sp>
      <p:sp>
        <p:nvSpPr>
          <p:cNvPr id="10" name="Rectangle 9"/>
          <p:cNvSpPr/>
          <p:nvPr/>
        </p:nvSpPr>
        <p:spPr>
          <a:xfrm>
            <a:off x="548640" y="5806440"/>
            <a:ext cx="11091672" cy="365760"/>
          </a:xfrm>
          <a:prstGeom prst="rect">
            <a:avLst/>
          </a:prstGeom>
          <a:solidFill>
            <a:srgbClr val="EDF4F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713232" y="5856731"/>
            <a:ext cx="10744200" cy="274320"/>
          </a:xfrm>
          <a:prstGeom prst="rect">
            <a:avLst/>
          </a:prstGeom>
          <a:noFill/>
        </p:spPr>
        <p:txBody>
          <a:bodyPr wrap="square" lIns="0" rIns="0" tIns="0" bIns="0">
            <a:spAutoFit/>
          </a:bodyPr>
          <a:lstStyle/>
          <a:p>
            <a:pPr>
              <a:spcBef>
                <a:spcPts val="0"/>
              </a:spcBef>
              <a:spcAft>
                <a:spcPts val="500"/>
              </a:spcAft>
              <a:defRPr sz="1500" b="1">
                <a:solidFill>
                  <a:srgbClr val="127B80"/>
                </a:solidFill>
                <a:latin typeface="Arial"/>
              </a:defRPr>
            </a:pPr>
            <a:r>
              <a:t>Test được giữ cố định theo từng miền để so sánh hai nguồn huấn luyện trên cùng quần thể ảnh.</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999" cy="59436"/>
          </a:xfrm>
          <a:prstGeom prst="rect">
            <a:avLst/>
          </a:prstGeom>
          <a:solidFill>
            <a:srgbClr val="127B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48640" y="256032"/>
            <a:ext cx="10972800" cy="228600"/>
          </a:xfrm>
          <a:prstGeom prst="rect">
            <a:avLst/>
          </a:prstGeom>
          <a:noFill/>
        </p:spPr>
        <p:txBody>
          <a:bodyPr wrap="square" lIns="0" rIns="0" tIns="0" bIns="0">
            <a:spAutoFit/>
          </a:bodyPr>
          <a:lstStyle/>
          <a:p>
            <a:pPr>
              <a:spcBef>
                <a:spcPts val="0"/>
              </a:spcBef>
              <a:spcAft>
                <a:spcPts val="500"/>
              </a:spcAft>
              <a:defRPr sz="1100" b="1">
                <a:solidFill>
                  <a:srgbClr val="127B80"/>
                </a:solidFill>
                <a:latin typeface="Arial"/>
              </a:defRPr>
            </a:pPr>
            <a:r>
              <a:t>03 · DỮ LIỆU NGHIÊN CỨU</a:t>
            </a:r>
          </a:p>
        </p:txBody>
      </p:sp>
      <p:sp>
        <p:nvSpPr>
          <p:cNvPr id="4" name="TextBox 3"/>
          <p:cNvSpPr txBox="1"/>
          <p:nvPr/>
        </p:nvSpPr>
        <p:spPr>
          <a:xfrm>
            <a:off x="548640" y="768096"/>
            <a:ext cx="11109960" cy="822960"/>
          </a:xfrm>
          <a:prstGeom prst="rect">
            <a:avLst/>
          </a:prstGeom>
          <a:noFill/>
        </p:spPr>
        <p:txBody>
          <a:bodyPr wrap="square" lIns="0" rIns="0" tIns="0" bIns="0">
            <a:spAutoFit/>
          </a:bodyPr>
          <a:lstStyle/>
          <a:p>
            <a:pPr>
              <a:spcBef>
                <a:spcPts val="0"/>
              </a:spcBef>
              <a:spcAft>
                <a:spcPts val="500"/>
              </a:spcAft>
              <a:defRPr sz="2700" b="1">
                <a:solidFill>
                  <a:srgbClr val="173348"/>
                </a:solidFill>
                <a:latin typeface="Arial"/>
              </a:defRPr>
            </a:pPr>
            <a:r>
              <a:t>Bốn loại hư hỏng được giữ thống nhất trong đánh giá</a:t>
            </a:r>
          </a:p>
        </p:txBody>
      </p:sp>
      <p:cxnSp>
        <p:nvCxnSpPr>
          <p:cNvPr id="5" name="Connector 4"/>
          <p:cNvCxnSpPr/>
          <p:nvPr/>
        </p:nvCxnSpPr>
        <p:spPr>
          <a:xfrm>
            <a:off x="548640" y="6327648"/>
            <a:ext cx="11091672" cy="0"/>
          </a:xfrm>
          <a:prstGeom prst="line">
            <a:avLst/>
          </a:prstGeom>
          <a:ln w="16510">
            <a:solidFill>
              <a:srgbClr val="DCE6EC"/>
            </a:solidFill>
          </a:ln>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548640" y="6446520"/>
            <a:ext cx="10652760" cy="274320"/>
          </a:xfrm>
          <a:prstGeom prst="rect">
            <a:avLst/>
          </a:prstGeom>
          <a:noFill/>
        </p:spPr>
        <p:txBody>
          <a:bodyPr wrap="square" lIns="0" rIns="0" tIns="0" bIns="0">
            <a:spAutoFit/>
          </a:bodyPr>
          <a:lstStyle/>
          <a:p>
            <a:pPr>
              <a:spcBef>
                <a:spcPts val="0"/>
              </a:spcBef>
              <a:spcAft>
                <a:spcPts val="500"/>
              </a:spcAft>
              <a:defRPr sz="1000" b="0">
                <a:solidFill>
                  <a:srgbClr val="536778"/>
                </a:solidFill>
                <a:latin typeface="Arial"/>
              </a:defRPr>
            </a:pPr>
            <a:r>
              <a:t>Nguồn: ảnh nhãn validation YOLO11n D13/M13 · Crop giữ nhãn gốc; D40 được phóng vùng có nhãn</a:t>
            </a:r>
          </a:p>
        </p:txBody>
      </p:sp>
      <p:sp>
        <p:nvSpPr>
          <p:cNvPr id="7" name="TextBox 6"/>
          <p:cNvSpPr txBox="1"/>
          <p:nvPr/>
        </p:nvSpPr>
        <p:spPr>
          <a:xfrm>
            <a:off x="11155680" y="6419088"/>
            <a:ext cx="484632" cy="292608"/>
          </a:xfrm>
          <a:prstGeom prst="rect">
            <a:avLst/>
          </a:prstGeom>
          <a:noFill/>
        </p:spPr>
        <p:txBody>
          <a:bodyPr wrap="square" lIns="0" rIns="0" tIns="0" bIns="0">
            <a:spAutoFit/>
          </a:bodyPr>
          <a:lstStyle/>
          <a:p>
            <a:pPr algn="r">
              <a:spcBef>
                <a:spcPts val="0"/>
              </a:spcBef>
              <a:spcAft>
                <a:spcPts val="500"/>
              </a:spcAft>
              <a:defRPr sz="1200" b="1">
                <a:solidFill>
                  <a:srgbClr val="127B80"/>
                </a:solidFill>
                <a:latin typeface="Arial"/>
              </a:defRPr>
            </a:pPr>
            <a:r>
              <a:t>07</a:t>
            </a:r>
          </a:p>
        </p:txBody>
      </p:sp>
      <p:pic>
        <p:nvPicPr>
          <p:cNvPr id="8" name="Picture 7" descr="class_D00.png"/>
          <p:cNvPicPr>
            <a:picLocks noChangeAspect="1"/>
          </p:cNvPicPr>
          <p:nvPr/>
        </p:nvPicPr>
        <p:blipFill>
          <a:blip r:embed="rId2"/>
          <a:stretch>
            <a:fillRect/>
          </a:stretch>
        </p:blipFill>
        <p:spPr>
          <a:xfrm>
            <a:off x="594360" y="1959102"/>
            <a:ext cx="2706624" cy="2537460"/>
          </a:xfrm>
          <a:prstGeom prst="rect">
            <a:avLst/>
          </a:prstGeom>
        </p:spPr>
      </p:pic>
      <p:sp>
        <p:nvSpPr>
          <p:cNvPr id="9" name="TextBox 8"/>
          <p:cNvSpPr txBox="1"/>
          <p:nvPr/>
        </p:nvSpPr>
        <p:spPr>
          <a:xfrm>
            <a:off x="594360" y="4736592"/>
            <a:ext cx="2651760" cy="384048"/>
          </a:xfrm>
          <a:prstGeom prst="rect">
            <a:avLst/>
          </a:prstGeom>
          <a:noFill/>
        </p:spPr>
        <p:txBody>
          <a:bodyPr wrap="square" lIns="0" rIns="0" tIns="0" bIns="0">
            <a:spAutoFit/>
          </a:bodyPr>
          <a:lstStyle/>
          <a:p>
            <a:pPr>
              <a:spcBef>
                <a:spcPts val="0"/>
              </a:spcBef>
              <a:spcAft>
                <a:spcPts val="500"/>
              </a:spcAft>
              <a:defRPr sz="2500" b="1">
                <a:solidFill>
                  <a:srgbClr val="127B80"/>
                </a:solidFill>
                <a:latin typeface="Arial"/>
              </a:defRPr>
            </a:pPr>
            <a:r>
              <a:t>D00</a:t>
            </a:r>
          </a:p>
        </p:txBody>
      </p:sp>
      <p:sp>
        <p:nvSpPr>
          <p:cNvPr id="10" name="TextBox 9"/>
          <p:cNvSpPr txBox="1"/>
          <p:nvPr/>
        </p:nvSpPr>
        <p:spPr>
          <a:xfrm>
            <a:off x="594360" y="5248656"/>
            <a:ext cx="2651760" cy="457200"/>
          </a:xfrm>
          <a:prstGeom prst="rect">
            <a:avLst/>
          </a:prstGeom>
          <a:noFill/>
        </p:spPr>
        <p:txBody>
          <a:bodyPr wrap="square" lIns="0" rIns="0" tIns="0" bIns="0">
            <a:spAutoFit/>
          </a:bodyPr>
          <a:lstStyle/>
          <a:p>
            <a:pPr>
              <a:spcBef>
                <a:spcPts val="0"/>
              </a:spcBef>
              <a:spcAft>
                <a:spcPts val="500"/>
              </a:spcAft>
              <a:defRPr sz="2100" b="0">
                <a:solidFill>
                  <a:srgbClr val="173348"/>
                </a:solidFill>
                <a:latin typeface="Arial"/>
              </a:defRPr>
            </a:pPr>
            <a:r>
              <a:t>Nứt dọc</a:t>
            </a:r>
          </a:p>
        </p:txBody>
      </p:sp>
      <p:pic>
        <p:nvPicPr>
          <p:cNvPr id="11" name="Picture 10" descr="class_D10.png"/>
          <p:cNvPicPr>
            <a:picLocks noChangeAspect="1"/>
          </p:cNvPicPr>
          <p:nvPr/>
        </p:nvPicPr>
        <p:blipFill>
          <a:blip r:embed="rId3"/>
          <a:stretch>
            <a:fillRect/>
          </a:stretch>
        </p:blipFill>
        <p:spPr>
          <a:xfrm>
            <a:off x="3493008" y="1874519"/>
            <a:ext cx="2706624" cy="2706624"/>
          </a:xfrm>
          <a:prstGeom prst="rect">
            <a:avLst/>
          </a:prstGeom>
        </p:spPr>
      </p:pic>
      <p:sp>
        <p:nvSpPr>
          <p:cNvPr id="12" name="TextBox 11"/>
          <p:cNvSpPr txBox="1"/>
          <p:nvPr/>
        </p:nvSpPr>
        <p:spPr>
          <a:xfrm>
            <a:off x="3493008" y="4736592"/>
            <a:ext cx="2651760" cy="384048"/>
          </a:xfrm>
          <a:prstGeom prst="rect">
            <a:avLst/>
          </a:prstGeom>
          <a:noFill/>
        </p:spPr>
        <p:txBody>
          <a:bodyPr wrap="square" lIns="0" rIns="0" tIns="0" bIns="0">
            <a:spAutoFit/>
          </a:bodyPr>
          <a:lstStyle/>
          <a:p>
            <a:pPr>
              <a:spcBef>
                <a:spcPts val="0"/>
              </a:spcBef>
              <a:spcAft>
                <a:spcPts val="500"/>
              </a:spcAft>
              <a:defRPr sz="2500" b="1">
                <a:solidFill>
                  <a:srgbClr val="127B80"/>
                </a:solidFill>
                <a:latin typeface="Arial"/>
              </a:defRPr>
            </a:pPr>
            <a:r>
              <a:t>D10</a:t>
            </a:r>
          </a:p>
        </p:txBody>
      </p:sp>
      <p:sp>
        <p:nvSpPr>
          <p:cNvPr id="13" name="TextBox 12"/>
          <p:cNvSpPr txBox="1"/>
          <p:nvPr/>
        </p:nvSpPr>
        <p:spPr>
          <a:xfrm>
            <a:off x="3493008" y="5248656"/>
            <a:ext cx="2651760" cy="457200"/>
          </a:xfrm>
          <a:prstGeom prst="rect">
            <a:avLst/>
          </a:prstGeom>
          <a:noFill/>
        </p:spPr>
        <p:txBody>
          <a:bodyPr wrap="square" lIns="0" rIns="0" tIns="0" bIns="0">
            <a:spAutoFit/>
          </a:bodyPr>
          <a:lstStyle/>
          <a:p>
            <a:pPr>
              <a:spcBef>
                <a:spcPts val="0"/>
              </a:spcBef>
              <a:spcAft>
                <a:spcPts val="500"/>
              </a:spcAft>
              <a:defRPr sz="2100" b="0">
                <a:solidFill>
                  <a:srgbClr val="173348"/>
                </a:solidFill>
                <a:latin typeface="Arial"/>
              </a:defRPr>
            </a:pPr>
            <a:r>
              <a:t>Nứt ngang</a:t>
            </a:r>
          </a:p>
        </p:txBody>
      </p:sp>
      <p:pic>
        <p:nvPicPr>
          <p:cNvPr id="14" name="Picture 13" descr="class_D20.png"/>
          <p:cNvPicPr>
            <a:picLocks noChangeAspect="1"/>
          </p:cNvPicPr>
          <p:nvPr/>
        </p:nvPicPr>
        <p:blipFill>
          <a:blip r:embed="rId4"/>
          <a:stretch>
            <a:fillRect/>
          </a:stretch>
        </p:blipFill>
        <p:spPr>
          <a:xfrm>
            <a:off x="6391656" y="1874519"/>
            <a:ext cx="2706624" cy="2706624"/>
          </a:xfrm>
          <a:prstGeom prst="rect">
            <a:avLst/>
          </a:prstGeom>
        </p:spPr>
      </p:pic>
      <p:sp>
        <p:nvSpPr>
          <p:cNvPr id="15" name="TextBox 14"/>
          <p:cNvSpPr txBox="1"/>
          <p:nvPr/>
        </p:nvSpPr>
        <p:spPr>
          <a:xfrm>
            <a:off x="6391656" y="4736592"/>
            <a:ext cx="2651760" cy="384048"/>
          </a:xfrm>
          <a:prstGeom prst="rect">
            <a:avLst/>
          </a:prstGeom>
          <a:noFill/>
        </p:spPr>
        <p:txBody>
          <a:bodyPr wrap="square" lIns="0" rIns="0" tIns="0" bIns="0">
            <a:spAutoFit/>
          </a:bodyPr>
          <a:lstStyle/>
          <a:p>
            <a:pPr>
              <a:spcBef>
                <a:spcPts val="0"/>
              </a:spcBef>
              <a:spcAft>
                <a:spcPts val="500"/>
              </a:spcAft>
              <a:defRPr sz="2500" b="1">
                <a:solidFill>
                  <a:srgbClr val="127B80"/>
                </a:solidFill>
                <a:latin typeface="Arial"/>
              </a:defRPr>
            </a:pPr>
            <a:r>
              <a:t>D20</a:t>
            </a:r>
          </a:p>
        </p:txBody>
      </p:sp>
      <p:sp>
        <p:nvSpPr>
          <p:cNvPr id="16" name="TextBox 15"/>
          <p:cNvSpPr txBox="1"/>
          <p:nvPr/>
        </p:nvSpPr>
        <p:spPr>
          <a:xfrm>
            <a:off x="6391656" y="5248656"/>
            <a:ext cx="2651760" cy="457200"/>
          </a:xfrm>
          <a:prstGeom prst="rect">
            <a:avLst/>
          </a:prstGeom>
          <a:noFill/>
        </p:spPr>
        <p:txBody>
          <a:bodyPr wrap="square" lIns="0" rIns="0" tIns="0" bIns="0">
            <a:spAutoFit/>
          </a:bodyPr>
          <a:lstStyle/>
          <a:p>
            <a:pPr>
              <a:spcBef>
                <a:spcPts val="0"/>
              </a:spcBef>
              <a:spcAft>
                <a:spcPts val="500"/>
              </a:spcAft>
              <a:defRPr sz="2100" b="0">
                <a:solidFill>
                  <a:srgbClr val="173348"/>
                </a:solidFill>
                <a:latin typeface="Arial"/>
              </a:defRPr>
            </a:pPr>
            <a:r>
              <a:t>Nứt da cá sấu</a:t>
            </a:r>
          </a:p>
        </p:txBody>
      </p:sp>
      <p:pic>
        <p:nvPicPr>
          <p:cNvPr id="17" name="Picture 16" descr="class_D40.png"/>
          <p:cNvPicPr>
            <a:picLocks noChangeAspect="1"/>
          </p:cNvPicPr>
          <p:nvPr/>
        </p:nvPicPr>
        <p:blipFill>
          <a:blip r:embed="rId5"/>
          <a:stretch>
            <a:fillRect/>
          </a:stretch>
        </p:blipFill>
        <p:spPr>
          <a:xfrm>
            <a:off x="9290304" y="1874519"/>
            <a:ext cx="2706624" cy="2706624"/>
          </a:xfrm>
          <a:prstGeom prst="rect">
            <a:avLst/>
          </a:prstGeom>
        </p:spPr>
      </p:pic>
      <p:sp>
        <p:nvSpPr>
          <p:cNvPr id="18" name="TextBox 17"/>
          <p:cNvSpPr txBox="1"/>
          <p:nvPr/>
        </p:nvSpPr>
        <p:spPr>
          <a:xfrm>
            <a:off x="9290304" y="4736592"/>
            <a:ext cx="2651760" cy="384048"/>
          </a:xfrm>
          <a:prstGeom prst="rect">
            <a:avLst/>
          </a:prstGeom>
          <a:noFill/>
        </p:spPr>
        <p:txBody>
          <a:bodyPr wrap="square" lIns="0" rIns="0" tIns="0" bIns="0">
            <a:spAutoFit/>
          </a:bodyPr>
          <a:lstStyle/>
          <a:p>
            <a:pPr>
              <a:spcBef>
                <a:spcPts val="0"/>
              </a:spcBef>
              <a:spcAft>
                <a:spcPts val="500"/>
              </a:spcAft>
              <a:defRPr sz="2500" b="1">
                <a:solidFill>
                  <a:srgbClr val="127B80"/>
                </a:solidFill>
                <a:latin typeface="Arial"/>
              </a:defRPr>
            </a:pPr>
            <a:r>
              <a:t>D40</a:t>
            </a:r>
          </a:p>
        </p:txBody>
      </p:sp>
      <p:sp>
        <p:nvSpPr>
          <p:cNvPr id="19" name="TextBox 18"/>
          <p:cNvSpPr txBox="1"/>
          <p:nvPr/>
        </p:nvSpPr>
        <p:spPr>
          <a:xfrm>
            <a:off x="9290304" y="5248656"/>
            <a:ext cx="2651760" cy="457200"/>
          </a:xfrm>
          <a:prstGeom prst="rect">
            <a:avLst/>
          </a:prstGeom>
          <a:noFill/>
        </p:spPr>
        <p:txBody>
          <a:bodyPr wrap="square" lIns="0" rIns="0" tIns="0" bIns="0">
            <a:spAutoFit/>
          </a:bodyPr>
          <a:lstStyle/>
          <a:p>
            <a:pPr>
              <a:spcBef>
                <a:spcPts val="0"/>
              </a:spcBef>
              <a:spcAft>
                <a:spcPts val="500"/>
              </a:spcAft>
              <a:defRPr sz="2100" b="0">
                <a:solidFill>
                  <a:srgbClr val="173348"/>
                </a:solidFill>
                <a:latin typeface="Arial"/>
              </a:defRPr>
            </a:pPr>
            <a:r>
              <a:t>Ổ gà</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999" cy="59436"/>
          </a:xfrm>
          <a:prstGeom prst="rect">
            <a:avLst/>
          </a:prstGeom>
          <a:solidFill>
            <a:srgbClr val="127B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48640" y="256032"/>
            <a:ext cx="10972800" cy="228600"/>
          </a:xfrm>
          <a:prstGeom prst="rect">
            <a:avLst/>
          </a:prstGeom>
          <a:noFill/>
        </p:spPr>
        <p:txBody>
          <a:bodyPr wrap="square" lIns="0" rIns="0" tIns="0" bIns="0">
            <a:spAutoFit/>
          </a:bodyPr>
          <a:lstStyle/>
          <a:p>
            <a:pPr>
              <a:spcBef>
                <a:spcPts val="0"/>
              </a:spcBef>
              <a:spcAft>
                <a:spcPts val="500"/>
              </a:spcAft>
              <a:defRPr sz="1100" b="1">
                <a:solidFill>
                  <a:srgbClr val="127B80"/>
                </a:solidFill>
                <a:latin typeface="Arial"/>
              </a:defRPr>
            </a:pPr>
            <a:r>
              <a:t>03 · DỮ LIỆU NGHIÊN CỨU</a:t>
            </a:r>
          </a:p>
        </p:txBody>
      </p:sp>
      <p:sp>
        <p:nvSpPr>
          <p:cNvPr id="4" name="TextBox 3"/>
          <p:cNvSpPr txBox="1"/>
          <p:nvPr/>
        </p:nvSpPr>
        <p:spPr>
          <a:xfrm>
            <a:off x="548640" y="768096"/>
            <a:ext cx="11109960" cy="822960"/>
          </a:xfrm>
          <a:prstGeom prst="rect">
            <a:avLst/>
          </a:prstGeom>
          <a:noFill/>
        </p:spPr>
        <p:txBody>
          <a:bodyPr wrap="square" lIns="0" rIns="0" tIns="0" bIns="0">
            <a:spAutoFit/>
          </a:bodyPr>
          <a:lstStyle/>
          <a:p>
            <a:pPr>
              <a:spcBef>
                <a:spcPts val="0"/>
              </a:spcBef>
              <a:spcAft>
                <a:spcPts val="500"/>
              </a:spcAft>
              <a:defRPr sz="2700" b="1">
                <a:solidFill>
                  <a:srgbClr val="173348"/>
                </a:solidFill>
                <a:latin typeface="Arial"/>
              </a:defRPr>
            </a:pPr>
            <a:r>
              <a:t>Số hộp nhãn và mức hỗ trợ lớp khác nhau giữa hai miền</a:t>
            </a:r>
          </a:p>
        </p:txBody>
      </p:sp>
      <p:cxnSp>
        <p:nvCxnSpPr>
          <p:cNvPr id="5" name="Connector 4"/>
          <p:cNvCxnSpPr/>
          <p:nvPr/>
        </p:nvCxnSpPr>
        <p:spPr>
          <a:xfrm>
            <a:off x="548640" y="6327648"/>
            <a:ext cx="11091672" cy="0"/>
          </a:xfrm>
          <a:prstGeom prst="line">
            <a:avLst/>
          </a:prstGeom>
          <a:ln w="16510">
            <a:solidFill>
              <a:srgbClr val="DCE6EC"/>
            </a:solidFill>
          </a:ln>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548640" y="6446520"/>
            <a:ext cx="10652760" cy="274320"/>
          </a:xfrm>
          <a:prstGeom prst="rect">
            <a:avLst/>
          </a:prstGeom>
          <a:noFill/>
        </p:spPr>
        <p:txBody>
          <a:bodyPr wrap="square" lIns="0" rIns="0" tIns="0" bIns="0">
            <a:spAutoFit/>
          </a:bodyPr>
          <a:lstStyle/>
          <a:p>
            <a:pPr>
              <a:spcBef>
                <a:spcPts val="0"/>
              </a:spcBef>
              <a:spcAft>
                <a:spcPts val="500"/>
              </a:spcAft>
              <a:defRPr sz="1000" b="0">
                <a:solidFill>
                  <a:srgbClr val="536778"/>
                </a:solidFill>
                <a:latin typeface="Arial"/>
              </a:defRPr>
            </a:pPr>
            <a:r>
              <a:t>Nguồn: paper, Bảng II · Số bounding box của bốn lớp trên tập test khóa</a:t>
            </a:r>
          </a:p>
        </p:txBody>
      </p:sp>
      <p:sp>
        <p:nvSpPr>
          <p:cNvPr id="7" name="TextBox 6"/>
          <p:cNvSpPr txBox="1"/>
          <p:nvPr/>
        </p:nvSpPr>
        <p:spPr>
          <a:xfrm>
            <a:off x="11155680" y="6419088"/>
            <a:ext cx="484632" cy="292608"/>
          </a:xfrm>
          <a:prstGeom prst="rect">
            <a:avLst/>
          </a:prstGeom>
          <a:noFill/>
        </p:spPr>
        <p:txBody>
          <a:bodyPr wrap="square" lIns="0" rIns="0" tIns="0" bIns="0">
            <a:spAutoFit/>
          </a:bodyPr>
          <a:lstStyle/>
          <a:p>
            <a:pPr algn="r">
              <a:spcBef>
                <a:spcPts val="0"/>
              </a:spcBef>
              <a:spcAft>
                <a:spcPts val="500"/>
              </a:spcAft>
              <a:defRPr sz="1200" b="1">
                <a:solidFill>
                  <a:srgbClr val="127B80"/>
                </a:solidFill>
                <a:latin typeface="Arial"/>
              </a:defRPr>
            </a:pPr>
            <a:r>
              <a:t>08</a:t>
            </a:r>
          </a:p>
        </p:txBody>
      </p:sp>
      <p:graphicFrame>
        <p:nvGraphicFramePr>
          <p:cNvPr id="8" name="Table 7"/>
          <p:cNvGraphicFramePr>
            <a:graphicFrameLocks noGrp="1"/>
          </p:cNvGraphicFramePr>
          <p:nvPr/>
        </p:nvGraphicFramePr>
        <p:xfrm>
          <a:off x="731520" y="1874519"/>
          <a:ext cx="7406640" cy="2468880"/>
        </p:xfrm>
        <a:graphic>
          <a:graphicData uri="http://schemas.openxmlformats.org/drawingml/2006/table">
            <a:tbl>
              <a:tblPr firstRow="1" bandRow="1">
                <a:tableStyleId>{5C22544A-7EE6-4342-B048-85BDC9FD1C3A}</a:tableStyleId>
              </a:tblPr>
              <a:tblGrid>
                <a:gridCol w="2468880"/>
                <a:gridCol w="1234440"/>
                <a:gridCol w="1234440"/>
                <a:gridCol w="1234440"/>
                <a:gridCol w="1234440"/>
              </a:tblGrid>
              <a:tr h="822960">
                <a:tc>
                  <a:txBody>
                    <a:bodyPr/>
                    <a:lstStyle/>
                    <a:p>
                      <a:pPr>
                        <a:defRPr sz="2100" b="1">
                          <a:solidFill>
                            <a:srgbClr val="FFFFFF"/>
                          </a:solidFill>
                          <a:latin typeface="Arial"/>
                        </a:defRPr>
                      </a:pPr>
                      <a:r>
                        <a:t>Tập đích</a:t>
                      </a:r>
                    </a:p>
                  </a:txBody>
                  <a:tcPr marL="118872" marR="91440" marT="91440" marB="45720" anchor="ctr">
                    <a:solidFill>
                      <a:srgbClr val="173348"/>
                    </a:solidFill>
                  </a:tcPr>
                </a:tc>
                <a:tc>
                  <a:txBody>
                    <a:bodyPr/>
                    <a:lstStyle/>
                    <a:p>
                      <a:pPr>
                        <a:defRPr sz="2100" b="1">
                          <a:solidFill>
                            <a:srgbClr val="FFFFFF"/>
                          </a:solidFill>
                          <a:latin typeface="Arial"/>
                        </a:defRPr>
                      </a:pPr>
                      <a:r>
                        <a:t>D00</a:t>
                      </a:r>
                    </a:p>
                  </a:txBody>
                  <a:tcPr marL="118872" marR="91440" marT="91440" marB="45720" anchor="ctr">
                    <a:solidFill>
                      <a:srgbClr val="173348"/>
                    </a:solidFill>
                  </a:tcPr>
                </a:tc>
                <a:tc>
                  <a:txBody>
                    <a:bodyPr/>
                    <a:lstStyle/>
                    <a:p>
                      <a:pPr>
                        <a:defRPr sz="2100" b="1">
                          <a:solidFill>
                            <a:srgbClr val="FFFFFF"/>
                          </a:solidFill>
                          <a:latin typeface="Arial"/>
                        </a:defRPr>
                      </a:pPr>
                      <a:r>
                        <a:t>D10</a:t>
                      </a:r>
                    </a:p>
                  </a:txBody>
                  <a:tcPr marL="118872" marR="91440" marT="91440" marB="45720" anchor="ctr">
                    <a:solidFill>
                      <a:srgbClr val="173348"/>
                    </a:solidFill>
                  </a:tcPr>
                </a:tc>
                <a:tc>
                  <a:txBody>
                    <a:bodyPr/>
                    <a:lstStyle/>
                    <a:p>
                      <a:pPr>
                        <a:defRPr sz="2100" b="1">
                          <a:solidFill>
                            <a:srgbClr val="FFFFFF"/>
                          </a:solidFill>
                          <a:latin typeface="Arial"/>
                        </a:defRPr>
                      </a:pPr>
                      <a:r>
                        <a:t>D20</a:t>
                      </a:r>
                    </a:p>
                  </a:txBody>
                  <a:tcPr marL="118872" marR="91440" marT="91440" marB="45720" anchor="ctr">
                    <a:solidFill>
                      <a:srgbClr val="173348"/>
                    </a:solidFill>
                  </a:tcPr>
                </a:tc>
                <a:tc>
                  <a:txBody>
                    <a:bodyPr/>
                    <a:lstStyle/>
                    <a:p>
                      <a:pPr>
                        <a:defRPr sz="2100" b="1">
                          <a:solidFill>
                            <a:srgbClr val="FFFFFF"/>
                          </a:solidFill>
                          <a:latin typeface="Arial"/>
                        </a:defRPr>
                      </a:pPr>
                      <a:r>
                        <a:t>D40</a:t>
                      </a:r>
                    </a:p>
                  </a:txBody>
                  <a:tcPr marL="118872" marR="91440" marT="91440" marB="45720" anchor="ctr">
                    <a:solidFill>
                      <a:srgbClr val="173348"/>
                    </a:solidFill>
                  </a:tcPr>
                </a:tc>
              </a:tr>
              <a:tr h="822960">
                <a:tc>
                  <a:txBody>
                    <a:bodyPr/>
                    <a:lstStyle/>
                    <a:p>
                      <a:pPr>
                        <a:defRPr sz="2100" b="0">
                          <a:solidFill>
                            <a:srgbClr val="173348"/>
                          </a:solidFill>
                          <a:latin typeface="Arial"/>
                        </a:defRPr>
                      </a:pPr>
                      <a:r>
                        <a:t>Drone Test</a:t>
                      </a:r>
                    </a:p>
                  </a:txBody>
                  <a:tcPr marL="118872" marR="91440" marT="91440" marB="45720" anchor="ctr">
                    <a:solidFill>
                      <a:srgbClr val="F2F6F8"/>
                    </a:solidFill>
                  </a:tcPr>
                </a:tc>
                <a:tc>
                  <a:txBody>
                    <a:bodyPr/>
                    <a:lstStyle/>
                    <a:p>
                      <a:pPr>
                        <a:defRPr sz="2100" b="0">
                          <a:solidFill>
                            <a:srgbClr val="173348"/>
                          </a:solidFill>
                          <a:latin typeface="Arial"/>
                        </a:defRPr>
                      </a:pPr>
                      <a:r>
                        <a:t>214</a:t>
                      </a:r>
                    </a:p>
                  </a:txBody>
                  <a:tcPr marL="118872" marR="91440" marT="91440" marB="45720" anchor="ctr">
                    <a:solidFill>
                      <a:srgbClr val="F2F6F8"/>
                    </a:solidFill>
                  </a:tcPr>
                </a:tc>
                <a:tc>
                  <a:txBody>
                    <a:bodyPr/>
                    <a:lstStyle/>
                    <a:p>
                      <a:pPr>
                        <a:defRPr sz="2100" b="0">
                          <a:solidFill>
                            <a:srgbClr val="173348"/>
                          </a:solidFill>
                          <a:latin typeface="Arial"/>
                        </a:defRPr>
                      </a:pPr>
                      <a:r>
                        <a:t>189</a:t>
                      </a:r>
                    </a:p>
                  </a:txBody>
                  <a:tcPr marL="118872" marR="91440" marT="91440" marB="45720" anchor="ctr">
                    <a:solidFill>
                      <a:srgbClr val="F2F6F8"/>
                    </a:solidFill>
                  </a:tcPr>
                </a:tc>
                <a:tc>
                  <a:txBody>
                    <a:bodyPr/>
                    <a:lstStyle/>
                    <a:p>
                      <a:pPr>
                        <a:defRPr sz="2100" b="0">
                          <a:solidFill>
                            <a:srgbClr val="173348"/>
                          </a:solidFill>
                          <a:latin typeface="Arial"/>
                        </a:defRPr>
                      </a:pPr>
                      <a:r>
                        <a:t>44</a:t>
                      </a:r>
                    </a:p>
                  </a:txBody>
                  <a:tcPr marL="118872" marR="91440" marT="91440" marB="45720" anchor="ctr">
                    <a:solidFill>
                      <a:srgbClr val="F2F6F8"/>
                    </a:solidFill>
                  </a:tcPr>
                </a:tc>
                <a:tc>
                  <a:txBody>
                    <a:bodyPr/>
                    <a:lstStyle/>
                    <a:p>
                      <a:pPr>
                        <a:defRPr sz="2100" b="0">
                          <a:solidFill>
                            <a:srgbClr val="173348"/>
                          </a:solidFill>
                          <a:latin typeface="Arial"/>
                        </a:defRPr>
                      </a:pPr>
                      <a:r>
                        <a:t>17</a:t>
                      </a:r>
                    </a:p>
                  </a:txBody>
                  <a:tcPr marL="118872" marR="91440" marT="91440" marB="45720" anchor="ctr">
                    <a:solidFill>
                      <a:srgbClr val="F2F6F8"/>
                    </a:solidFill>
                  </a:tcPr>
                </a:tc>
              </a:tr>
              <a:tr h="822960">
                <a:tc>
                  <a:txBody>
                    <a:bodyPr/>
                    <a:lstStyle/>
                    <a:p>
                      <a:pPr>
                        <a:defRPr sz="2100" b="0">
                          <a:solidFill>
                            <a:srgbClr val="173348"/>
                          </a:solidFill>
                          <a:latin typeface="Arial"/>
                        </a:defRPr>
                      </a:pPr>
                      <a:r>
                        <a:t>MotorBike Test</a:t>
                      </a:r>
                    </a:p>
                  </a:txBody>
                  <a:tcPr marL="118872" marR="91440" marT="91440" marB="45720" anchor="ctr">
                    <a:solidFill>
                      <a:srgbClr val="FFFFFF"/>
                    </a:solidFill>
                  </a:tcPr>
                </a:tc>
                <a:tc>
                  <a:txBody>
                    <a:bodyPr/>
                    <a:lstStyle/>
                    <a:p>
                      <a:pPr>
                        <a:defRPr sz="2100" b="0">
                          <a:solidFill>
                            <a:srgbClr val="173348"/>
                          </a:solidFill>
                          <a:latin typeface="Arial"/>
                        </a:defRPr>
                      </a:pPr>
                      <a:r>
                        <a:t>403</a:t>
                      </a:r>
                    </a:p>
                  </a:txBody>
                  <a:tcPr marL="118872" marR="91440" marT="91440" marB="45720" anchor="ctr">
                    <a:solidFill>
                      <a:srgbClr val="FFFFFF"/>
                    </a:solidFill>
                  </a:tcPr>
                </a:tc>
                <a:tc>
                  <a:txBody>
                    <a:bodyPr/>
                    <a:lstStyle/>
                    <a:p>
                      <a:pPr>
                        <a:defRPr sz="2100" b="0">
                          <a:solidFill>
                            <a:srgbClr val="173348"/>
                          </a:solidFill>
                          <a:latin typeface="Arial"/>
                        </a:defRPr>
                      </a:pPr>
                      <a:r>
                        <a:t>165</a:t>
                      </a:r>
                    </a:p>
                  </a:txBody>
                  <a:tcPr marL="118872" marR="91440" marT="91440" marB="45720" anchor="ctr">
                    <a:solidFill>
                      <a:srgbClr val="FFFFFF"/>
                    </a:solidFill>
                  </a:tcPr>
                </a:tc>
                <a:tc>
                  <a:txBody>
                    <a:bodyPr/>
                    <a:lstStyle/>
                    <a:p>
                      <a:pPr>
                        <a:defRPr sz="2100" b="0">
                          <a:solidFill>
                            <a:srgbClr val="173348"/>
                          </a:solidFill>
                          <a:latin typeface="Arial"/>
                        </a:defRPr>
                      </a:pPr>
                      <a:r>
                        <a:t>96</a:t>
                      </a:r>
                    </a:p>
                  </a:txBody>
                  <a:tcPr marL="118872" marR="91440" marT="91440" marB="45720" anchor="ctr">
                    <a:solidFill>
                      <a:srgbClr val="FFFFFF"/>
                    </a:solidFill>
                  </a:tcPr>
                </a:tc>
                <a:tc>
                  <a:txBody>
                    <a:bodyPr/>
                    <a:lstStyle/>
                    <a:p>
                      <a:pPr>
                        <a:defRPr sz="2100" b="0">
                          <a:solidFill>
                            <a:srgbClr val="173348"/>
                          </a:solidFill>
                          <a:latin typeface="Arial"/>
                        </a:defRPr>
                      </a:pPr>
                      <a:r>
                        <a:t>35</a:t>
                      </a:r>
                    </a:p>
                  </a:txBody>
                  <a:tcPr marL="118872" marR="91440" marT="91440" marB="45720" anchor="ctr">
                    <a:solidFill>
                      <a:srgbClr val="FFFFFF"/>
                    </a:solidFill>
                  </a:tcPr>
                </a:tc>
              </a:tr>
            </a:tbl>
          </a:graphicData>
        </a:graphic>
      </p:graphicFrame>
      <p:sp>
        <p:nvSpPr>
          <p:cNvPr id="9" name="TextBox 8"/>
          <p:cNvSpPr txBox="1"/>
          <p:nvPr/>
        </p:nvSpPr>
        <p:spPr>
          <a:xfrm>
            <a:off x="8686800" y="1901952"/>
            <a:ext cx="2606040" cy="548640"/>
          </a:xfrm>
          <a:prstGeom prst="rect">
            <a:avLst/>
          </a:prstGeom>
          <a:noFill/>
        </p:spPr>
        <p:txBody>
          <a:bodyPr wrap="square" lIns="0" rIns="0" tIns="0" bIns="0">
            <a:spAutoFit/>
          </a:bodyPr>
          <a:lstStyle/>
          <a:p>
            <a:pPr>
              <a:spcBef>
                <a:spcPts val="0"/>
              </a:spcBef>
              <a:spcAft>
                <a:spcPts val="500"/>
              </a:spcAft>
              <a:defRPr sz="2300" b="1">
                <a:solidFill>
                  <a:srgbClr val="127B80"/>
                </a:solidFill>
                <a:latin typeface="Arial"/>
              </a:defRPr>
            </a:pPr>
            <a:r>
              <a:t>D40 trên Drone</a:t>
            </a:r>
          </a:p>
        </p:txBody>
      </p:sp>
      <p:sp>
        <p:nvSpPr>
          <p:cNvPr id="10" name="TextBox 9"/>
          <p:cNvSpPr txBox="1"/>
          <p:nvPr/>
        </p:nvSpPr>
        <p:spPr>
          <a:xfrm>
            <a:off x="8686800" y="2697480"/>
            <a:ext cx="2514600" cy="1325880"/>
          </a:xfrm>
          <a:prstGeom prst="rect">
            <a:avLst/>
          </a:prstGeom>
          <a:noFill/>
        </p:spPr>
        <p:txBody>
          <a:bodyPr wrap="square" lIns="0" rIns="0" tIns="0" bIns="0">
            <a:spAutoFit/>
          </a:bodyPr>
          <a:lstStyle/>
          <a:p>
            <a:pPr>
              <a:spcBef>
                <a:spcPts val="0"/>
              </a:spcBef>
              <a:spcAft>
                <a:spcPts val="500"/>
              </a:spcAft>
              <a:defRPr sz="3000" b="1">
                <a:solidFill>
                  <a:srgbClr val="173348"/>
                </a:solidFill>
                <a:latin typeface="Arial"/>
              </a:defRPr>
            </a:pPr>
            <a:r>
              <a:t>17 hộp</a:t>
            </a:r>
          </a:p>
          <a:p>
            <a:pPr>
              <a:spcBef>
                <a:spcPts val="0"/>
              </a:spcBef>
              <a:spcAft>
                <a:spcPts val="500"/>
              </a:spcAft>
              <a:defRPr sz="3000" b="1">
                <a:solidFill>
                  <a:srgbClr val="173348"/>
                </a:solidFill>
                <a:latin typeface="Arial"/>
              </a:defRPr>
            </a:pPr>
            <a:r>
              <a:t>9 ảnh</a:t>
            </a:r>
          </a:p>
        </p:txBody>
      </p:sp>
      <p:sp>
        <p:nvSpPr>
          <p:cNvPr id="11" name="TextBox 10"/>
          <p:cNvSpPr txBox="1"/>
          <p:nvPr/>
        </p:nvSpPr>
        <p:spPr>
          <a:xfrm>
            <a:off x="777240" y="4572000"/>
            <a:ext cx="10698480" cy="914400"/>
          </a:xfrm>
          <a:prstGeom prst="rect">
            <a:avLst/>
          </a:prstGeom>
          <a:noFill/>
        </p:spPr>
        <p:txBody>
          <a:bodyPr wrap="square" lIns="0" rIns="0" tIns="0" bIns="0">
            <a:spAutoFit/>
          </a:bodyPr>
          <a:lstStyle/>
          <a:p>
            <a:pPr>
              <a:spcBef>
                <a:spcPts val="0"/>
              </a:spcBef>
              <a:spcAft>
                <a:spcPts val="500"/>
              </a:spcAft>
              <a:defRPr sz="2400" b="0">
                <a:solidFill>
                  <a:srgbClr val="173348"/>
                </a:solidFill>
                <a:latin typeface="Arial"/>
              </a:defRPr>
            </a:pPr>
            <a:r>
              <a:t>Phân bố lớp không cân bằng; AP của lớp hiếm có thể nhạy với một số ít phát hiện.</a:t>
            </a:r>
          </a:p>
        </p:txBody>
      </p:sp>
      <p:sp>
        <p:nvSpPr>
          <p:cNvPr id="12" name="Rectangle 11"/>
          <p:cNvSpPr/>
          <p:nvPr/>
        </p:nvSpPr>
        <p:spPr>
          <a:xfrm>
            <a:off x="548640" y="5806440"/>
            <a:ext cx="11091672" cy="365760"/>
          </a:xfrm>
          <a:prstGeom prst="rect">
            <a:avLst/>
          </a:prstGeom>
          <a:solidFill>
            <a:srgbClr val="EDF4F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713232" y="5856731"/>
            <a:ext cx="10744200" cy="274320"/>
          </a:xfrm>
          <a:prstGeom prst="rect">
            <a:avLst/>
          </a:prstGeom>
          <a:noFill/>
        </p:spPr>
        <p:txBody>
          <a:bodyPr wrap="square" lIns="0" rIns="0" tIns="0" bIns="0">
            <a:spAutoFit/>
          </a:bodyPr>
          <a:lstStyle/>
          <a:p>
            <a:pPr>
              <a:spcBef>
                <a:spcPts val="0"/>
              </a:spcBef>
              <a:spcAft>
                <a:spcPts val="500"/>
              </a:spcAft>
              <a:defRPr sz="1500" b="1">
                <a:solidFill>
                  <a:srgbClr val="127B80"/>
                </a:solidFill>
                <a:latin typeface="Arial"/>
              </a:defRPr>
            </a:pPr>
            <a:r>
              <a:t>Không quy toàn bộ khác biệt hiệu năng cho góc nhìn: dữ liệu và thành phần cảnh cùng thay đổi.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999" cy="59436"/>
          </a:xfrm>
          <a:prstGeom prst="rect">
            <a:avLst/>
          </a:prstGeom>
          <a:solidFill>
            <a:srgbClr val="127B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48640" y="256032"/>
            <a:ext cx="10972800" cy="228600"/>
          </a:xfrm>
          <a:prstGeom prst="rect">
            <a:avLst/>
          </a:prstGeom>
          <a:noFill/>
        </p:spPr>
        <p:txBody>
          <a:bodyPr wrap="square" lIns="0" rIns="0" tIns="0" bIns="0">
            <a:spAutoFit/>
          </a:bodyPr>
          <a:lstStyle/>
          <a:p>
            <a:pPr>
              <a:spcBef>
                <a:spcPts val="0"/>
              </a:spcBef>
              <a:spcAft>
                <a:spcPts val="500"/>
              </a:spcAft>
              <a:defRPr sz="1100" b="1">
                <a:solidFill>
                  <a:srgbClr val="127B80"/>
                </a:solidFill>
                <a:latin typeface="Arial"/>
              </a:defRPr>
            </a:pPr>
            <a:r>
              <a:t>04 · PHƯƠNG PHÁP NGHIÊN CỨU</a:t>
            </a:r>
          </a:p>
        </p:txBody>
      </p:sp>
      <p:sp>
        <p:nvSpPr>
          <p:cNvPr id="4" name="TextBox 3"/>
          <p:cNvSpPr txBox="1"/>
          <p:nvPr/>
        </p:nvSpPr>
        <p:spPr>
          <a:xfrm>
            <a:off x="548640" y="768096"/>
            <a:ext cx="11109960" cy="822960"/>
          </a:xfrm>
          <a:prstGeom prst="rect">
            <a:avLst/>
          </a:prstGeom>
          <a:noFill/>
        </p:spPr>
        <p:txBody>
          <a:bodyPr wrap="square" lIns="0" rIns="0" tIns="0" bIns="0">
            <a:spAutoFit/>
          </a:bodyPr>
          <a:lstStyle/>
          <a:p>
            <a:pPr>
              <a:spcBef>
                <a:spcPts val="0"/>
              </a:spcBef>
              <a:spcAft>
                <a:spcPts val="500"/>
              </a:spcAft>
              <a:defRPr sz="2700" b="1">
                <a:solidFill>
                  <a:srgbClr val="173348"/>
                </a:solidFill>
                <a:latin typeface="Arial"/>
              </a:defRPr>
            </a:pPr>
            <a:r>
              <a:t>Giao thức hai chiều so sánh trên cùng tập đích</a:t>
            </a:r>
          </a:p>
        </p:txBody>
      </p:sp>
      <p:cxnSp>
        <p:nvCxnSpPr>
          <p:cNvPr id="5" name="Connector 4"/>
          <p:cNvCxnSpPr/>
          <p:nvPr/>
        </p:nvCxnSpPr>
        <p:spPr>
          <a:xfrm>
            <a:off x="548640" y="6327648"/>
            <a:ext cx="11091672" cy="0"/>
          </a:xfrm>
          <a:prstGeom prst="line">
            <a:avLst/>
          </a:prstGeom>
          <a:ln w="16510">
            <a:solidFill>
              <a:srgbClr val="DCE6EC"/>
            </a:solidFill>
          </a:ln>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548640" y="6446520"/>
            <a:ext cx="10652760" cy="274320"/>
          </a:xfrm>
          <a:prstGeom prst="rect">
            <a:avLst/>
          </a:prstGeom>
          <a:noFill/>
        </p:spPr>
        <p:txBody>
          <a:bodyPr wrap="square" lIns="0" rIns="0" tIns="0" bIns="0">
            <a:spAutoFit/>
          </a:bodyPr>
          <a:lstStyle/>
          <a:p>
            <a:pPr>
              <a:spcBef>
                <a:spcPts val="0"/>
              </a:spcBef>
              <a:spcAft>
                <a:spcPts val="500"/>
              </a:spcAft>
              <a:defRPr sz="1000" b="0">
                <a:solidFill>
                  <a:srgbClr val="536778"/>
                </a:solidFill>
                <a:latin typeface="Arial"/>
              </a:defRPr>
            </a:pPr>
            <a:r>
              <a:t>Nguồn: paper, phần II · Chia tập theo cảnh; checkpoint chọn bằng validation miền nguồn</a:t>
            </a:r>
          </a:p>
        </p:txBody>
      </p:sp>
      <p:sp>
        <p:nvSpPr>
          <p:cNvPr id="7" name="TextBox 6"/>
          <p:cNvSpPr txBox="1"/>
          <p:nvPr/>
        </p:nvSpPr>
        <p:spPr>
          <a:xfrm>
            <a:off x="11155680" y="6419088"/>
            <a:ext cx="484632" cy="292608"/>
          </a:xfrm>
          <a:prstGeom prst="rect">
            <a:avLst/>
          </a:prstGeom>
          <a:noFill/>
        </p:spPr>
        <p:txBody>
          <a:bodyPr wrap="square" lIns="0" rIns="0" tIns="0" bIns="0">
            <a:spAutoFit/>
          </a:bodyPr>
          <a:lstStyle/>
          <a:p>
            <a:pPr algn="r">
              <a:spcBef>
                <a:spcPts val="0"/>
              </a:spcBef>
              <a:spcAft>
                <a:spcPts val="500"/>
              </a:spcAft>
              <a:defRPr sz="1200" b="1">
                <a:solidFill>
                  <a:srgbClr val="127B80"/>
                </a:solidFill>
                <a:latin typeface="Arial"/>
              </a:defRPr>
            </a:pPr>
            <a:r>
              <a:t>09</a:t>
            </a:r>
          </a:p>
        </p:txBody>
      </p:sp>
      <p:sp>
        <p:nvSpPr>
          <p:cNvPr id="8" name="Rectangle 7"/>
          <p:cNvSpPr/>
          <p:nvPr/>
        </p:nvSpPr>
        <p:spPr>
          <a:xfrm>
            <a:off x="685800" y="1783080"/>
            <a:ext cx="3154680" cy="1234440"/>
          </a:xfrm>
          <a:prstGeom prst="rect">
            <a:avLst/>
          </a:prstGeom>
          <a:solidFill>
            <a:srgbClr val="EDF4F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850392" y="1920240"/>
            <a:ext cx="2834640" cy="365760"/>
          </a:xfrm>
          <a:prstGeom prst="rect">
            <a:avLst/>
          </a:prstGeom>
          <a:noFill/>
        </p:spPr>
        <p:txBody>
          <a:bodyPr wrap="square" lIns="0" rIns="0" tIns="0" bIns="0">
            <a:spAutoFit/>
          </a:bodyPr>
          <a:lstStyle/>
          <a:p>
            <a:pPr>
              <a:spcBef>
                <a:spcPts val="0"/>
              </a:spcBef>
              <a:spcAft>
                <a:spcPts val="500"/>
              </a:spcAft>
              <a:defRPr sz="2200" b="1">
                <a:solidFill>
                  <a:srgbClr val="127B80"/>
                </a:solidFill>
                <a:latin typeface="Arial"/>
              </a:defRPr>
            </a:pPr>
            <a:r>
              <a:t>Rà soát cảnh</a:t>
            </a:r>
          </a:p>
        </p:txBody>
      </p:sp>
      <p:sp>
        <p:nvSpPr>
          <p:cNvPr id="10" name="TextBox 9"/>
          <p:cNvSpPr txBox="1"/>
          <p:nvPr/>
        </p:nvSpPr>
        <p:spPr>
          <a:xfrm>
            <a:off x="850392" y="2423160"/>
            <a:ext cx="2834640" cy="502920"/>
          </a:xfrm>
          <a:prstGeom prst="rect">
            <a:avLst/>
          </a:prstGeom>
          <a:noFill/>
        </p:spPr>
        <p:txBody>
          <a:bodyPr wrap="square" lIns="0" rIns="0" tIns="0" bIns="0">
            <a:spAutoFit/>
          </a:bodyPr>
          <a:lstStyle/>
          <a:p>
            <a:pPr>
              <a:spcBef>
                <a:spcPts val="0"/>
              </a:spcBef>
              <a:spcAft>
                <a:spcPts val="500"/>
              </a:spcAft>
              <a:defRPr sz="1600" b="0">
                <a:solidFill>
                  <a:srgbClr val="173348"/>
                </a:solidFill>
                <a:latin typeface="Arial"/>
              </a:defRPr>
            </a:pPr>
            <a:r>
              <a:t>Giữ nhóm cảnh</a:t>
            </a:r>
          </a:p>
          <a:p>
            <a:pPr>
              <a:spcBef>
                <a:spcPts val="0"/>
              </a:spcBef>
              <a:spcAft>
                <a:spcPts val="500"/>
              </a:spcAft>
              <a:defRPr sz="1600" b="0">
                <a:solidFill>
                  <a:srgbClr val="173348"/>
                </a:solidFill>
                <a:latin typeface="Arial"/>
              </a:defRPr>
            </a:pPr>
            <a:r>
              <a:t>trong một phân vùng</a:t>
            </a:r>
          </a:p>
        </p:txBody>
      </p:sp>
      <p:sp>
        <p:nvSpPr>
          <p:cNvPr id="11" name="TextBox 10"/>
          <p:cNvSpPr txBox="1"/>
          <p:nvPr/>
        </p:nvSpPr>
        <p:spPr>
          <a:xfrm>
            <a:off x="3941064" y="2157984"/>
            <a:ext cx="484632" cy="457200"/>
          </a:xfrm>
          <a:prstGeom prst="rect">
            <a:avLst/>
          </a:prstGeom>
          <a:noFill/>
        </p:spPr>
        <p:txBody>
          <a:bodyPr wrap="square" lIns="0" rIns="0" tIns="0" bIns="0">
            <a:spAutoFit/>
          </a:bodyPr>
          <a:lstStyle/>
          <a:p>
            <a:pPr>
              <a:spcBef>
                <a:spcPts val="0"/>
              </a:spcBef>
              <a:spcAft>
                <a:spcPts val="500"/>
              </a:spcAft>
              <a:defRPr sz="3000" b="1">
                <a:solidFill>
                  <a:srgbClr val="127B80"/>
                </a:solidFill>
                <a:latin typeface="Arial"/>
              </a:defRPr>
            </a:pPr>
            <a:r>
              <a:t>→</a:t>
            </a:r>
          </a:p>
        </p:txBody>
      </p:sp>
      <p:sp>
        <p:nvSpPr>
          <p:cNvPr id="12" name="Rectangle 11"/>
          <p:cNvSpPr/>
          <p:nvPr/>
        </p:nvSpPr>
        <p:spPr>
          <a:xfrm>
            <a:off x="4526280" y="1783080"/>
            <a:ext cx="3154680" cy="1234440"/>
          </a:xfrm>
          <a:prstGeom prst="rect">
            <a:avLst/>
          </a:prstGeom>
          <a:solidFill>
            <a:srgbClr val="EDF4F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4690872" y="1920240"/>
            <a:ext cx="2834640" cy="365760"/>
          </a:xfrm>
          <a:prstGeom prst="rect">
            <a:avLst/>
          </a:prstGeom>
          <a:noFill/>
        </p:spPr>
        <p:txBody>
          <a:bodyPr wrap="square" lIns="0" rIns="0" tIns="0" bIns="0">
            <a:spAutoFit/>
          </a:bodyPr>
          <a:lstStyle/>
          <a:p>
            <a:pPr>
              <a:spcBef>
                <a:spcPts val="0"/>
              </a:spcBef>
              <a:spcAft>
                <a:spcPts val="500"/>
              </a:spcAft>
              <a:defRPr sz="2200" b="1">
                <a:solidFill>
                  <a:srgbClr val="127B80"/>
                </a:solidFill>
                <a:latin typeface="Arial"/>
              </a:defRPr>
            </a:pPr>
            <a:r>
              <a:t>Khóa phân vùng</a:t>
            </a:r>
          </a:p>
        </p:txBody>
      </p:sp>
      <p:sp>
        <p:nvSpPr>
          <p:cNvPr id="14" name="TextBox 13"/>
          <p:cNvSpPr txBox="1"/>
          <p:nvPr/>
        </p:nvSpPr>
        <p:spPr>
          <a:xfrm>
            <a:off x="4690872" y="2423160"/>
            <a:ext cx="2834640" cy="502920"/>
          </a:xfrm>
          <a:prstGeom prst="rect">
            <a:avLst/>
          </a:prstGeom>
          <a:noFill/>
        </p:spPr>
        <p:txBody>
          <a:bodyPr wrap="square" lIns="0" rIns="0" tIns="0" bIns="0">
            <a:spAutoFit/>
          </a:bodyPr>
          <a:lstStyle/>
          <a:p>
            <a:pPr>
              <a:spcBef>
                <a:spcPts val="0"/>
              </a:spcBef>
              <a:spcAft>
                <a:spcPts val="500"/>
              </a:spcAft>
              <a:defRPr sz="1600" b="0">
                <a:solidFill>
                  <a:srgbClr val="173348"/>
                </a:solidFill>
                <a:latin typeface="Arial"/>
              </a:defRPr>
            </a:pPr>
            <a:r>
              <a:t>Train / validation / test</a:t>
            </a:r>
          </a:p>
          <a:p>
            <a:pPr>
              <a:spcBef>
                <a:spcPts val="0"/>
              </a:spcBef>
              <a:spcAft>
                <a:spcPts val="500"/>
              </a:spcAft>
              <a:defRPr sz="1600" b="0">
                <a:solidFill>
                  <a:srgbClr val="173348"/>
                </a:solidFill>
                <a:latin typeface="Arial"/>
              </a:defRPr>
            </a:pPr>
            <a:r>
              <a:t>cho từng miền</a:t>
            </a:r>
          </a:p>
        </p:txBody>
      </p:sp>
      <p:sp>
        <p:nvSpPr>
          <p:cNvPr id="15" name="TextBox 14"/>
          <p:cNvSpPr txBox="1"/>
          <p:nvPr/>
        </p:nvSpPr>
        <p:spPr>
          <a:xfrm>
            <a:off x="7781544" y="2157984"/>
            <a:ext cx="484632" cy="457200"/>
          </a:xfrm>
          <a:prstGeom prst="rect">
            <a:avLst/>
          </a:prstGeom>
          <a:noFill/>
        </p:spPr>
        <p:txBody>
          <a:bodyPr wrap="square" lIns="0" rIns="0" tIns="0" bIns="0">
            <a:spAutoFit/>
          </a:bodyPr>
          <a:lstStyle/>
          <a:p>
            <a:pPr>
              <a:spcBef>
                <a:spcPts val="0"/>
              </a:spcBef>
              <a:spcAft>
                <a:spcPts val="500"/>
              </a:spcAft>
              <a:defRPr sz="3000" b="1">
                <a:solidFill>
                  <a:srgbClr val="127B80"/>
                </a:solidFill>
                <a:latin typeface="Arial"/>
              </a:defRPr>
            </a:pPr>
            <a:r>
              <a:t>→</a:t>
            </a:r>
          </a:p>
        </p:txBody>
      </p:sp>
      <p:sp>
        <p:nvSpPr>
          <p:cNvPr id="16" name="Rectangle 15"/>
          <p:cNvSpPr/>
          <p:nvPr/>
        </p:nvSpPr>
        <p:spPr>
          <a:xfrm>
            <a:off x="8366760" y="1783080"/>
            <a:ext cx="3154680" cy="1234440"/>
          </a:xfrm>
          <a:prstGeom prst="rect">
            <a:avLst/>
          </a:prstGeom>
          <a:solidFill>
            <a:srgbClr val="EDF4F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8531352" y="1920240"/>
            <a:ext cx="2834640" cy="365760"/>
          </a:xfrm>
          <a:prstGeom prst="rect">
            <a:avLst/>
          </a:prstGeom>
          <a:noFill/>
        </p:spPr>
        <p:txBody>
          <a:bodyPr wrap="square" lIns="0" rIns="0" tIns="0" bIns="0">
            <a:spAutoFit/>
          </a:bodyPr>
          <a:lstStyle/>
          <a:p>
            <a:pPr>
              <a:spcBef>
                <a:spcPts val="0"/>
              </a:spcBef>
              <a:spcAft>
                <a:spcPts val="500"/>
              </a:spcAft>
              <a:defRPr sz="2200" b="1">
                <a:solidFill>
                  <a:srgbClr val="127B80"/>
                </a:solidFill>
                <a:latin typeface="Arial"/>
              </a:defRPr>
            </a:pPr>
            <a:r>
              <a:t>Fine-tune độc lập</a:t>
            </a:r>
          </a:p>
        </p:txBody>
      </p:sp>
      <p:sp>
        <p:nvSpPr>
          <p:cNvPr id="18" name="TextBox 17"/>
          <p:cNvSpPr txBox="1"/>
          <p:nvPr/>
        </p:nvSpPr>
        <p:spPr>
          <a:xfrm>
            <a:off x="8531352" y="2423160"/>
            <a:ext cx="2834640" cy="502920"/>
          </a:xfrm>
          <a:prstGeom prst="rect">
            <a:avLst/>
          </a:prstGeom>
          <a:noFill/>
        </p:spPr>
        <p:txBody>
          <a:bodyPr wrap="square" lIns="0" rIns="0" tIns="0" bIns="0">
            <a:spAutoFit/>
          </a:bodyPr>
          <a:lstStyle/>
          <a:p>
            <a:pPr>
              <a:spcBef>
                <a:spcPts val="0"/>
              </a:spcBef>
              <a:spcAft>
                <a:spcPts val="500"/>
              </a:spcAft>
              <a:defRPr sz="1600" b="0">
                <a:solidFill>
                  <a:srgbClr val="173348"/>
                </a:solidFill>
                <a:latin typeface="Arial"/>
              </a:defRPr>
            </a:pPr>
            <a:r>
              <a:t>3 model × 2 miền</a:t>
            </a:r>
          </a:p>
          <a:p>
            <a:pPr>
              <a:spcBef>
                <a:spcPts val="0"/>
              </a:spcBef>
              <a:spcAft>
                <a:spcPts val="500"/>
              </a:spcAft>
              <a:defRPr sz="1600" b="0">
                <a:solidFill>
                  <a:srgbClr val="173348"/>
                </a:solidFill>
                <a:latin typeface="Arial"/>
              </a:defRPr>
            </a:pPr>
            <a:r>
              <a:t>× 3 seed</a:t>
            </a:r>
          </a:p>
        </p:txBody>
      </p:sp>
      <p:graphicFrame>
        <p:nvGraphicFramePr>
          <p:cNvPr id="19" name="Table 18"/>
          <p:cNvGraphicFramePr>
            <a:graphicFrameLocks noGrp="1"/>
          </p:cNvGraphicFramePr>
          <p:nvPr/>
        </p:nvGraphicFramePr>
        <p:xfrm>
          <a:off x="1508760" y="3566160"/>
          <a:ext cx="9189720" cy="1865376"/>
        </p:xfrm>
        <a:graphic>
          <a:graphicData uri="http://schemas.openxmlformats.org/drawingml/2006/table">
            <a:tbl>
              <a:tblPr firstRow="1" bandRow="1">
                <a:tableStyleId>{5C22544A-7EE6-4342-B048-85BDC9FD1C3A}</a:tableStyleId>
              </a:tblPr>
              <a:tblGrid>
                <a:gridCol w="2880360"/>
                <a:gridCol w="3154680"/>
                <a:gridCol w="3154680"/>
              </a:tblGrid>
              <a:tr h="621792">
                <a:tc>
                  <a:txBody>
                    <a:bodyPr/>
                    <a:lstStyle/>
                    <a:p>
                      <a:pPr>
                        <a:defRPr sz="1800" b="1">
                          <a:solidFill>
                            <a:srgbClr val="FFFFFF"/>
                          </a:solidFill>
                          <a:latin typeface="Arial"/>
                        </a:defRPr>
                      </a:pPr>
                      <a:r>
                        <a:t>Nguồn huấn luyện</a:t>
                      </a:r>
                    </a:p>
                  </a:txBody>
                  <a:tcPr marL="118872" marR="91440" marT="91440" marB="45720" anchor="ctr">
                    <a:solidFill>
                      <a:srgbClr val="173348"/>
                    </a:solidFill>
                  </a:tcPr>
                </a:tc>
                <a:tc>
                  <a:txBody>
                    <a:bodyPr/>
                    <a:lstStyle/>
                    <a:p>
                      <a:pPr>
                        <a:defRPr sz="1800" b="1">
                          <a:solidFill>
                            <a:srgbClr val="FFFFFF"/>
                          </a:solidFill>
                          <a:latin typeface="Arial"/>
                        </a:defRPr>
                      </a:pPr>
                      <a:r>
                        <a:t>Drone Test · 361 ảnh</a:t>
                      </a:r>
                    </a:p>
                  </a:txBody>
                  <a:tcPr marL="118872" marR="91440" marT="91440" marB="45720" anchor="ctr">
                    <a:solidFill>
                      <a:srgbClr val="173348"/>
                    </a:solidFill>
                  </a:tcPr>
                </a:tc>
                <a:tc>
                  <a:txBody>
                    <a:bodyPr/>
                    <a:lstStyle/>
                    <a:p>
                      <a:pPr>
                        <a:defRPr sz="1800" b="1">
                          <a:solidFill>
                            <a:srgbClr val="FFFFFF"/>
                          </a:solidFill>
                          <a:latin typeface="Arial"/>
                        </a:defRPr>
                      </a:pPr>
                      <a:r>
                        <a:t>MotorBike Test · 297 ảnh</a:t>
                      </a:r>
                    </a:p>
                  </a:txBody>
                  <a:tcPr marL="118872" marR="91440" marT="91440" marB="45720" anchor="ctr">
                    <a:solidFill>
                      <a:srgbClr val="173348"/>
                    </a:solidFill>
                  </a:tcPr>
                </a:tc>
              </a:tr>
              <a:tr h="621792">
                <a:tc>
                  <a:txBody>
                    <a:bodyPr/>
                    <a:lstStyle/>
                    <a:p>
                      <a:pPr>
                        <a:defRPr sz="1800" b="0">
                          <a:solidFill>
                            <a:srgbClr val="173348"/>
                          </a:solidFill>
                          <a:latin typeface="Arial"/>
                        </a:defRPr>
                      </a:pPr>
                      <a:r>
                        <a:t>Drone</a:t>
                      </a:r>
                    </a:p>
                  </a:txBody>
                  <a:tcPr marL="118872" marR="91440" marT="91440" marB="45720" anchor="ctr">
                    <a:solidFill>
                      <a:srgbClr val="F2F6F8"/>
                    </a:solidFill>
                  </a:tcPr>
                </a:tc>
                <a:tc>
                  <a:txBody>
                    <a:bodyPr/>
                    <a:lstStyle/>
                    <a:p>
                      <a:pPr>
                        <a:defRPr sz="1800" b="0">
                          <a:solidFill>
                            <a:srgbClr val="173348"/>
                          </a:solidFill>
                          <a:latin typeface="Arial"/>
                        </a:defRPr>
                      </a:pPr>
                      <a:r>
                        <a:t>Cùng miền: D → D</a:t>
                      </a:r>
                    </a:p>
                  </a:txBody>
                  <a:tcPr marL="118872" marR="91440" marT="91440" marB="45720" anchor="ctr">
                    <a:solidFill>
                      <a:srgbClr val="F2F6F8"/>
                    </a:solidFill>
                  </a:tcPr>
                </a:tc>
                <a:tc>
                  <a:txBody>
                    <a:bodyPr/>
                    <a:lstStyle/>
                    <a:p>
                      <a:pPr>
                        <a:defRPr sz="1800" b="0">
                          <a:solidFill>
                            <a:srgbClr val="173348"/>
                          </a:solidFill>
                          <a:latin typeface="Arial"/>
                        </a:defRPr>
                      </a:pPr>
                      <a:r>
                        <a:t>Xuyên miền: D → M</a:t>
                      </a:r>
                    </a:p>
                  </a:txBody>
                  <a:tcPr marL="118872" marR="91440" marT="91440" marB="45720" anchor="ctr">
                    <a:solidFill>
                      <a:srgbClr val="F2F6F8"/>
                    </a:solidFill>
                  </a:tcPr>
                </a:tc>
              </a:tr>
              <a:tr h="621792">
                <a:tc>
                  <a:txBody>
                    <a:bodyPr/>
                    <a:lstStyle/>
                    <a:p>
                      <a:pPr>
                        <a:defRPr sz="1800" b="0">
                          <a:solidFill>
                            <a:srgbClr val="173348"/>
                          </a:solidFill>
                          <a:latin typeface="Arial"/>
                        </a:defRPr>
                      </a:pPr>
                      <a:r>
                        <a:t>MotorBike</a:t>
                      </a:r>
                    </a:p>
                  </a:txBody>
                  <a:tcPr marL="118872" marR="91440" marT="91440" marB="45720" anchor="ctr">
                    <a:solidFill>
                      <a:srgbClr val="FFFFFF"/>
                    </a:solidFill>
                  </a:tcPr>
                </a:tc>
                <a:tc>
                  <a:txBody>
                    <a:bodyPr/>
                    <a:lstStyle/>
                    <a:p>
                      <a:pPr>
                        <a:defRPr sz="1800" b="0">
                          <a:solidFill>
                            <a:srgbClr val="173348"/>
                          </a:solidFill>
                          <a:latin typeface="Arial"/>
                        </a:defRPr>
                      </a:pPr>
                      <a:r>
                        <a:t>Xuyên miền: M → D</a:t>
                      </a:r>
                    </a:p>
                  </a:txBody>
                  <a:tcPr marL="118872" marR="91440" marT="91440" marB="45720" anchor="ctr">
                    <a:solidFill>
                      <a:srgbClr val="FFFFFF"/>
                    </a:solidFill>
                  </a:tcPr>
                </a:tc>
                <a:tc>
                  <a:txBody>
                    <a:bodyPr/>
                    <a:lstStyle/>
                    <a:p>
                      <a:pPr>
                        <a:defRPr sz="1800" b="0">
                          <a:solidFill>
                            <a:srgbClr val="173348"/>
                          </a:solidFill>
                          <a:latin typeface="Arial"/>
                        </a:defRPr>
                      </a:pPr>
                      <a:r>
                        <a:t>Cùng miền: M → M</a:t>
                      </a:r>
                    </a:p>
                  </a:txBody>
                  <a:tcPr marL="118872" marR="91440" marT="91440" marB="45720" anchor="ctr">
                    <a:solidFill>
                      <a:srgbClr val="FFFFFF"/>
                    </a:solidFill>
                  </a:tcPr>
                </a:tc>
              </a:tr>
            </a:tbl>
          </a:graphicData>
        </a:graphic>
      </p:graphicFrame>
      <p:sp>
        <p:nvSpPr>
          <p:cNvPr id="20" name="Rectangle 19"/>
          <p:cNvSpPr/>
          <p:nvPr/>
        </p:nvSpPr>
        <p:spPr>
          <a:xfrm>
            <a:off x="548640" y="5806440"/>
            <a:ext cx="11091672" cy="365760"/>
          </a:xfrm>
          <a:prstGeom prst="rect">
            <a:avLst/>
          </a:prstGeom>
          <a:solidFill>
            <a:srgbClr val="EDF4F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713232" y="5856731"/>
            <a:ext cx="10744200" cy="274320"/>
          </a:xfrm>
          <a:prstGeom prst="rect">
            <a:avLst/>
          </a:prstGeom>
          <a:noFill/>
        </p:spPr>
        <p:txBody>
          <a:bodyPr wrap="square" lIns="0" rIns="0" tIns="0" bIns="0">
            <a:spAutoFit/>
          </a:bodyPr>
          <a:lstStyle/>
          <a:p>
            <a:pPr>
              <a:spcBef>
                <a:spcPts val="0"/>
              </a:spcBef>
              <a:spcAft>
                <a:spcPts val="500"/>
              </a:spcAft>
              <a:defRPr sz="1500" b="1">
                <a:solidFill>
                  <a:srgbClr val="127B80"/>
                </a:solidFill>
                <a:latin typeface="Arial"/>
              </a:defRPr>
            </a:pPr>
            <a:r>
              <a:t>Trong mỗi cột test, hai mô hình được chấm trên cùng ảnh; ghép cặp theo seed khi tính gap.</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999" cy="59436"/>
          </a:xfrm>
          <a:prstGeom prst="rect">
            <a:avLst/>
          </a:prstGeom>
          <a:solidFill>
            <a:srgbClr val="127B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48640" y="256032"/>
            <a:ext cx="10972800" cy="228600"/>
          </a:xfrm>
          <a:prstGeom prst="rect">
            <a:avLst/>
          </a:prstGeom>
          <a:noFill/>
        </p:spPr>
        <p:txBody>
          <a:bodyPr wrap="square" lIns="0" rIns="0" tIns="0" bIns="0">
            <a:spAutoFit/>
          </a:bodyPr>
          <a:lstStyle/>
          <a:p>
            <a:pPr>
              <a:spcBef>
                <a:spcPts val="0"/>
              </a:spcBef>
              <a:spcAft>
                <a:spcPts val="500"/>
              </a:spcAft>
              <a:defRPr sz="1100" b="1">
                <a:solidFill>
                  <a:srgbClr val="127B80"/>
                </a:solidFill>
                <a:latin typeface="Arial"/>
              </a:defRPr>
            </a:pPr>
            <a:r>
              <a:t>04 · PHƯƠNG PHÁP NGHIÊN CỨU</a:t>
            </a:r>
          </a:p>
        </p:txBody>
      </p:sp>
      <p:sp>
        <p:nvSpPr>
          <p:cNvPr id="4" name="TextBox 3"/>
          <p:cNvSpPr txBox="1"/>
          <p:nvPr/>
        </p:nvSpPr>
        <p:spPr>
          <a:xfrm>
            <a:off x="548640" y="768096"/>
            <a:ext cx="11109960" cy="822960"/>
          </a:xfrm>
          <a:prstGeom prst="rect">
            <a:avLst/>
          </a:prstGeom>
          <a:noFill/>
        </p:spPr>
        <p:txBody>
          <a:bodyPr wrap="square" lIns="0" rIns="0" tIns="0" bIns="0">
            <a:spAutoFit/>
          </a:bodyPr>
          <a:lstStyle/>
          <a:p>
            <a:pPr>
              <a:spcBef>
                <a:spcPts val="0"/>
              </a:spcBef>
              <a:spcAft>
                <a:spcPts val="500"/>
              </a:spcAft>
              <a:defRPr sz="2700" b="1">
                <a:solidFill>
                  <a:srgbClr val="173348"/>
                </a:solidFill>
                <a:latin typeface="Arial"/>
              </a:defRPr>
            </a:pPr>
            <a:r>
              <a:t>Gap được tính bằng chênh lệch trên cùng ảnh đích</a:t>
            </a:r>
          </a:p>
        </p:txBody>
      </p:sp>
      <p:cxnSp>
        <p:nvCxnSpPr>
          <p:cNvPr id="5" name="Connector 4"/>
          <p:cNvCxnSpPr/>
          <p:nvPr/>
        </p:nvCxnSpPr>
        <p:spPr>
          <a:xfrm>
            <a:off x="548640" y="6327648"/>
            <a:ext cx="11091672" cy="0"/>
          </a:xfrm>
          <a:prstGeom prst="line">
            <a:avLst/>
          </a:prstGeom>
          <a:ln w="16510">
            <a:solidFill>
              <a:srgbClr val="DCE6EC"/>
            </a:solidFill>
          </a:ln>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548640" y="6446520"/>
            <a:ext cx="10652760" cy="274320"/>
          </a:xfrm>
          <a:prstGeom prst="rect">
            <a:avLst/>
          </a:prstGeom>
          <a:noFill/>
        </p:spPr>
        <p:txBody>
          <a:bodyPr wrap="square" lIns="0" rIns="0" tIns="0" bIns="0">
            <a:spAutoFit/>
          </a:bodyPr>
          <a:lstStyle/>
          <a:p>
            <a:pPr>
              <a:spcBef>
                <a:spcPts val="0"/>
              </a:spcBef>
              <a:spcAft>
                <a:spcPts val="500"/>
              </a:spcAft>
              <a:defRPr sz="1000" b="0">
                <a:solidFill>
                  <a:srgbClr val="536778"/>
                </a:solidFill>
                <a:latin typeface="Arial"/>
              </a:defRPr>
            </a:pPr>
            <a:r>
              <a:t>Nguồn: paper, định nghĩa fixed-target gap và Bảng V · Đơn vị gap: điểm phần trăm (pp)</a:t>
            </a:r>
          </a:p>
        </p:txBody>
      </p:sp>
      <p:sp>
        <p:nvSpPr>
          <p:cNvPr id="7" name="TextBox 6"/>
          <p:cNvSpPr txBox="1"/>
          <p:nvPr/>
        </p:nvSpPr>
        <p:spPr>
          <a:xfrm>
            <a:off x="11155680" y="6419088"/>
            <a:ext cx="484632" cy="292608"/>
          </a:xfrm>
          <a:prstGeom prst="rect">
            <a:avLst/>
          </a:prstGeom>
          <a:noFill/>
        </p:spPr>
        <p:txBody>
          <a:bodyPr wrap="square" lIns="0" rIns="0" tIns="0" bIns="0">
            <a:spAutoFit/>
          </a:bodyPr>
          <a:lstStyle/>
          <a:p>
            <a:pPr algn="r">
              <a:spcBef>
                <a:spcPts val="0"/>
              </a:spcBef>
              <a:spcAft>
                <a:spcPts val="500"/>
              </a:spcAft>
              <a:defRPr sz="1200" b="1">
                <a:solidFill>
                  <a:srgbClr val="127B80"/>
                </a:solidFill>
                <a:latin typeface="Arial"/>
              </a:defRPr>
            </a:pPr>
            <a:r>
              <a:t>10</a:t>
            </a:r>
          </a:p>
        </p:txBody>
      </p:sp>
      <p:sp>
        <p:nvSpPr>
          <p:cNvPr id="8" name="Rectangle 7"/>
          <p:cNvSpPr/>
          <p:nvPr/>
        </p:nvSpPr>
        <p:spPr>
          <a:xfrm>
            <a:off x="731520" y="1828800"/>
            <a:ext cx="10744200" cy="1143000"/>
          </a:xfrm>
          <a:prstGeom prst="rect">
            <a:avLst/>
          </a:prstGeom>
          <a:solidFill>
            <a:srgbClr val="EDF4F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932688" y="2103120"/>
            <a:ext cx="10241280" cy="502920"/>
          </a:xfrm>
          <a:prstGeom prst="rect">
            <a:avLst/>
          </a:prstGeom>
          <a:noFill/>
        </p:spPr>
        <p:txBody>
          <a:bodyPr wrap="square" lIns="0" rIns="0" tIns="0" bIns="0">
            <a:spAutoFit/>
          </a:bodyPr>
          <a:lstStyle/>
          <a:p>
            <a:pPr algn="ctr">
              <a:spcBef>
                <a:spcPts val="0"/>
              </a:spcBef>
              <a:spcAft>
                <a:spcPts val="500"/>
              </a:spcAft>
              <a:defRPr sz="3000" b="1">
                <a:solidFill>
                  <a:srgbClr val="127B80"/>
                </a:solidFill>
                <a:latin typeface="Arial"/>
              </a:defRPr>
            </a:pPr>
            <a:r>
              <a:t>G(Y) = mAP(Y → Y) − mAP(X → Y)</a:t>
            </a:r>
          </a:p>
        </p:txBody>
      </p:sp>
      <p:sp>
        <p:nvSpPr>
          <p:cNvPr id="10" name="TextBox 9"/>
          <p:cNvSpPr txBox="1"/>
          <p:nvPr/>
        </p:nvSpPr>
        <p:spPr>
          <a:xfrm>
            <a:off x="868680" y="3337560"/>
            <a:ext cx="4937760" cy="438912"/>
          </a:xfrm>
          <a:prstGeom prst="rect">
            <a:avLst/>
          </a:prstGeom>
          <a:noFill/>
        </p:spPr>
        <p:txBody>
          <a:bodyPr wrap="square" lIns="0" rIns="0" tIns="0" bIns="0">
            <a:spAutoFit/>
          </a:bodyPr>
          <a:lstStyle/>
          <a:p>
            <a:pPr>
              <a:spcBef>
                <a:spcPts val="0"/>
              </a:spcBef>
              <a:spcAft>
                <a:spcPts val="500"/>
              </a:spcAft>
              <a:defRPr sz="2400" b="1">
                <a:solidFill>
                  <a:srgbClr val="127B80"/>
                </a:solidFill>
                <a:latin typeface="Arial"/>
              </a:defRPr>
            </a:pPr>
            <a:r>
              <a:t>Chỉ số chính</a:t>
            </a:r>
          </a:p>
        </p:txBody>
      </p:sp>
      <p:sp>
        <p:nvSpPr>
          <p:cNvPr id="11" name="TextBox 10"/>
          <p:cNvSpPr txBox="1"/>
          <p:nvPr/>
        </p:nvSpPr>
        <p:spPr>
          <a:xfrm>
            <a:off x="868680" y="3931920"/>
            <a:ext cx="4937760" cy="1234440"/>
          </a:xfrm>
          <a:prstGeom prst="rect">
            <a:avLst/>
          </a:prstGeom>
          <a:noFill/>
        </p:spPr>
        <p:txBody>
          <a:bodyPr wrap="square" lIns="0" rIns="0" tIns="0" bIns="0">
            <a:spAutoFit/>
          </a:bodyPr>
          <a:lstStyle/>
          <a:p>
            <a:pPr>
              <a:spcBef>
                <a:spcPts val="0"/>
              </a:spcBef>
              <a:spcAft>
                <a:spcPts val="500"/>
              </a:spcAft>
              <a:defRPr sz="2100" b="0">
                <a:solidFill>
                  <a:srgbClr val="173348"/>
                </a:solidFill>
                <a:latin typeface="Arial"/>
              </a:defRPr>
            </a:pPr>
            <a:r>
              <a:t>mAP@50:95 (%)</a:t>
            </a:r>
          </a:p>
          <a:p>
            <a:pPr>
              <a:spcBef>
                <a:spcPts val="0"/>
              </a:spcBef>
              <a:spcAft>
                <a:spcPts val="500"/>
              </a:spcAft>
              <a:defRPr sz="2100" b="0">
                <a:solidFill>
                  <a:srgbClr val="173348"/>
                </a:solidFill>
                <a:latin typeface="Arial"/>
              </a:defRPr>
            </a:pPr>
            <a:r>
              <a:t>Trung bình AP của 4 lớp</a:t>
            </a:r>
          </a:p>
          <a:p>
            <a:pPr>
              <a:spcBef>
                <a:spcPts val="0"/>
              </a:spcBef>
              <a:spcAft>
                <a:spcPts val="500"/>
              </a:spcAft>
              <a:defRPr sz="2100" b="0">
                <a:solidFill>
                  <a:srgbClr val="173348"/>
                </a:solidFill>
                <a:latin typeface="Arial"/>
              </a:defRPr>
            </a:pPr>
            <a:r>
              <a:t>trên các ngưỡng IoU 0,50–0,95</a:t>
            </a:r>
          </a:p>
        </p:txBody>
      </p:sp>
      <p:sp>
        <p:nvSpPr>
          <p:cNvPr id="12" name="TextBox 11"/>
          <p:cNvSpPr txBox="1"/>
          <p:nvPr/>
        </p:nvSpPr>
        <p:spPr>
          <a:xfrm>
            <a:off x="6400800" y="3337560"/>
            <a:ext cx="4754880" cy="438912"/>
          </a:xfrm>
          <a:prstGeom prst="rect">
            <a:avLst/>
          </a:prstGeom>
          <a:noFill/>
        </p:spPr>
        <p:txBody>
          <a:bodyPr wrap="square" lIns="0" rIns="0" tIns="0" bIns="0">
            <a:spAutoFit/>
          </a:bodyPr>
          <a:lstStyle/>
          <a:p>
            <a:pPr>
              <a:spcBef>
                <a:spcPts val="0"/>
              </a:spcBef>
              <a:spcAft>
                <a:spcPts val="500"/>
              </a:spcAft>
              <a:defRPr sz="2400" b="1">
                <a:solidFill>
                  <a:srgbClr val="127B80"/>
                </a:solidFill>
                <a:latin typeface="Arial"/>
              </a:defRPr>
            </a:pPr>
            <a:r>
              <a:t>Cách tổng hợp</a:t>
            </a:r>
          </a:p>
        </p:txBody>
      </p:sp>
      <p:sp>
        <p:nvSpPr>
          <p:cNvPr id="13" name="TextBox 12"/>
          <p:cNvSpPr txBox="1"/>
          <p:nvPr/>
        </p:nvSpPr>
        <p:spPr>
          <a:xfrm>
            <a:off x="6400800" y="3931920"/>
            <a:ext cx="4754880" cy="1234440"/>
          </a:xfrm>
          <a:prstGeom prst="rect">
            <a:avLst/>
          </a:prstGeom>
          <a:noFill/>
        </p:spPr>
        <p:txBody>
          <a:bodyPr wrap="square" lIns="0" rIns="0" tIns="0" bIns="0">
            <a:spAutoFit/>
          </a:bodyPr>
          <a:lstStyle/>
          <a:p>
            <a:pPr>
              <a:spcBef>
                <a:spcPts val="0"/>
              </a:spcBef>
              <a:spcAft>
                <a:spcPts val="500"/>
              </a:spcAft>
              <a:defRPr sz="2100" b="0">
                <a:solidFill>
                  <a:srgbClr val="173348"/>
                </a:solidFill>
                <a:latin typeface="Arial"/>
              </a:defRPr>
            </a:pPr>
            <a:r>
              <a:t>Gap cho từng seed ghép cặp</a:t>
            </a:r>
          </a:p>
          <a:p>
            <a:pPr>
              <a:spcBef>
                <a:spcPts val="0"/>
              </a:spcBef>
              <a:spcAft>
                <a:spcPts val="500"/>
              </a:spcAft>
              <a:defRPr sz="2100" b="0">
                <a:solidFill>
                  <a:srgbClr val="173348"/>
                </a:solidFill>
                <a:latin typeface="Arial"/>
              </a:defRPr>
            </a:pPr>
            <a:r>
              <a:t>Báo cáo trung bình ± SD</a:t>
            </a:r>
          </a:p>
          <a:p>
            <a:pPr>
              <a:spcBef>
                <a:spcPts val="0"/>
              </a:spcBef>
              <a:spcAft>
                <a:spcPts val="500"/>
              </a:spcAft>
              <a:defRPr sz="2100" b="0">
                <a:solidFill>
                  <a:srgbClr val="173348"/>
                </a:solidFill>
                <a:latin typeface="Arial"/>
              </a:defRPr>
            </a:pPr>
            <a:r>
              <a:t>SD qua 3 seed, không phải CI</a:t>
            </a:r>
          </a:p>
        </p:txBody>
      </p:sp>
      <p:sp>
        <p:nvSpPr>
          <p:cNvPr id="14" name="Rectangle 13"/>
          <p:cNvSpPr/>
          <p:nvPr/>
        </p:nvSpPr>
        <p:spPr>
          <a:xfrm>
            <a:off x="548640" y="5806440"/>
            <a:ext cx="11091672" cy="365760"/>
          </a:xfrm>
          <a:prstGeom prst="rect">
            <a:avLst/>
          </a:prstGeom>
          <a:solidFill>
            <a:srgbClr val="EDF4F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713232" y="5856731"/>
            <a:ext cx="10744200" cy="274320"/>
          </a:xfrm>
          <a:prstGeom prst="rect">
            <a:avLst/>
          </a:prstGeom>
          <a:noFill/>
        </p:spPr>
        <p:txBody>
          <a:bodyPr wrap="square" lIns="0" rIns="0" tIns="0" bIns="0">
            <a:spAutoFit/>
          </a:bodyPr>
          <a:lstStyle/>
          <a:p>
            <a:pPr>
              <a:spcBef>
                <a:spcPts val="0"/>
              </a:spcBef>
              <a:spcAft>
                <a:spcPts val="500"/>
              </a:spcAft>
              <a:defRPr sz="1500" b="1">
                <a:solidFill>
                  <a:srgbClr val="127B80"/>
                </a:solidFill>
                <a:latin typeface="Arial"/>
              </a:defRPr>
            </a:pPr>
            <a:r>
              <a:t>G(Y) &gt; 0: huấn luyện trên miền đích có lợi thế; giảm tương đối (%) = 100 × G(Y) / mAP(Y → 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999" cy="59436"/>
          </a:xfrm>
          <a:prstGeom prst="rect">
            <a:avLst/>
          </a:prstGeom>
          <a:solidFill>
            <a:srgbClr val="127B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48640" y="256032"/>
            <a:ext cx="10972800" cy="228600"/>
          </a:xfrm>
          <a:prstGeom prst="rect">
            <a:avLst/>
          </a:prstGeom>
          <a:noFill/>
        </p:spPr>
        <p:txBody>
          <a:bodyPr wrap="square" lIns="0" rIns="0" tIns="0" bIns="0">
            <a:spAutoFit/>
          </a:bodyPr>
          <a:lstStyle/>
          <a:p>
            <a:pPr>
              <a:spcBef>
                <a:spcPts val="0"/>
              </a:spcBef>
              <a:spcAft>
                <a:spcPts val="500"/>
              </a:spcAft>
              <a:defRPr sz="1100" b="1">
                <a:solidFill>
                  <a:srgbClr val="127B80"/>
                </a:solidFill>
                <a:latin typeface="Arial"/>
              </a:defRPr>
            </a:pPr>
            <a:r>
              <a:t>05 · MÔ HÌNH VÀ HUẤN LUYỆN</a:t>
            </a:r>
          </a:p>
        </p:txBody>
      </p:sp>
      <p:sp>
        <p:nvSpPr>
          <p:cNvPr id="4" name="TextBox 3"/>
          <p:cNvSpPr txBox="1"/>
          <p:nvPr/>
        </p:nvSpPr>
        <p:spPr>
          <a:xfrm>
            <a:off x="548640" y="768096"/>
            <a:ext cx="11109960" cy="822960"/>
          </a:xfrm>
          <a:prstGeom prst="rect">
            <a:avLst/>
          </a:prstGeom>
          <a:noFill/>
        </p:spPr>
        <p:txBody>
          <a:bodyPr wrap="square" lIns="0" rIns="0" tIns="0" bIns="0">
            <a:spAutoFit/>
          </a:bodyPr>
          <a:lstStyle/>
          <a:p>
            <a:pPr>
              <a:spcBef>
                <a:spcPts val="0"/>
              </a:spcBef>
              <a:spcAft>
                <a:spcPts val="500"/>
              </a:spcAft>
              <a:defRPr sz="2700" b="1">
                <a:solidFill>
                  <a:srgbClr val="173348"/>
                </a:solidFill>
                <a:latin typeface="Arial"/>
              </a:defRPr>
            </a:pPr>
            <a:r>
              <a:t>Ba biến thể nano dùng chung cấu hình fine-tune tường minh</a:t>
            </a:r>
          </a:p>
        </p:txBody>
      </p:sp>
      <p:cxnSp>
        <p:nvCxnSpPr>
          <p:cNvPr id="5" name="Connector 4"/>
          <p:cNvCxnSpPr/>
          <p:nvPr/>
        </p:nvCxnSpPr>
        <p:spPr>
          <a:xfrm>
            <a:off x="548640" y="6327648"/>
            <a:ext cx="11091672" cy="0"/>
          </a:xfrm>
          <a:prstGeom prst="line">
            <a:avLst/>
          </a:prstGeom>
          <a:ln w="16510">
            <a:solidFill>
              <a:srgbClr val="DCE6EC"/>
            </a:solidFill>
          </a:ln>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548640" y="6446520"/>
            <a:ext cx="10652760" cy="274320"/>
          </a:xfrm>
          <a:prstGeom prst="rect">
            <a:avLst/>
          </a:prstGeom>
          <a:noFill/>
        </p:spPr>
        <p:txBody>
          <a:bodyPr wrap="square" lIns="0" rIns="0" tIns="0" bIns="0">
            <a:spAutoFit/>
          </a:bodyPr>
          <a:lstStyle/>
          <a:p>
            <a:pPr>
              <a:spcBef>
                <a:spcPts val="0"/>
              </a:spcBef>
              <a:spcAft>
                <a:spcPts val="500"/>
              </a:spcAft>
              <a:defRPr sz="1000" b="0">
                <a:solidFill>
                  <a:srgbClr val="536778"/>
                </a:solidFill>
                <a:latin typeface="Arial"/>
              </a:defRPr>
            </a:pPr>
            <a:r>
              <a:t>Nguồn: paper, thiết lập thực nghiệm; data/training_audit.csv · 18/18 log đủ 150 epoch</a:t>
            </a:r>
          </a:p>
        </p:txBody>
      </p:sp>
      <p:sp>
        <p:nvSpPr>
          <p:cNvPr id="7" name="TextBox 6"/>
          <p:cNvSpPr txBox="1"/>
          <p:nvPr/>
        </p:nvSpPr>
        <p:spPr>
          <a:xfrm>
            <a:off x="11155680" y="6419088"/>
            <a:ext cx="484632" cy="292608"/>
          </a:xfrm>
          <a:prstGeom prst="rect">
            <a:avLst/>
          </a:prstGeom>
          <a:noFill/>
        </p:spPr>
        <p:txBody>
          <a:bodyPr wrap="square" lIns="0" rIns="0" tIns="0" bIns="0">
            <a:spAutoFit/>
          </a:bodyPr>
          <a:lstStyle/>
          <a:p>
            <a:pPr algn="r">
              <a:spcBef>
                <a:spcPts val="0"/>
              </a:spcBef>
              <a:spcAft>
                <a:spcPts val="500"/>
              </a:spcAft>
              <a:defRPr sz="1200" b="1">
                <a:solidFill>
                  <a:srgbClr val="127B80"/>
                </a:solidFill>
                <a:latin typeface="Arial"/>
              </a:defRPr>
            </a:pPr>
            <a:r>
              <a:t>11</a:t>
            </a:r>
          </a:p>
        </p:txBody>
      </p:sp>
      <p:sp>
        <p:nvSpPr>
          <p:cNvPr id="8" name="Rectangle 7"/>
          <p:cNvSpPr/>
          <p:nvPr/>
        </p:nvSpPr>
        <p:spPr>
          <a:xfrm>
            <a:off x="731520" y="1783080"/>
            <a:ext cx="3474720" cy="777240"/>
          </a:xfrm>
          <a:prstGeom prst="rect">
            <a:avLst/>
          </a:prstGeom>
          <a:solidFill>
            <a:srgbClr val="F1F6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868680" y="1956816"/>
            <a:ext cx="3200400" cy="411480"/>
          </a:xfrm>
          <a:prstGeom prst="rect">
            <a:avLst/>
          </a:prstGeom>
          <a:noFill/>
        </p:spPr>
        <p:txBody>
          <a:bodyPr wrap="square" lIns="0" rIns="0" tIns="0" bIns="0">
            <a:spAutoFit/>
          </a:bodyPr>
          <a:lstStyle/>
          <a:p>
            <a:pPr algn="ctr">
              <a:spcBef>
                <a:spcPts val="0"/>
              </a:spcBef>
              <a:spcAft>
                <a:spcPts val="500"/>
              </a:spcAft>
              <a:defRPr sz="2600" b="1">
                <a:solidFill>
                  <a:srgbClr val="176B87"/>
                </a:solidFill>
                <a:latin typeface="Arial"/>
              </a:defRPr>
            </a:pPr>
            <a:r>
              <a:t>YOLO11n</a:t>
            </a:r>
          </a:p>
        </p:txBody>
      </p:sp>
      <p:sp>
        <p:nvSpPr>
          <p:cNvPr id="10" name="Rectangle 9"/>
          <p:cNvSpPr/>
          <p:nvPr/>
        </p:nvSpPr>
        <p:spPr>
          <a:xfrm>
            <a:off x="4526280" y="1783080"/>
            <a:ext cx="3474720" cy="777240"/>
          </a:xfrm>
          <a:prstGeom prst="rect">
            <a:avLst/>
          </a:prstGeom>
          <a:solidFill>
            <a:srgbClr val="F1F6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4663440" y="1956816"/>
            <a:ext cx="3200400" cy="411480"/>
          </a:xfrm>
          <a:prstGeom prst="rect">
            <a:avLst/>
          </a:prstGeom>
          <a:noFill/>
        </p:spPr>
        <p:txBody>
          <a:bodyPr wrap="square" lIns="0" rIns="0" tIns="0" bIns="0">
            <a:spAutoFit/>
          </a:bodyPr>
          <a:lstStyle/>
          <a:p>
            <a:pPr algn="ctr">
              <a:spcBef>
                <a:spcPts val="0"/>
              </a:spcBef>
              <a:spcAft>
                <a:spcPts val="500"/>
              </a:spcAft>
              <a:defRPr sz="2600" b="1">
                <a:solidFill>
                  <a:srgbClr val="61899C"/>
                </a:solidFill>
                <a:latin typeface="Arial"/>
              </a:defRPr>
            </a:pPr>
            <a:r>
              <a:t>YOLOv8n</a:t>
            </a:r>
          </a:p>
        </p:txBody>
      </p:sp>
      <p:sp>
        <p:nvSpPr>
          <p:cNvPr id="12" name="Rectangle 11"/>
          <p:cNvSpPr/>
          <p:nvPr/>
        </p:nvSpPr>
        <p:spPr>
          <a:xfrm>
            <a:off x="8321040" y="1783080"/>
            <a:ext cx="3474720" cy="777240"/>
          </a:xfrm>
          <a:prstGeom prst="rect">
            <a:avLst/>
          </a:prstGeom>
          <a:solidFill>
            <a:srgbClr val="F1F6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8458200" y="1956816"/>
            <a:ext cx="3200400" cy="411480"/>
          </a:xfrm>
          <a:prstGeom prst="rect">
            <a:avLst/>
          </a:prstGeom>
          <a:noFill/>
        </p:spPr>
        <p:txBody>
          <a:bodyPr wrap="square" lIns="0" rIns="0" tIns="0" bIns="0">
            <a:spAutoFit/>
          </a:bodyPr>
          <a:lstStyle/>
          <a:p>
            <a:pPr algn="ctr">
              <a:spcBef>
                <a:spcPts val="0"/>
              </a:spcBef>
              <a:spcAft>
                <a:spcPts val="500"/>
              </a:spcAft>
              <a:defRPr sz="2600" b="1">
                <a:solidFill>
                  <a:srgbClr val="D89335"/>
                </a:solidFill>
                <a:latin typeface="Arial"/>
              </a:defRPr>
            </a:pPr>
            <a:r>
              <a:t>YOLO26n</a:t>
            </a:r>
          </a:p>
        </p:txBody>
      </p:sp>
      <p:graphicFrame>
        <p:nvGraphicFramePr>
          <p:cNvPr id="14" name="Table 13"/>
          <p:cNvGraphicFramePr>
            <a:graphicFrameLocks noGrp="1"/>
          </p:cNvGraphicFramePr>
          <p:nvPr/>
        </p:nvGraphicFramePr>
        <p:xfrm>
          <a:off x="731520" y="2907792"/>
          <a:ext cx="10744200" cy="2606035"/>
        </p:xfrm>
        <a:graphic>
          <a:graphicData uri="http://schemas.openxmlformats.org/drawingml/2006/table">
            <a:tbl>
              <a:tblPr firstRow="1" bandRow="1">
                <a:tableStyleId>{5C22544A-7EE6-4342-B048-85BDC9FD1C3A}</a:tableStyleId>
              </a:tblPr>
              <a:tblGrid>
                <a:gridCol w="2743200"/>
                <a:gridCol w="8001000"/>
              </a:tblGrid>
              <a:tr h="521207">
                <a:tc>
                  <a:txBody>
                    <a:bodyPr/>
                    <a:lstStyle/>
                    <a:p>
                      <a:pPr>
                        <a:defRPr sz="1700" b="1">
                          <a:solidFill>
                            <a:srgbClr val="FFFFFF"/>
                          </a:solidFill>
                          <a:latin typeface="Arial"/>
                        </a:defRPr>
                      </a:pPr>
                      <a:r>
                        <a:t>Thành phần</a:t>
                      </a:r>
                    </a:p>
                  </a:txBody>
                  <a:tcPr marL="118872" marR="91440" marT="91440" marB="45720" anchor="ctr">
                    <a:solidFill>
                      <a:srgbClr val="173348"/>
                    </a:solidFill>
                  </a:tcPr>
                </a:tc>
                <a:tc>
                  <a:txBody>
                    <a:bodyPr/>
                    <a:lstStyle/>
                    <a:p>
                      <a:pPr>
                        <a:defRPr sz="1700" b="1">
                          <a:solidFill>
                            <a:srgbClr val="FFFFFF"/>
                          </a:solidFill>
                          <a:latin typeface="Arial"/>
                        </a:defRPr>
                      </a:pPr>
                      <a:r>
                        <a:t>Cấu hình</a:t>
                      </a:r>
                    </a:p>
                  </a:txBody>
                  <a:tcPr marL="118872" marR="91440" marT="91440" marB="45720" anchor="ctr">
                    <a:solidFill>
                      <a:srgbClr val="173348"/>
                    </a:solidFill>
                  </a:tcPr>
                </a:tc>
              </a:tr>
              <a:tr h="521207">
                <a:tc>
                  <a:txBody>
                    <a:bodyPr/>
                    <a:lstStyle/>
                    <a:p>
                      <a:pPr>
                        <a:defRPr sz="1700" b="0">
                          <a:solidFill>
                            <a:srgbClr val="173348"/>
                          </a:solidFill>
                          <a:latin typeface="Arial"/>
                        </a:defRPr>
                      </a:pPr>
                      <a:r>
                        <a:t>Khởi tạo / thư viện</a:t>
                      </a:r>
                    </a:p>
                  </a:txBody>
                  <a:tcPr marL="118872" marR="91440" marT="91440" marB="45720" anchor="ctr">
                    <a:solidFill>
                      <a:srgbClr val="F2F6F8"/>
                    </a:solidFill>
                  </a:tcPr>
                </a:tc>
                <a:tc>
                  <a:txBody>
                    <a:bodyPr/>
                    <a:lstStyle/>
                    <a:p>
                      <a:pPr>
                        <a:defRPr sz="1700" b="0">
                          <a:solidFill>
                            <a:srgbClr val="173348"/>
                          </a:solidFill>
                          <a:latin typeface="Arial"/>
                        </a:defRPr>
                      </a:pPr>
                      <a:r>
                        <a:t>COCO-pretrained · Ultralytics 8.4.190</a:t>
                      </a:r>
                    </a:p>
                  </a:txBody>
                  <a:tcPr marL="118872" marR="91440" marT="91440" marB="45720" anchor="ctr">
                    <a:solidFill>
                      <a:srgbClr val="F2F6F8"/>
                    </a:solidFill>
                  </a:tcPr>
                </a:tc>
              </a:tr>
              <a:tr h="521207">
                <a:tc>
                  <a:txBody>
                    <a:bodyPr/>
                    <a:lstStyle/>
                    <a:p>
                      <a:pPr>
                        <a:defRPr sz="1700" b="0">
                          <a:solidFill>
                            <a:srgbClr val="173348"/>
                          </a:solidFill>
                          <a:latin typeface="Arial"/>
                        </a:defRPr>
                      </a:pPr>
                      <a:r>
                        <a:t>Ngân sách</a:t>
                      </a:r>
                    </a:p>
                  </a:txBody>
                  <a:tcPr marL="118872" marR="91440" marT="91440" marB="45720" anchor="ctr">
                    <a:solidFill>
                      <a:srgbClr val="FFFFFF"/>
                    </a:solidFill>
                  </a:tcPr>
                </a:tc>
                <a:tc>
                  <a:txBody>
                    <a:bodyPr/>
                    <a:lstStyle/>
                    <a:p>
                      <a:pPr>
                        <a:defRPr sz="1700" b="0">
                          <a:solidFill>
                            <a:srgbClr val="173348"/>
                          </a:solidFill>
                          <a:latin typeface="Arial"/>
                        </a:defRPr>
                      </a:pPr>
                      <a:r>
                        <a:t>150 epoch · batch 8 · ảnh 640 · patience = 0</a:t>
                      </a:r>
                    </a:p>
                  </a:txBody>
                  <a:tcPr marL="118872" marR="91440" marT="91440" marB="45720" anchor="ctr">
                    <a:solidFill>
                      <a:srgbClr val="FFFFFF"/>
                    </a:solidFill>
                  </a:tcPr>
                </a:tc>
              </a:tr>
              <a:tr h="521207">
                <a:tc>
                  <a:txBody>
                    <a:bodyPr/>
                    <a:lstStyle/>
                    <a:p>
                      <a:pPr>
                        <a:defRPr sz="1700" b="0">
                          <a:solidFill>
                            <a:srgbClr val="173348"/>
                          </a:solidFill>
                          <a:latin typeface="Arial"/>
                        </a:defRPr>
                      </a:pPr>
                      <a:r>
                        <a:t>Tối ưu</a:t>
                      </a:r>
                    </a:p>
                  </a:txBody>
                  <a:tcPr marL="118872" marR="91440" marT="91440" marB="45720" anchor="ctr">
                    <a:solidFill>
                      <a:srgbClr val="F2F6F8"/>
                    </a:solidFill>
                  </a:tcPr>
                </a:tc>
                <a:tc>
                  <a:txBody>
                    <a:bodyPr/>
                    <a:lstStyle/>
                    <a:p>
                      <a:pPr>
                        <a:defRPr sz="1700" b="0">
                          <a:solidFill>
                            <a:srgbClr val="173348"/>
                          </a:solidFill>
                          <a:latin typeface="Arial"/>
                        </a:defRPr>
                      </a:pPr>
                      <a:r>
                        <a:t>SGD · lr 0,01 · momentum 0,937 · weight decay 0,0005</a:t>
                      </a:r>
                    </a:p>
                  </a:txBody>
                  <a:tcPr marL="118872" marR="91440" marT="91440" marB="45720" anchor="ctr">
                    <a:solidFill>
                      <a:srgbClr val="F2F6F8"/>
                    </a:solidFill>
                  </a:tcPr>
                </a:tc>
              </a:tr>
              <a:tr h="521207">
                <a:tc>
                  <a:txBody>
                    <a:bodyPr/>
                    <a:lstStyle/>
                    <a:p>
                      <a:pPr>
                        <a:defRPr sz="1700" b="0">
                          <a:solidFill>
                            <a:srgbClr val="173348"/>
                          </a:solidFill>
                          <a:latin typeface="Arial"/>
                        </a:defRPr>
                      </a:pPr>
                      <a:r>
                        <a:t>Biến đổi ảnh</a:t>
                      </a:r>
                    </a:p>
                  </a:txBody>
                  <a:tcPr marL="118872" marR="91440" marT="91440" marB="45720" anchor="ctr">
                    <a:solidFill>
                      <a:srgbClr val="FFFFFF"/>
                    </a:solidFill>
                  </a:tcPr>
                </a:tc>
                <a:tc>
                  <a:txBody>
                    <a:bodyPr/>
                    <a:lstStyle/>
                    <a:p>
                      <a:pPr>
                        <a:defRPr sz="1700" b="0">
                          <a:solidFill>
                            <a:srgbClr val="173348"/>
                          </a:solidFill>
                          <a:latin typeface="Arial"/>
                        </a:defRPr>
                      </a:pPr>
                      <a:r>
                        <a:t>Tắt mosaic, mixup, HSV · translate 0,05 · scale 0,15 · fliplr 0,5</a:t>
                      </a:r>
                    </a:p>
                  </a:txBody>
                  <a:tcPr marL="118872" marR="91440" marT="91440" marB="45720" anchor="ctr">
                    <a:solidFill>
                      <a:srgbClr val="FFFFFF"/>
                    </a:solidFill>
                  </a:tcPr>
                </a:tc>
              </a:tr>
            </a:tbl>
          </a:graphicData>
        </a:graphic>
      </p:graphicFrame>
      <p:sp>
        <p:nvSpPr>
          <p:cNvPr id="15" name="Rectangle 14"/>
          <p:cNvSpPr/>
          <p:nvPr/>
        </p:nvSpPr>
        <p:spPr>
          <a:xfrm>
            <a:off x="548640" y="5806440"/>
            <a:ext cx="11091672" cy="365760"/>
          </a:xfrm>
          <a:prstGeom prst="rect">
            <a:avLst/>
          </a:prstGeom>
          <a:solidFill>
            <a:srgbClr val="EDF4F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713232" y="5856731"/>
            <a:ext cx="10744200" cy="274320"/>
          </a:xfrm>
          <a:prstGeom prst="rect">
            <a:avLst/>
          </a:prstGeom>
          <a:noFill/>
        </p:spPr>
        <p:txBody>
          <a:bodyPr wrap="square" lIns="0" rIns="0" tIns="0" bIns="0">
            <a:spAutoFit/>
          </a:bodyPr>
          <a:lstStyle/>
          <a:p>
            <a:pPr>
              <a:spcBef>
                <a:spcPts val="0"/>
              </a:spcBef>
              <a:spcAft>
                <a:spcPts val="500"/>
              </a:spcAft>
              <a:defRPr sz="1500" b="1">
                <a:solidFill>
                  <a:srgbClr val="127B80"/>
                </a:solidFill>
                <a:latin typeface="Arial"/>
              </a:defRPr>
            </a:pPr>
            <a:r>
              <a:t>Seed dùng lại: 13, 37, 71; mỗi model có 2 miền huấn luyện × 3 seed = 6 lượt.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999" cy="59436"/>
          </a:xfrm>
          <a:prstGeom prst="rect">
            <a:avLst/>
          </a:prstGeom>
          <a:solidFill>
            <a:srgbClr val="127B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48640" y="256032"/>
            <a:ext cx="10972800" cy="228600"/>
          </a:xfrm>
          <a:prstGeom prst="rect">
            <a:avLst/>
          </a:prstGeom>
          <a:noFill/>
        </p:spPr>
        <p:txBody>
          <a:bodyPr wrap="square" lIns="0" rIns="0" tIns="0" bIns="0">
            <a:spAutoFit/>
          </a:bodyPr>
          <a:lstStyle/>
          <a:p>
            <a:pPr>
              <a:spcBef>
                <a:spcPts val="0"/>
              </a:spcBef>
              <a:spcAft>
                <a:spcPts val="500"/>
              </a:spcAft>
              <a:defRPr sz="1100" b="1">
                <a:solidFill>
                  <a:srgbClr val="127B80"/>
                </a:solidFill>
                <a:latin typeface="Arial"/>
              </a:defRPr>
            </a:pPr>
            <a:r>
              <a:t>05 · MÔ HÌNH VÀ HUẤN LUYỆN</a:t>
            </a:r>
          </a:p>
        </p:txBody>
      </p:sp>
      <p:sp>
        <p:nvSpPr>
          <p:cNvPr id="4" name="TextBox 3"/>
          <p:cNvSpPr txBox="1"/>
          <p:nvPr/>
        </p:nvSpPr>
        <p:spPr>
          <a:xfrm>
            <a:off x="548640" y="768096"/>
            <a:ext cx="11109960" cy="822960"/>
          </a:xfrm>
          <a:prstGeom prst="rect">
            <a:avLst/>
          </a:prstGeom>
          <a:noFill/>
        </p:spPr>
        <p:txBody>
          <a:bodyPr wrap="square" lIns="0" rIns="0" tIns="0" bIns="0">
            <a:spAutoFit/>
          </a:bodyPr>
          <a:lstStyle/>
          <a:p>
            <a:pPr>
              <a:spcBef>
                <a:spcPts val="0"/>
              </a:spcBef>
              <a:spcAft>
                <a:spcPts val="500"/>
              </a:spcAft>
              <a:defRPr sz="2700" b="1">
                <a:solidFill>
                  <a:srgbClr val="173348"/>
                </a:solidFill>
                <a:latin typeface="Arial"/>
              </a:defRPr>
            </a:pPr>
            <a:r>
              <a:t>Log đủ 150 epoch; đỉnh validation xuất hiện trước khi kết thúc</a:t>
            </a:r>
          </a:p>
        </p:txBody>
      </p:sp>
      <p:cxnSp>
        <p:nvCxnSpPr>
          <p:cNvPr id="5" name="Connector 4"/>
          <p:cNvCxnSpPr/>
          <p:nvPr/>
        </p:nvCxnSpPr>
        <p:spPr>
          <a:xfrm>
            <a:off x="548640" y="6327648"/>
            <a:ext cx="11091672" cy="0"/>
          </a:xfrm>
          <a:prstGeom prst="line">
            <a:avLst/>
          </a:prstGeom>
          <a:ln w="16510">
            <a:solidFill>
              <a:srgbClr val="DCE6EC"/>
            </a:solidFill>
          </a:ln>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548640" y="6446520"/>
            <a:ext cx="10652760" cy="274320"/>
          </a:xfrm>
          <a:prstGeom prst="rect">
            <a:avLst/>
          </a:prstGeom>
          <a:noFill/>
        </p:spPr>
        <p:txBody>
          <a:bodyPr wrap="square" lIns="0" rIns="0" tIns="0" bIns="0">
            <a:spAutoFit/>
          </a:bodyPr>
          <a:lstStyle/>
          <a:p>
            <a:pPr>
              <a:spcBef>
                <a:spcPts val="0"/>
              </a:spcBef>
              <a:spcAft>
                <a:spcPts val="500"/>
              </a:spcAft>
              <a:defRPr sz="1000" b="0">
                <a:solidFill>
                  <a:srgbClr val="536778"/>
                </a:solidFill>
                <a:latin typeface="Arial"/>
              </a:defRPr>
            </a:pPr>
            <a:r>
              <a:t>Vẽ lại từ log YOLO11n–Drone, seed 13/37/71 · Tương ứng paper, Hình 1; đường không làm mượt</a:t>
            </a:r>
          </a:p>
        </p:txBody>
      </p:sp>
      <p:sp>
        <p:nvSpPr>
          <p:cNvPr id="7" name="TextBox 6"/>
          <p:cNvSpPr txBox="1"/>
          <p:nvPr/>
        </p:nvSpPr>
        <p:spPr>
          <a:xfrm>
            <a:off x="11155680" y="6419088"/>
            <a:ext cx="484632" cy="292608"/>
          </a:xfrm>
          <a:prstGeom prst="rect">
            <a:avLst/>
          </a:prstGeom>
          <a:noFill/>
        </p:spPr>
        <p:txBody>
          <a:bodyPr wrap="square" lIns="0" rIns="0" tIns="0" bIns="0">
            <a:spAutoFit/>
          </a:bodyPr>
          <a:lstStyle/>
          <a:p>
            <a:pPr algn="r">
              <a:spcBef>
                <a:spcPts val="0"/>
              </a:spcBef>
              <a:spcAft>
                <a:spcPts val="500"/>
              </a:spcAft>
              <a:defRPr sz="1200" b="1">
                <a:solidFill>
                  <a:srgbClr val="127B80"/>
                </a:solidFill>
                <a:latin typeface="Arial"/>
              </a:defRPr>
            </a:pPr>
            <a:r>
              <a:t>12</a:t>
            </a:r>
          </a:p>
        </p:txBody>
      </p:sp>
      <p:pic>
        <p:nvPicPr>
          <p:cNvPr id="8" name="Picture 7" descr="training_vn.png"/>
          <p:cNvPicPr>
            <a:picLocks noChangeAspect="1"/>
          </p:cNvPicPr>
          <p:nvPr/>
        </p:nvPicPr>
        <p:blipFill>
          <a:blip r:embed="rId2"/>
          <a:stretch>
            <a:fillRect/>
          </a:stretch>
        </p:blipFill>
        <p:spPr>
          <a:xfrm>
            <a:off x="594360" y="1762810"/>
            <a:ext cx="11018520" cy="3158642"/>
          </a:xfrm>
          <a:prstGeom prst="rect">
            <a:avLst/>
          </a:prstGeom>
        </p:spPr>
      </p:pic>
      <p:sp>
        <p:nvSpPr>
          <p:cNvPr id="9" name="TextBox 8"/>
          <p:cNvSpPr txBox="1"/>
          <p:nvPr/>
        </p:nvSpPr>
        <p:spPr>
          <a:xfrm>
            <a:off x="777240" y="5285232"/>
            <a:ext cx="10607040" cy="457200"/>
          </a:xfrm>
          <a:prstGeom prst="rect">
            <a:avLst/>
          </a:prstGeom>
          <a:noFill/>
        </p:spPr>
        <p:txBody>
          <a:bodyPr wrap="square" lIns="0" rIns="0" tIns="0" bIns="0">
            <a:spAutoFit/>
          </a:bodyPr>
          <a:lstStyle/>
          <a:p>
            <a:pPr>
              <a:spcBef>
                <a:spcPts val="0"/>
              </a:spcBef>
              <a:spcAft>
                <a:spcPts val="500"/>
              </a:spcAft>
              <a:defRPr sz="2300" b="1">
                <a:solidFill>
                  <a:srgbClr val="127B80"/>
                </a:solidFill>
                <a:latin typeface="Arial"/>
              </a:defRPr>
            </a:pPr>
            <a:r>
              <a:t>YOLO11n–Drone: đỉnh mAP validation ở epoch 110 / 92 / 111.</a:t>
            </a:r>
          </a:p>
        </p:txBody>
      </p:sp>
      <p:sp>
        <p:nvSpPr>
          <p:cNvPr id="10" name="Rectangle 9"/>
          <p:cNvSpPr/>
          <p:nvPr/>
        </p:nvSpPr>
        <p:spPr>
          <a:xfrm>
            <a:off x="548640" y="5806440"/>
            <a:ext cx="11091672" cy="365760"/>
          </a:xfrm>
          <a:prstGeom prst="rect">
            <a:avLst/>
          </a:prstGeom>
          <a:solidFill>
            <a:srgbClr val="EDF4F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713232" y="5856731"/>
            <a:ext cx="10744200" cy="274320"/>
          </a:xfrm>
          <a:prstGeom prst="rect">
            <a:avLst/>
          </a:prstGeom>
          <a:noFill/>
        </p:spPr>
        <p:txBody>
          <a:bodyPr wrap="square" lIns="0" rIns="0" tIns="0" bIns="0">
            <a:spAutoFit/>
          </a:bodyPr>
          <a:lstStyle/>
          <a:p>
            <a:pPr>
              <a:spcBef>
                <a:spcPts val="0"/>
              </a:spcBef>
              <a:spcAft>
                <a:spcPts val="500"/>
              </a:spcAft>
              <a:defRPr sz="1500" b="1">
                <a:solidFill>
                  <a:srgbClr val="127B80"/>
                </a:solidFill>
                <a:latin typeface="Arial"/>
              </a:defRPr>
            </a:pPr>
            <a:r>
              <a:t>Các điểm tròn là cực đại mAP validation được ghi trong log; chưa chứng minh hội tụ tối ưu toàn cục.</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999" cy="59436"/>
          </a:xfrm>
          <a:prstGeom prst="rect">
            <a:avLst/>
          </a:prstGeom>
          <a:solidFill>
            <a:srgbClr val="127B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48640" y="256032"/>
            <a:ext cx="10972800" cy="228600"/>
          </a:xfrm>
          <a:prstGeom prst="rect">
            <a:avLst/>
          </a:prstGeom>
          <a:noFill/>
        </p:spPr>
        <p:txBody>
          <a:bodyPr wrap="square" lIns="0" rIns="0" tIns="0" bIns="0">
            <a:spAutoFit/>
          </a:bodyPr>
          <a:lstStyle/>
          <a:p>
            <a:pPr>
              <a:spcBef>
                <a:spcPts val="0"/>
              </a:spcBef>
              <a:spcAft>
                <a:spcPts val="500"/>
              </a:spcAft>
              <a:defRPr sz="1100" b="1">
                <a:solidFill>
                  <a:srgbClr val="127B80"/>
                </a:solidFill>
                <a:latin typeface="Arial"/>
              </a:defRPr>
            </a:pPr>
            <a:r>
              <a:t>06 · KẾT QUẢ THỰC NGHIỆM</a:t>
            </a:r>
          </a:p>
        </p:txBody>
      </p:sp>
      <p:sp>
        <p:nvSpPr>
          <p:cNvPr id="4" name="TextBox 3"/>
          <p:cNvSpPr txBox="1"/>
          <p:nvPr/>
        </p:nvSpPr>
        <p:spPr>
          <a:xfrm>
            <a:off x="548640" y="768096"/>
            <a:ext cx="11109960" cy="822960"/>
          </a:xfrm>
          <a:prstGeom prst="rect">
            <a:avLst/>
          </a:prstGeom>
          <a:noFill/>
        </p:spPr>
        <p:txBody>
          <a:bodyPr wrap="square" lIns="0" rIns="0" tIns="0" bIns="0">
            <a:spAutoFit/>
          </a:bodyPr>
          <a:lstStyle/>
          <a:p>
            <a:pPr>
              <a:spcBef>
                <a:spcPts val="0"/>
              </a:spcBef>
              <a:spcAft>
                <a:spcPts val="500"/>
              </a:spcAft>
              <a:defRPr sz="2700" b="1">
                <a:solidFill>
                  <a:srgbClr val="173348"/>
                </a:solidFill>
                <a:latin typeface="Arial"/>
              </a:defRPr>
            </a:pPr>
            <a:r>
              <a:t>Huấn luyện đúng miền đích có lợi thế ở cả ba model</a:t>
            </a:r>
          </a:p>
        </p:txBody>
      </p:sp>
      <p:cxnSp>
        <p:nvCxnSpPr>
          <p:cNvPr id="5" name="Connector 4"/>
          <p:cNvCxnSpPr/>
          <p:nvPr/>
        </p:nvCxnSpPr>
        <p:spPr>
          <a:xfrm>
            <a:off x="548640" y="6327648"/>
            <a:ext cx="11091672" cy="0"/>
          </a:xfrm>
          <a:prstGeom prst="line">
            <a:avLst/>
          </a:prstGeom>
          <a:ln w="16510">
            <a:solidFill>
              <a:srgbClr val="DCE6EC"/>
            </a:solidFill>
          </a:ln>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548640" y="6446520"/>
            <a:ext cx="10652760" cy="274320"/>
          </a:xfrm>
          <a:prstGeom prst="rect">
            <a:avLst/>
          </a:prstGeom>
          <a:noFill/>
        </p:spPr>
        <p:txBody>
          <a:bodyPr wrap="square" lIns="0" rIns="0" tIns="0" bIns="0">
            <a:spAutoFit/>
          </a:bodyPr>
          <a:lstStyle/>
          <a:p>
            <a:pPr>
              <a:spcBef>
                <a:spcPts val="0"/>
              </a:spcBef>
              <a:spcAft>
                <a:spcPts val="500"/>
              </a:spcAft>
              <a:defRPr sz="1000" b="0">
                <a:solidFill>
                  <a:srgbClr val="536778"/>
                </a:solidFill>
                <a:latin typeface="Arial"/>
              </a:defRPr>
            </a:pPr>
            <a:r>
              <a:t>Nguồn: paper, Bảng III / Hình 4; data/all_metrics.csv · mAP@50:95 (%), trung bình ± SD, n = 3</a:t>
            </a:r>
          </a:p>
        </p:txBody>
      </p:sp>
      <p:sp>
        <p:nvSpPr>
          <p:cNvPr id="7" name="TextBox 6"/>
          <p:cNvSpPr txBox="1"/>
          <p:nvPr/>
        </p:nvSpPr>
        <p:spPr>
          <a:xfrm>
            <a:off x="11155680" y="6419088"/>
            <a:ext cx="484632" cy="292608"/>
          </a:xfrm>
          <a:prstGeom prst="rect">
            <a:avLst/>
          </a:prstGeom>
          <a:noFill/>
        </p:spPr>
        <p:txBody>
          <a:bodyPr wrap="square" lIns="0" rIns="0" tIns="0" bIns="0">
            <a:spAutoFit/>
          </a:bodyPr>
          <a:lstStyle/>
          <a:p>
            <a:pPr algn="r">
              <a:spcBef>
                <a:spcPts val="0"/>
              </a:spcBef>
              <a:spcAft>
                <a:spcPts val="500"/>
              </a:spcAft>
              <a:defRPr sz="1200" b="1">
                <a:solidFill>
                  <a:srgbClr val="127B80"/>
                </a:solidFill>
                <a:latin typeface="Arial"/>
              </a:defRPr>
            </a:pPr>
            <a:r>
              <a:t>13</a:t>
            </a:r>
          </a:p>
        </p:txBody>
      </p:sp>
      <p:sp>
        <p:nvSpPr>
          <p:cNvPr id="8" name="TextBox 7"/>
          <p:cNvSpPr txBox="1"/>
          <p:nvPr/>
        </p:nvSpPr>
        <p:spPr>
          <a:xfrm>
            <a:off x="731520" y="1764792"/>
            <a:ext cx="5212080" cy="411480"/>
          </a:xfrm>
          <a:prstGeom prst="rect">
            <a:avLst/>
          </a:prstGeom>
          <a:noFill/>
        </p:spPr>
        <p:txBody>
          <a:bodyPr wrap="square" lIns="0" rIns="0" tIns="0" bIns="0">
            <a:spAutoFit/>
          </a:bodyPr>
          <a:lstStyle/>
          <a:p>
            <a:pPr>
              <a:spcBef>
                <a:spcPts val="0"/>
              </a:spcBef>
              <a:spcAft>
                <a:spcPts val="500"/>
              </a:spcAft>
              <a:defRPr sz="2300" b="1">
                <a:solidFill>
                  <a:srgbClr val="127B80"/>
                </a:solidFill>
                <a:latin typeface="Arial"/>
              </a:defRPr>
            </a:pPr>
            <a:r>
              <a:t>Drone Test</a:t>
            </a:r>
          </a:p>
        </p:txBody>
      </p:sp>
      <p:sp>
        <p:nvSpPr>
          <p:cNvPr id="9" name="TextBox 8"/>
          <p:cNvSpPr txBox="1"/>
          <p:nvPr/>
        </p:nvSpPr>
        <p:spPr>
          <a:xfrm>
            <a:off x="731520" y="2624328"/>
            <a:ext cx="1280160" cy="457200"/>
          </a:xfrm>
          <a:prstGeom prst="rect">
            <a:avLst/>
          </a:prstGeom>
          <a:noFill/>
        </p:spPr>
        <p:txBody>
          <a:bodyPr wrap="square" lIns="0" rIns="0" tIns="0" bIns="0">
            <a:spAutoFit/>
          </a:bodyPr>
          <a:lstStyle/>
          <a:p>
            <a:pPr>
              <a:spcBef>
                <a:spcPts val="0"/>
              </a:spcBef>
              <a:spcAft>
                <a:spcPts val="500"/>
              </a:spcAft>
              <a:defRPr sz="1700" b="1">
                <a:solidFill>
                  <a:srgbClr val="173348"/>
                </a:solidFill>
                <a:latin typeface="Arial"/>
              </a:defRPr>
            </a:pPr>
            <a:r>
              <a:t>YOLO11n</a:t>
            </a:r>
          </a:p>
        </p:txBody>
      </p:sp>
      <p:sp>
        <p:nvSpPr>
          <p:cNvPr id="10" name="Rectangle 9"/>
          <p:cNvSpPr/>
          <p:nvPr/>
        </p:nvSpPr>
        <p:spPr>
          <a:xfrm>
            <a:off x="2148840" y="2514600"/>
            <a:ext cx="904087" cy="219456"/>
          </a:xfrm>
          <a:prstGeom prst="rect">
            <a:avLst/>
          </a:prstGeom>
          <a:solidFill>
            <a:srgbClr val="127B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1" name="Connector 10"/>
          <p:cNvCxnSpPr/>
          <p:nvPr/>
        </p:nvCxnSpPr>
        <p:spPr>
          <a:xfrm>
            <a:off x="2979402" y="2624328"/>
            <a:ext cx="147051" cy="0"/>
          </a:xfrm>
          <a:prstGeom prst="line">
            <a:avLst/>
          </a:prstGeom>
          <a:ln w="12700">
            <a:solidFill>
              <a:srgbClr val="173348"/>
            </a:solidFill>
          </a:ln>
        </p:spPr>
        <p:style>
          <a:lnRef idx="2">
            <a:schemeClr val="accent1"/>
          </a:lnRef>
          <a:fillRef idx="0">
            <a:schemeClr val="accent1"/>
          </a:fillRef>
          <a:effectRef idx="0">
            <a:schemeClr val="accent1"/>
          </a:effectRef>
          <a:fontRef idx="minor">
            <a:schemeClr val="tx1"/>
          </a:fontRef>
        </p:style>
      </p:cxnSp>
      <p:cxnSp>
        <p:nvCxnSpPr>
          <p:cNvPr id="12" name="Connector 11"/>
          <p:cNvCxnSpPr/>
          <p:nvPr/>
        </p:nvCxnSpPr>
        <p:spPr>
          <a:xfrm>
            <a:off x="2979402" y="2578608"/>
            <a:ext cx="0" cy="91440"/>
          </a:xfrm>
          <a:prstGeom prst="line">
            <a:avLst/>
          </a:prstGeom>
          <a:ln w="12700">
            <a:solidFill>
              <a:srgbClr val="173348"/>
            </a:solidFill>
          </a:ln>
        </p:spPr>
        <p:style>
          <a:lnRef idx="2">
            <a:schemeClr val="accent1"/>
          </a:lnRef>
          <a:fillRef idx="0">
            <a:schemeClr val="accent1"/>
          </a:fillRef>
          <a:effectRef idx="0">
            <a:schemeClr val="accent1"/>
          </a:effectRef>
          <a:fontRef idx="minor">
            <a:schemeClr val="tx1"/>
          </a:fontRef>
        </p:style>
      </p:cxnSp>
      <p:cxnSp>
        <p:nvCxnSpPr>
          <p:cNvPr id="13" name="Connector 12"/>
          <p:cNvCxnSpPr/>
          <p:nvPr/>
        </p:nvCxnSpPr>
        <p:spPr>
          <a:xfrm>
            <a:off x="3126453" y="2578608"/>
            <a:ext cx="0" cy="91440"/>
          </a:xfrm>
          <a:prstGeom prst="line">
            <a:avLst/>
          </a:prstGeom>
          <a:ln w="12700">
            <a:solidFill>
              <a:srgbClr val="173348"/>
            </a:solidFill>
          </a:ln>
        </p:spPr>
        <p:style>
          <a:lnRef idx="2">
            <a:schemeClr val="accent1"/>
          </a:lnRef>
          <a:fillRef idx="0">
            <a:schemeClr val="accent1"/>
          </a:fillRef>
          <a:effectRef idx="0">
            <a:schemeClr val="accent1"/>
          </a:effectRef>
          <a:fontRef idx="minor">
            <a:schemeClr val="tx1"/>
          </a:fontRef>
        </p:style>
      </p:cxnSp>
      <p:sp>
        <p:nvSpPr>
          <p:cNvPr id="14" name="TextBox 13"/>
          <p:cNvSpPr txBox="1"/>
          <p:nvPr/>
        </p:nvSpPr>
        <p:spPr>
          <a:xfrm>
            <a:off x="4690872" y="2487168"/>
            <a:ext cx="1188720" cy="274320"/>
          </a:xfrm>
          <a:prstGeom prst="rect">
            <a:avLst/>
          </a:prstGeom>
          <a:noFill/>
        </p:spPr>
        <p:txBody>
          <a:bodyPr wrap="square" lIns="0" rIns="0" tIns="0" bIns="0">
            <a:spAutoFit/>
          </a:bodyPr>
          <a:lstStyle/>
          <a:p>
            <a:pPr>
              <a:spcBef>
                <a:spcPts val="0"/>
              </a:spcBef>
              <a:spcAft>
                <a:spcPts val="500"/>
              </a:spcAft>
              <a:defRPr sz="1200" b="0">
                <a:solidFill>
                  <a:srgbClr val="173348"/>
                </a:solidFill>
                <a:latin typeface="Arial"/>
              </a:defRPr>
            </a:pPr>
            <a:r>
              <a:t>22.39 ± 1.82</a:t>
            </a:r>
          </a:p>
        </p:txBody>
      </p:sp>
      <p:sp>
        <p:nvSpPr>
          <p:cNvPr id="15" name="Rectangle 14"/>
          <p:cNvSpPr/>
          <p:nvPr/>
        </p:nvSpPr>
        <p:spPr>
          <a:xfrm>
            <a:off x="2148840" y="2825496"/>
            <a:ext cx="292884" cy="219456"/>
          </a:xfrm>
          <a:prstGeom prst="rect">
            <a:avLst/>
          </a:prstGeom>
          <a:solidFill>
            <a:srgbClr val="AABCC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6" name="Connector 15"/>
          <p:cNvCxnSpPr/>
          <p:nvPr/>
        </p:nvCxnSpPr>
        <p:spPr>
          <a:xfrm>
            <a:off x="2294517" y="2935224"/>
            <a:ext cx="294413" cy="0"/>
          </a:xfrm>
          <a:prstGeom prst="line">
            <a:avLst/>
          </a:prstGeom>
          <a:ln w="12700">
            <a:solidFill>
              <a:srgbClr val="173348"/>
            </a:solidFill>
          </a:ln>
        </p:spPr>
        <p:style>
          <a:lnRef idx="2">
            <a:schemeClr val="accent1"/>
          </a:lnRef>
          <a:fillRef idx="0">
            <a:schemeClr val="accent1"/>
          </a:fillRef>
          <a:effectRef idx="0">
            <a:schemeClr val="accent1"/>
          </a:effectRef>
          <a:fontRef idx="minor">
            <a:schemeClr val="tx1"/>
          </a:fontRef>
        </p:style>
      </p:cxnSp>
      <p:cxnSp>
        <p:nvCxnSpPr>
          <p:cNvPr id="17" name="Connector 16"/>
          <p:cNvCxnSpPr/>
          <p:nvPr/>
        </p:nvCxnSpPr>
        <p:spPr>
          <a:xfrm>
            <a:off x="2294517" y="2889503"/>
            <a:ext cx="0" cy="91441"/>
          </a:xfrm>
          <a:prstGeom prst="line">
            <a:avLst/>
          </a:prstGeom>
          <a:ln w="12700">
            <a:solidFill>
              <a:srgbClr val="173348"/>
            </a:solidFill>
          </a:ln>
        </p:spPr>
        <p:style>
          <a:lnRef idx="2">
            <a:schemeClr val="accent1"/>
          </a:lnRef>
          <a:fillRef idx="0">
            <a:schemeClr val="accent1"/>
          </a:fillRef>
          <a:effectRef idx="0">
            <a:schemeClr val="accent1"/>
          </a:effectRef>
          <a:fontRef idx="minor">
            <a:schemeClr val="tx1"/>
          </a:fontRef>
        </p:style>
      </p:cxnSp>
      <p:cxnSp>
        <p:nvCxnSpPr>
          <p:cNvPr id="18" name="Connector 17"/>
          <p:cNvCxnSpPr/>
          <p:nvPr/>
        </p:nvCxnSpPr>
        <p:spPr>
          <a:xfrm>
            <a:off x="2588930" y="2889503"/>
            <a:ext cx="0" cy="91441"/>
          </a:xfrm>
          <a:prstGeom prst="line">
            <a:avLst/>
          </a:prstGeom>
          <a:ln w="12700">
            <a:solidFill>
              <a:srgbClr val="173348"/>
            </a:solidFill>
          </a:ln>
        </p:spPr>
        <p:style>
          <a:lnRef idx="2">
            <a:schemeClr val="accent1"/>
          </a:lnRef>
          <a:fillRef idx="0">
            <a:schemeClr val="accent1"/>
          </a:fillRef>
          <a:effectRef idx="0">
            <a:schemeClr val="accent1"/>
          </a:effectRef>
          <a:fontRef idx="minor">
            <a:schemeClr val="tx1"/>
          </a:fontRef>
        </p:style>
      </p:cxnSp>
      <p:sp>
        <p:nvSpPr>
          <p:cNvPr id="19" name="TextBox 18"/>
          <p:cNvSpPr txBox="1"/>
          <p:nvPr/>
        </p:nvSpPr>
        <p:spPr>
          <a:xfrm>
            <a:off x="4690872" y="2798064"/>
            <a:ext cx="1188720" cy="274320"/>
          </a:xfrm>
          <a:prstGeom prst="rect">
            <a:avLst/>
          </a:prstGeom>
          <a:noFill/>
        </p:spPr>
        <p:txBody>
          <a:bodyPr wrap="square" lIns="0" rIns="0" tIns="0" bIns="0">
            <a:spAutoFit/>
          </a:bodyPr>
          <a:lstStyle/>
          <a:p>
            <a:pPr>
              <a:spcBef>
                <a:spcPts val="0"/>
              </a:spcBef>
              <a:spcAft>
                <a:spcPts val="500"/>
              </a:spcAft>
              <a:defRPr sz="1200" b="0">
                <a:solidFill>
                  <a:srgbClr val="173348"/>
                </a:solidFill>
                <a:latin typeface="Arial"/>
              </a:defRPr>
            </a:pPr>
            <a:r>
              <a:t>7.25 ± 3.64</a:t>
            </a:r>
          </a:p>
        </p:txBody>
      </p:sp>
      <p:sp>
        <p:nvSpPr>
          <p:cNvPr id="20" name="TextBox 19"/>
          <p:cNvSpPr txBox="1"/>
          <p:nvPr/>
        </p:nvSpPr>
        <p:spPr>
          <a:xfrm>
            <a:off x="731520" y="3465576"/>
            <a:ext cx="1280160" cy="457200"/>
          </a:xfrm>
          <a:prstGeom prst="rect">
            <a:avLst/>
          </a:prstGeom>
          <a:noFill/>
        </p:spPr>
        <p:txBody>
          <a:bodyPr wrap="square" lIns="0" rIns="0" tIns="0" bIns="0">
            <a:spAutoFit/>
          </a:bodyPr>
          <a:lstStyle/>
          <a:p>
            <a:pPr>
              <a:spcBef>
                <a:spcPts val="0"/>
              </a:spcBef>
              <a:spcAft>
                <a:spcPts val="500"/>
              </a:spcAft>
              <a:defRPr sz="1700" b="1">
                <a:solidFill>
                  <a:srgbClr val="173348"/>
                </a:solidFill>
                <a:latin typeface="Arial"/>
              </a:defRPr>
            </a:pPr>
            <a:r>
              <a:t>YOLOv8n</a:t>
            </a:r>
          </a:p>
        </p:txBody>
      </p:sp>
      <p:sp>
        <p:nvSpPr>
          <p:cNvPr id="21" name="Rectangle 20"/>
          <p:cNvSpPr/>
          <p:nvPr/>
        </p:nvSpPr>
        <p:spPr>
          <a:xfrm>
            <a:off x="2148840" y="3355848"/>
            <a:ext cx="864610" cy="219456"/>
          </a:xfrm>
          <a:prstGeom prst="rect">
            <a:avLst/>
          </a:prstGeom>
          <a:solidFill>
            <a:srgbClr val="127B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22" name="Connector 21"/>
          <p:cNvCxnSpPr/>
          <p:nvPr/>
        </p:nvCxnSpPr>
        <p:spPr>
          <a:xfrm>
            <a:off x="2944199" y="3465576"/>
            <a:ext cx="138502" cy="0"/>
          </a:xfrm>
          <a:prstGeom prst="line">
            <a:avLst/>
          </a:prstGeom>
          <a:ln w="12700">
            <a:solidFill>
              <a:srgbClr val="173348"/>
            </a:solidFill>
          </a:ln>
        </p:spPr>
        <p:style>
          <a:lnRef idx="2">
            <a:schemeClr val="accent1"/>
          </a:lnRef>
          <a:fillRef idx="0">
            <a:schemeClr val="accent1"/>
          </a:fillRef>
          <a:effectRef idx="0">
            <a:schemeClr val="accent1"/>
          </a:effectRef>
          <a:fontRef idx="minor">
            <a:schemeClr val="tx1"/>
          </a:fontRef>
        </p:style>
      </p:cxnSp>
      <p:cxnSp>
        <p:nvCxnSpPr>
          <p:cNvPr id="23" name="Connector 22"/>
          <p:cNvCxnSpPr/>
          <p:nvPr/>
        </p:nvCxnSpPr>
        <p:spPr>
          <a:xfrm>
            <a:off x="2944199" y="3419856"/>
            <a:ext cx="0" cy="91440"/>
          </a:xfrm>
          <a:prstGeom prst="line">
            <a:avLst/>
          </a:prstGeom>
          <a:ln w="12700">
            <a:solidFill>
              <a:srgbClr val="173348"/>
            </a:solidFill>
          </a:ln>
        </p:spPr>
        <p:style>
          <a:lnRef idx="2">
            <a:schemeClr val="accent1"/>
          </a:lnRef>
          <a:fillRef idx="0">
            <a:schemeClr val="accent1"/>
          </a:fillRef>
          <a:effectRef idx="0">
            <a:schemeClr val="accent1"/>
          </a:effectRef>
          <a:fontRef idx="minor">
            <a:schemeClr val="tx1"/>
          </a:fontRef>
        </p:style>
      </p:cxnSp>
      <p:cxnSp>
        <p:nvCxnSpPr>
          <p:cNvPr id="24" name="Connector 23"/>
          <p:cNvCxnSpPr/>
          <p:nvPr/>
        </p:nvCxnSpPr>
        <p:spPr>
          <a:xfrm>
            <a:off x="3082701" y="3419856"/>
            <a:ext cx="0" cy="91440"/>
          </a:xfrm>
          <a:prstGeom prst="line">
            <a:avLst/>
          </a:prstGeom>
          <a:ln w="12700">
            <a:solidFill>
              <a:srgbClr val="173348"/>
            </a:solidFill>
          </a:ln>
        </p:spPr>
        <p:style>
          <a:lnRef idx="2">
            <a:schemeClr val="accent1"/>
          </a:lnRef>
          <a:fillRef idx="0">
            <a:schemeClr val="accent1"/>
          </a:fillRef>
          <a:effectRef idx="0">
            <a:schemeClr val="accent1"/>
          </a:effectRef>
          <a:fontRef idx="minor">
            <a:schemeClr val="tx1"/>
          </a:fontRef>
        </p:style>
      </p:cxnSp>
      <p:sp>
        <p:nvSpPr>
          <p:cNvPr id="25" name="TextBox 24"/>
          <p:cNvSpPr txBox="1"/>
          <p:nvPr/>
        </p:nvSpPr>
        <p:spPr>
          <a:xfrm>
            <a:off x="4690872" y="3328416"/>
            <a:ext cx="1188720" cy="274320"/>
          </a:xfrm>
          <a:prstGeom prst="rect">
            <a:avLst/>
          </a:prstGeom>
          <a:noFill/>
        </p:spPr>
        <p:txBody>
          <a:bodyPr wrap="square" lIns="0" rIns="0" tIns="0" bIns="0">
            <a:spAutoFit/>
          </a:bodyPr>
          <a:lstStyle/>
          <a:p>
            <a:pPr>
              <a:spcBef>
                <a:spcPts val="0"/>
              </a:spcBef>
              <a:spcAft>
                <a:spcPts val="500"/>
              </a:spcAft>
              <a:defRPr sz="1200" b="0">
                <a:solidFill>
                  <a:srgbClr val="173348"/>
                </a:solidFill>
                <a:latin typeface="Arial"/>
              </a:defRPr>
            </a:pPr>
            <a:r>
              <a:t>21.41 ± 1.71</a:t>
            </a:r>
          </a:p>
        </p:txBody>
      </p:sp>
      <p:sp>
        <p:nvSpPr>
          <p:cNvPr id="26" name="Rectangle 25"/>
          <p:cNvSpPr/>
          <p:nvPr/>
        </p:nvSpPr>
        <p:spPr>
          <a:xfrm>
            <a:off x="2148840" y="3666744"/>
            <a:ext cx="264608" cy="219456"/>
          </a:xfrm>
          <a:prstGeom prst="rect">
            <a:avLst/>
          </a:prstGeom>
          <a:solidFill>
            <a:srgbClr val="AABCC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27" name="Connector 26"/>
          <p:cNvCxnSpPr/>
          <p:nvPr/>
        </p:nvCxnSpPr>
        <p:spPr>
          <a:xfrm>
            <a:off x="2308666" y="3776472"/>
            <a:ext cx="209564" cy="0"/>
          </a:xfrm>
          <a:prstGeom prst="line">
            <a:avLst/>
          </a:prstGeom>
          <a:ln w="12700">
            <a:solidFill>
              <a:srgbClr val="173348"/>
            </a:solidFill>
          </a:ln>
        </p:spPr>
        <p:style>
          <a:lnRef idx="2">
            <a:schemeClr val="accent1"/>
          </a:lnRef>
          <a:fillRef idx="0">
            <a:schemeClr val="accent1"/>
          </a:fillRef>
          <a:effectRef idx="0">
            <a:schemeClr val="accent1"/>
          </a:effectRef>
          <a:fontRef idx="minor">
            <a:schemeClr val="tx1"/>
          </a:fontRef>
        </p:style>
      </p:cxnSp>
      <p:cxnSp>
        <p:nvCxnSpPr>
          <p:cNvPr id="28" name="Connector 27"/>
          <p:cNvCxnSpPr/>
          <p:nvPr/>
        </p:nvCxnSpPr>
        <p:spPr>
          <a:xfrm>
            <a:off x="2308666" y="3730752"/>
            <a:ext cx="0" cy="91439"/>
          </a:xfrm>
          <a:prstGeom prst="line">
            <a:avLst/>
          </a:prstGeom>
          <a:ln w="12700">
            <a:solidFill>
              <a:srgbClr val="173348"/>
            </a:solidFill>
          </a:ln>
        </p:spPr>
        <p:style>
          <a:lnRef idx="2">
            <a:schemeClr val="accent1"/>
          </a:lnRef>
          <a:fillRef idx="0">
            <a:schemeClr val="accent1"/>
          </a:fillRef>
          <a:effectRef idx="0">
            <a:schemeClr val="accent1"/>
          </a:effectRef>
          <a:fontRef idx="minor">
            <a:schemeClr val="tx1"/>
          </a:fontRef>
        </p:style>
      </p:cxnSp>
      <p:cxnSp>
        <p:nvCxnSpPr>
          <p:cNvPr id="29" name="Connector 28"/>
          <p:cNvCxnSpPr/>
          <p:nvPr/>
        </p:nvCxnSpPr>
        <p:spPr>
          <a:xfrm>
            <a:off x="2518230" y="3730752"/>
            <a:ext cx="0" cy="91439"/>
          </a:xfrm>
          <a:prstGeom prst="line">
            <a:avLst/>
          </a:prstGeom>
          <a:ln w="12700">
            <a:solidFill>
              <a:srgbClr val="173348"/>
            </a:solidFill>
          </a:ln>
        </p:spPr>
        <p:style>
          <a:lnRef idx="2">
            <a:schemeClr val="accent1"/>
          </a:lnRef>
          <a:fillRef idx="0">
            <a:schemeClr val="accent1"/>
          </a:fillRef>
          <a:effectRef idx="0">
            <a:schemeClr val="accent1"/>
          </a:effectRef>
          <a:fontRef idx="minor">
            <a:schemeClr val="tx1"/>
          </a:fontRef>
        </p:style>
      </p:cxnSp>
      <p:sp>
        <p:nvSpPr>
          <p:cNvPr id="30" name="TextBox 29"/>
          <p:cNvSpPr txBox="1"/>
          <p:nvPr/>
        </p:nvSpPr>
        <p:spPr>
          <a:xfrm>
            <a:off x="4690872" y="3639312"/>
            <a:ext cx="1188720" cy="274320"/>
          </a:xfrm>
          <a:prstGeom prst="rect">
            <a:avLst/>
          </a:prstGeom>
          <a:noFill/>
        </p:spPr>
        <p:txBody>
          <a:bodyPr wrap="square" lIns="0" rIns="0" tIns="0" bIns="0">
            <a:spAutoFit/>
          </a:bodyPr>
          <a:lstStyle/>
          <a:p>
            <a:pPr>
              <a:spcBef>
                <a:spcPts val="0"/>
              </a:spcBef>
              <a:spcAft>
                <a:spcPts val="500"/>
              </a:spcAft>
              <a:defRPr sz="1200" b="0">
                <a:solidFill>
                  <a:srgbClr val="173348"/>
                </a:solidFill>
                <a:latin typeface="Arial"/>
              </a:defRPr>
            </a:pPr>
            <a:r>
              <a:t>6.55 ± 2.59</a:t>
            </a:r>
          </a:p>
        </p:txBody>
      </p:sp>
      <p:sp>
        <p:nvSpPr>
          <p:cNvPr id="31" name="TextBox 30"/>
          <p:cNvSpPr txBox="1"/>
          <p:nvPr/>
        </p:nvSpPr>
        <p:spPr>
          <a:xfrm>
            <a:off x="731520" y="4306824"/>
            <a:ext cx="1280160" cy="457200"/>
          </a:xfrm>
          <a:prstGeom prst="rect">
            <a:avLst/>
          </a:prstGeom>
          <a:noFill/>
        </p:spPr>
        <p:txBody>
          <a:bodyPr wrap="square" lIns="0" rIns="0" tIns="0" bIns="0">
            <a:spAutoFit/>
          </a:bodyPr>
          <a:lstStyle/>
          <a:p>
            <a:pPr>
              <a:spcBef>
                <a:spcPts val="0"/>
              </a:spcBef>
              <a:spcAft>
                <a:spcPts val="500"/>
              </a:spcAft>
              <a:defRPr sz="1700" b="1">
                <a:solidFill>
                  <a:srgbClr val="173348"/>
                </a:solidFill>
                <a:latin typeface="Arial"/>
              </a:defRPr>
            </a:pPr>
            <a:r>
              <a:t>YOLO26n</a:t>
            </a:r>
          </a:p>
        </p:txBody>
      </p:sp>
      <p:sp>
        <p:nvSpPr>
          <p:cNvPr id="32" name="Rectangle 31"/>
          <p:cNvSpPr/>
          <p:nvPr/>
        </p:nvSpPr>
        <p:spPr>
          <a:xfrm>
            <a:off x="2148840" y="4197096"/>
            <a:ext cx="988906" cy="219456"/>
          </a:xfrm>
          <a:prstGeom prst="rect">
            <a:avLst/>
          </a:prstGeom>
          <a:solidFill>
            <a:srgbClr val="127B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33" name="Connector 32"/>
          <p:cNvCxnSpPr/>
          <p:nvPr/>
        </p:nvCxnSpPr>
        <p:spPr>
          <a:xfrm>
            <a:off x="3108055" y="4306824"/>
            <a:ext cx="59383" cy="0"/>
          </a:xfrm>
          <a:prstGeom prst="line">
            <a:avLst/>
          </a:prstGeom>
          <a:ln w="12700">
            <a:solidFill>
              <a:srgbClr val="173348"/>
            </a:solidFill>
          </a:ln>
        </p:spPr>
        <p:style>
          <a:lnRef idx="2">
            <a:schemeClr val="accent1"/>
          </a:lnRef>
          <a:fillRef idx="0">
            <a:schemeClr val="accent1"/>
          </a:fillRef>
          <a:effectRef idx="0">
            <a:schemeClr val="accent1"/>
          </a:effectRef>
          <a:fontRef idx="minor">
            <a:schemeClr val="tx1"/>
          </a:fontRef>
        </p:style>
      </p:cxnSp>
      <p:cxnSp>
        <p:nvCxnSpPr>
          <p:cNvPr id="34" name="Connector 33"/>
          <p:cNvCxnSpPr/>
          <p:nvPr/>
        </p:nvCxnSpPr>
        <p:spPr>
          <a:xfrm>
            <a:off x="3108055" y="4261104"/>
            <a:ext cx="0" cy="91440"/>
          </a:xfrm>
          <a:prstGeom prst="line">
            <a:avLst/>
          </a:prstGeom>
          <a:ln w="12700">
            <a:solidFill>
              <a:srgbClr val="173348"/>
            </a:solidFill>
          </a:ln>
        </p:spPr>
        <p:style>
          <a:lnRef idx="2">
            <a:schemeClr val="accent1"/>
          </a:lnRef>
          <a:fillRef idx="0">
            <a:schemeClr val="accent1"/>
          </a:fillRef>
          <a:effectRef idx="0">
            <a:schemeClr val="accent1"/>
          </a:effectRef>
          <a:fontRef idx="minor">
            <a:schemeClr val="tx1"/>
          </a:fontRef>
        </p:style>
      </p:cxnSp>
      <p:cxnSp>
        <p:nvCxnSpPr>
          <p:cNvPr id="35" name="Connector 34"/>
          <p:cNvCxnSpPr/>
          <p:nvPr/>
        </p:nvCxnSpPr>
        <p:spPr>
          <a:xfrm>
            <a:off x="3167438" y="4261104"/>
            <a:ext cx="0" cy="91440"/>
          </a:xfrm>
          <a:prstGeom prst="line">
            <a:avLst/>
          </a:prstGeom>
          <a:ln w="12700">
            <a:solidFill>
              <a:srgbClr val="173348"/>
            </a:solidFill>
          </a:ln>
        </p:spPr>
        <p:style>
          <a:lnRef idx="2">
            <a:schemeClr val="accent1"/>
          </a:lnRef>
          <a:fillRef idx="0">
            <a:schemeClr val="accent1"/>
          </a:fillRef>
          <a:effectRef idx="0">
            <a:schemeClr val="accent1"/>
          </a:effectRef>
          <a:fontRef idx="minor">
            <a:schemeClr val="tx1"/>
          </a:fontRef>
        </p:style>
      </p:cxnSp>
      <p:sp>
        <p:nvSpPr>
          <p:cNvPr id="36" name="TextBox 35"/>
          <p:cNvSpPr txBox="1"/>
          <p:nvPr/>
        </p:nvSpPr>
        <p:spPr>
          <a:xfrm>
            <a:off x="4690872" y="4169663"/>
            <a:ext cx="1188720" cy="274320"/>
          </a:xfrm>
          <a:prstGeom prst="rect">
            <a:avLst/>
          </a:prstGeom>
          <a:noFill/>
        </p:spPr>
        <p:txBody>
          <a:bodyPr wrap="square" lIns="0" rIns="0" tIns="0" bIns="0">
            <a:spAutoFit/>
          </a:bodyPr>
          <a:lstStyle/>
          <a:p>
            <a:pPr>
              <a:spcBef>
                <a:spcPts val="0"/>
              </a:spcBef>
              <a:spcAft>
                <a:spcPts val="500"/>
              </a:spcAft>
              <a:defRPr sz="1200" b="0">
                <a:solidFill>
                  <a:srgbClr val="173348"/>
                </a:solidFill>
                <a:latin typeface="Arial"/>
              </a:defRPr>
            </a:pPr>
            <a:r>
              <a:t>24.49 ± 0.74</a:t>
            </a:r>
          </a:p>
        </p:txBody>
      </p:sp>
      <p:sp>
        <p:nvSpPr>
          <p:cNvPr id="37" name="Rectangle 36"/>
          <p:cNvSpPr/>
          <p:nvPr/>
        </p:nvSpPr>
        <p:spPr>
          <a:xfrm>
            <a:off x="2148840" y="4507992"/>
            <a:ext cx="306154" cy="219456"/>
          </a:xfrm>
          <a:prstGeom prst="rect">
            <a:avLst/>
          </a:prstGeom>
          <a:solidFill>
            <a:srgbClr val="AABCC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38" name="Connector 37"/>
          <p:cNvCxnSpPr/>
          <p:nvPr/>
        </p:nvCxnSpPr>
        <p:spPr>
          <a:xfrm>
            <a:off x="2448856" y="4617720"/>
            <a:ext cx="12276" cy="0"/>
          </a:xfrm>
          <a:prstGeom prst="line">
            <a:avLst/>
          </a:prstGeom>
          <a:ln w="12700">
            <a:solidFill>
              <a:srgbClr val="173348"/>
            </a:solidFill>
          </a:ln>
        </p:spPr>
        <p:style>
          <a:lnRef idx="2">
            <a:schemeClr val="accent1"/>
          </a:lnRef>
          <a:fillRef idx="0">
            <a:schemeClr val="accent1"/>
          </a:fillRef>
          <a:effectRef idx="0">
            <a:schemeClr val="accent1"/>
          </a:effectRef>
          <a:fontRef idx="minor">
            <a:schemeClr val="tx1"/>
          </a:fontRef>
        </p:style>
      </p:cxnSp>
      <p:cxnSp>
        <p:nvCxnSpPr>
          <p:cNvPr id="39" name="Connector 38"/>
          <p:cNvCxnSpPr/>
          <p:nvPr/>
        </p:nvCxnSpPr>
        <p:spPr>
          <a:xfrm>
            <a:off x="2448856" y="4572000"/>
            <a:ext cx="0" cy="91440"/>
          </a:xfrm>
          <a:prstGeom prst="line">
            <a:avLst/>
          </a:prstGeom>
          <a:ln w="12700">
            <a:solidFill>
              <a:srgbClr val="173348"/>
            </a:solidFill>
          </a:ln>
        </p:spPr>
        <p:style>
          <a:lnRef idx="2">
            <a:schemeClr val="accent1"/>
          </a:lnRef>
          <a:fillRef idx="0">
            <a:schemeClr val="accent1"/>
          </a:fillRef>
          <a:effectRef idx="0">
            <a:schemeClr val="accent1"/>
          </a:effectRef>
          <a:fontRef idx="minor">
            <a:schemeClr val="tx1"/>
          </a:fontRef>
        </p:style>
      </p:cxnSp>
      <p:cxnSp>
        <p:nvCxnSpPr>
          <p:cNvPr id="40" name="Connector 39"/>
          <p:cNvCxnSpPr/>
          <p:nvPr/>
        </p:nvCxnSpPr>
        <p:spPr>
          <a:xfrm>
            <a:off x="2461132" y="4572000"/>
            <a:ext cx="0" cy="91440"/>
          </a:xfrm>
          <a:prstGeom prst="line">
            <a:avLst/>
          </a:prstGeom>
          <a:ln w="12700">
            <a:solidFill>
              <a:srgbClr val="173348"/>
            </a:solidFill>
          </a:ln>
        </p:spPr>
        <p:style>
          <a:lnRef idx="2">
            <a:schemeClr val="accent1"/>
          </a:lnRef>
          <a:fillRef idx="0">
            <a:schemeClr val="accent1"/>
          </a:fillRef>
          <a:effectRef idx="0">
            <a:schemeClr val="accent1"/>
          </a:effectRef>
          <a:fontRef idx="minor">
            <a:schemeClr val="tx1"/>
          </a:fontRef>
        </p:style>
      </p:cxnSp>
      <p:sp>
        <p:nvSpPr>
          <p:cNvPr id="41" name="TextBox 40"/>
          <p:cNvSpPr txBox="1"/>
          <p:nvPr/>
        </p:nvSpPr>
        <p:spPr>
          <a:xfrm>
            <a:off x="4690872" y="4480559"/>
            <a:ext cx="1188720" cy="274320"/>
          </a:xfrm>
          <a:prstGeom prst="rect">
            <a:avLst/>
          </a:prstGeom>
          <a:noFill/>
        </p:spPr>
        <p:txBody>
          <a:bodyPr wrap="square" lIns="0" rIns="0" tIns="0" bIns="0">
            <a:spAutoFit/>
          </a:bodyPr>
          <a:lstStyle/>
          <a:p>
            <a:pPr>
              <a:spcBef>
                <a:spcPts val="0"/>
              </a:spcBef>
              <a:spcAft>
                <a:spcPts val="500"/>
              </a:spcAft>
              <a:defRPr sz="1200" b="0">
                <a:solidFill>
                  <a:srgbClr val="173348"/>
                </a:solidFill>
                <a:latin typeface="Arial"/>
              </a:defRPr>
            </a:pPr>
            <a:r>
              <a:t>7.58 ± 0.15</a:t>
            </a:r>
          </a:p>
        </p:txBody>
      </p:sp>
      <p:cxnSp>
        <p:nvCxnSpPr>
          <p:cNvPr id="42" name="Connector 41"/>
          <p:cNvCxnSpPr/>
          <p:nvPr/>
        </p:nvCxnSpPr>
        <p:spPr>
          <a:xfrm>
            <a:off x="2148840" y="4983480"/>
            <a:ext cx="2423160" cy="0"/>
          </a:xfrm>
          <a:prstGeom prst="line">
            <a:avLst/>
          </a:prstGeom>
          <a:ln w="16510">
            <a:solidFill>
              <a:srgbClr val="DCE6EC"/>
            </a:solidFill>
          </a:ln>
        </p:spPr>
        <p:style>
          <a:lnRef idx="2">
            <a:schemeClr val="accent1"/>
          </a:lnRef>
          <a:fillRef idx="0">
            <a:schemeClr val="accent1"/>
          </a:fillRef>
          <a:effectRef idx="0">
            <a:schemeClr val="accent1"/>
          </a:effectRef>
          <a:fontRef idx="minor">
            <a:schemeClr val="tx1"/>
          </a:fontRef>
        </p:style>
      </p:cxnSp>
      <p:sp>
        <p:nvSpPr>
          <p:cNvPr id="43" name="TextBox 42"/>
          <p:cNvSpPr txBox="1"/>
          <p:nvPr/>
        </p:nvSpPr>
        <p:spPr>
          <a:xfrm>
            <a:off x="2011680" y="5093208"/>
            <a:ext cx="457200" cy="228600"/>
          </a:xfrm>
          <a:prstGeom prst="rect">
            <a:avLst/>
          </a:prstGeom>
          <a:noFill/>
        </p:spPr>
        <p:txBody>
          <a:bodyPr wrap="square" lIns="0" rIns="0" tIns="0" bIns="0">
            <a:spAutoFit/>
          </a:bodyPr>
          <a:lstStyle/>
          <a:p>
            <a:pPr>
              <a:spcBef>
                <a:spcPts val="0"/>
              </a:spcBef>
              <a:spcAft>
                <a:spcPts val="500"/>
              </a:spcAft>
              <a:defRPr sz="1100" b="0">
                <a:solidFill>
                  <a:srgbClr val="536778"/>
                </a:solidFill>
                <a:latin typeface="Arial"/>
              </a:defRPr>
            </a:pPr>
            <a:r>
              <a:t>0</a:t>
            </a:r>
          </a:p>
        </p:txBody>
      </p:sp>
      <p:sp>
        <p:nvSpPr>
          <p:cNvPr id="44" name="TextBox 43"/>
          <p:cNvSpPr txBox="1"/>
          <p:nvPr/>
        </p:nvSpPr>
        <p:spPr>
          <a:xfrm>
            <a:off x="2819400" y="5093208"/>
            <a:ext cx="457200" cy="228600"/>
          </a:xfrm>
          <a:prstGeom prst="rect">
            <a:avLst/>
          </a:prstGeom>
          <a:noFill/>
        </p:spPr>
        <p:txBody>
          <a:bodyPr wrap="square" lIns="0" rIns="0" tIns="0" bIns="0">
            <a:spAutoFit/>
          </a:bodyPr>
          <a:lstStyle/>
          <a:p>
            <a:pPr>
              <a:spcBef>
                <a:spcPts val="0"/>
              </a:spcBef>
              <a:spcAft>
                <a:spcPts val="500"/>
              </a:spcAft>
              <a:defRPr sz="1100" b="0">
                <a:solidFill>
                  <a:srgbClr val="536778"/>
                </a:solidFill>
                <a:latin typeface="Arial"/>
              </a:defRPr>
            </a:pPr>
            <a:r>
              <a:t>20</a:t>
            </a:r>
          </a:p>
        </p:txBody>
      </p:sp>
      <p:sp>
        <p:nvSpPr>
          <p:cNvPr id="45" name="TextBox 44"/>
          <p:cNvSpPr txBox="1"/>
          <p:nvPr/>
        </p:nvSpPr>
        <p:spPr>
          <a:xfrm>
            <a:off x="3627120" y="5093208"/>
            <a:ext cx="457200" cy="228600"/>
          </a:xfrm>
          <a:prstGeom prst="rect">
            <a:avLst/>
          </a:prstGeom>
          <a:noFill/>
        </p:spPr>
        <p:txBody>
          <a:bodyPr wrap="square" lIns="0" rIns="0" tIns="0" bIns="0">
            <a:spAutoFit/>
          </a:bodyPr>
          <a:lstStyle/>
          <a:p>
            <a:pPr>
              <a:spcBef>
                <a:spcPts val="0"/>
              </a:spcBef>
              <a:spcAft>
                <a:spcPts val="500"/>
              </a:spcAft>
              <a:defRPr sz="1100" b="0">
                <a:solidFill>
                  <a:srgbClr val="536778"/>
                </a:solidFill>
                <a:latin typeface="Arial"/>
              </a:defRPr>
            </a:pPr>
            <a:r>
              <a:t>40</a:t>
            </a:r>
          </a:p>
        </p:txBody>
      </p:sp>
      <p:sp>
        <p:nvSpPr>
          <p:cNvPr id="46" name="TextBox 45"/>
          <p:cNvSpPr txBox="1"/>
          <p:nvPr/>
        </p:nvSpPr>
        <p:spPr>
          <a:xfrm>
            <a:off x="4434840" y="5093208"/>
            <a:ext cx="457200" cy="228600"/>
          </a:xfrm>
          <a:prstGeom prst="rect">
            <a:avLst/>
          </a:prstGeom>
          <a:noFill/>
        </p:spPr>
        <p:txBody>
          <a:bodyPr wrap="square" lIns="0" rIns="0" tIns="0" bIns="0">
            <a:spAutoFit/>
          </a:bodyPr>
          <a:lstStyle/>
          <a:p>
            <a:pPr>
              <a:spcBef>
                <a:spcPts val="0"/>
              </a:spcBef>
              <a:spcAft>
                <a:spcPts val="500"/>
              </a:spcAft>
              <a:defRPr sz="1100" b="0">
                <a:solidFill>
                  <a:srgbClr val="536778"/>
                </a:solidFill>
                <a:latin typeface="Arial"/>
              </a:defRPr>
            </a:pPr>
            <a:r>
              <a:t>60</a:t>
            </a:r>
          </a:p>
        </p:txBody>
      </p:sp>
      <p:sp>
        <p:nvSpPr>
          <p:cNvPr id="47" name="TextBox 46"/>
          <p:cNvSpPr txBox="1"/>
          <p:nvPr/>
        </p:nvSpPr>
        <p:spPr>
          <a:xfrm>
            <a:off x="6327648" y="1764792"/>
            <a:ext cx="5212080" cy="411480"/>
          </a:xfrm>
          <a:prstGeom prst="rect">
            <a:avLst/>
          </a:prstGeom>
          <a:noFill/>
        </p:spPr>
        <p:txBody>
          <a:bodyPr wrap="square" lIns="0" rIns="0" tIns="0" bIns="0">
            <a:spAutoFit/>
          </a:bodyPr>
          <a:lstStyle/>
          <a:p>
            <a:pPr>
              <a:spcBef>
                <a:spcPts val="0"/>
              </a:spcBef>
              <a:spcAft>
                <a:spcPts val="500"/>
              </a:spcAft>
              <a:defRPr sz="2300" b="1">
                <a:solidFill>
                  <a:srgbClr val="127B80"/>
                </a:solidFill>
                <a:latin typeface="Arial"/>
              </a:defRPr>
            </a:pPr>
            <a:r>
              <a:t>MotorBike Test</a:t>
            </a:r>
          </a:p>
        </p:txBody>
      </p:sp>
      <p:sp>
        <p:nvSpPr>
          <p:cNvPr id="48" name="TextBox 47"/>
          <p:cNvSpPr txBox="1"/>
          <p:nvPr/>
        </p:nvSpPr>
        <p:spPr>
          <a:xfrm>
            <a:off x="6327648" y="2624328"/>
            <a:ext cx="1280160" cy="457200"/>
          </a:xfrm>
          <a:prstGeom prst="rect">
            <a:avLst/>
          </a:prstGeom>
          <a:noFill/>
        </p:spPr>
        <p:txBody>
          <a:bodyPr wrap="square" lIns="0" rIns="0" tIns="0" bIns="0">
            <a:spAutoFit/>
          </a:bodyPr>
          <a:lstStyle/>
          <a:p>
            <a:pPr>
              <a:spcBef>
                <a:spcPts val="0"/>
              </a:spcBef>
              <a:spcAft>
                <a:spcPts val="500"/>
              </a:spcAft>
              <a:defRPr sz="1700" b="1">
                <a:solidFill>
                  <a:srgbClr val="173348"/>
                </a:solidFill>
                <a:latin typeface="Arial"/>
              </a:defRPr>
            </a:pPr>
            <a:r>
              <a:t>YOLO11n</a:t>
            </a:r>
          </a:p>
        </p:txBody>
      </p:sp>
      <p:sp>
        <p:nvSpPr>
          <p:cNvPr id="49" name="Rectangle 48"/>
          <p:cNvSpPr/>
          <p:nvPr/>
        </p:nvSpPr>
        <p:spPr>
          <a:xfrm>
            <a:off x="7744968" y="2514600"/>
            <a:ext cx="2143870" cy="219456"/>
          </a:xfrm>
          <a:prstGeom prst="rect">
            <a:avLst/>
          </a:prstGeom>
          <a:solidFill>
            <a:srgbClr val="127B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50" name="Connector 49"/>
          <p:cNvCxnSpPr/>
          <p:nvPr/>
        </p:nvCxnSpPr>
        <p:spPr>
          <a:xfrm>
            <a:off x="9871058" y="2624328"/>
            <a:ext cx="35560" cy="0"/>
          </a:xfrm>
          <a:prstGeom prst="line">
            <a:avLst/>
          </a:prstGeom>
          <a:ln w="12700">
            <a:solidFill>
              <a:srgbClr val="173348"/>
            </a:solidFill>
          </a:ln>
        </p:spPr>
        <p:style>
          <a:lnRef idx="2">
            <a:schemeClr val="accent1"/>
          </a:lnRef>
          <a:fillRef idx="0">
            <a:schemeClr val="accent1"/>
          </a:fillRef>
          <a:effectRef idx="0">
            <a:schemeClr val="accent1"/>
          </a:effectRef>
          <a:fontRef idx="minor">
            <a:schemeClr val="tx1"/>
          </a:fontRef>
        </p:style>
      </p:cxnSp>
      <p:cxnSp>
        <p:nvCxnSpPr>
          <p:cNvPr id="51" name="Connector 50"/>
          <p:cNvCxnSpPr/>
          <p:nvPr/>
        </p:nvCxnSpPr>
        <p:spPr>
          <a:xfrm>
            <a:off x="9871058" y="2578608"/>
            <a:ext cx="0" cy="91440"/>
          </a:xfrm>
          <a:prstGeom prst="line">
            <a:avLst/>
          </a:prstGeom>
          <a:ln w="12700">
            <a:solidFill>
              <a:srgbClr val="173348"/>
            </a:solidFill>
          </a:ln>
        </p:spPr>
        <p:style>
          <a:lnRef idx="2">
            <a:schemeClr val="accent1"/>
          </a:lnRef>
          <a:fillRef idx="0">
            <a:schemeClr val="accent1"/>
          </a:fillRef>
          <a:effectRef idx="0">
            <a:schemeClr val="accent1"/>
          </a:effectRef>
          <a:fontRef idx="minor">
            <a:schemeClr val="tx1"/>
          </a:fontRef>
        </p:style>
      </p:cxnSp>
      <p:cxnSp>
        <p:nvCxnSpPr>
          <p:cNvPr id="52" name="Connector 51"/>
          <p:cNvCxnSpPr/>
          <p:nvPr/>
        </p:nvCxnSpPr>
        <p:spPr>
          <a:xfrm>
            <a:off x="9906618" y="2578608"/>
            <a:ext cx="0" cy="91440"/>
          </a:xfrm>
          <a:prstGeom prst="line">
            <a:avLst/>
          </a:prstGeom>
          <a:ln w="12700">
            <a:solidFill>
              <a:srgbClr val="173348"/>
            </a:solidFill>
          </a:ln>
        </p:spPr>
        <p:style>
          <a:lnRef idx="2">
            <a:schemeClr val="accent1"/>
          </a:lnRef>
          <a:fillRef idx="0">
            <a:schemeClr val="accent1"/>
          </a:fillRef>
          <a:effectRef idx="0">
            <a:schemeClr val="accent1"/>
          </a:effectRef>
          <a:fontRef idx="minor">
            <a:schemeClr val="tx1"/>
          </a:fontRef>
        </p:style>
      </p:cxnSp>
      <p:sp>
        <p:nvSpPr>
          <p:cNvPr id="53" name="TextBox 52"/>
          <p:cNvSpPr txBox="1"/>
          <p:nvPr/>
        </p:nvSpPr>
        <p:spPr>
          <a:xfrm>
            <a:off x="10287000" y="2487168"/>
            <a:ext cx="1188720" cy="274320"/>
          </a:xfrm>
          <a:prstGeom prst="rect">
            <a:avLst/>
          </a:prstGeom>
          <a:noFill/>
        </p:spPr>
        <p:txBody>
          <a:bodyPr wrap="square" lIns="0" rIns="0" tIns="0" bIns="0">
            <a:spAutoFit/>
          </a:bodyPr>
          <a:lstStyle/>
          <a:p>
            <a:pPr>
              <a:spcBef>
                <a:spcPts val="0"/>
              </a:spcBef>
              <a:spcAft>
                <a:spcPts val="500"/>
              </a:spcAft>
              <a:defRPr sz="1200" b="0">
                <a:solidFill>
                  <a:srgbClr val="173348"/>
                </a:solidFill>
                <a:latin typeface="Arial"/>
              </a:defRPr>
            </a:pPr>
            <a:r>
              <a:t>53.08 ± 0.44</a:t>
            </a:r>
          </a:p>
        </p:txBody>
      </p:sp>
      <p:sp>
        <p:nvSpPr>
          <p:cNvPr id="54" name="Rectangle 53"/>
          <p:cNvSpPr/>
          <p:nvPr/>
        </p:nvSpPr>
        <p:spPr>
          <a:xfrm>
            <a:off x="7744968" y="2825496"/>
            <a:ext cx="409787" cy="219456"/>
          </a:xfrm>
          <a:prstGeom prst="rect">
            <a:avLst/>
          </a:prstGeom>
          <a:solidFill>
            <a:srgbClr val="AABCC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55" name="Connector 54"/>
          <p:cNvCxnSpPr/>
          <p:nvPr/>
        </p:nvCxnSpPr>
        <p:spPr>
          <a:xfrm>
            <a:off x="8137527" y="2935224"/>
            <a:ext cx="34456" cy="0"/>
          </a:xfrm>
          <a:prstGeom prst="line">
            <a:avLst/>
          </a:prstGeom>
          <a:ln w="12700">
            <a:solidFill>
              <a:srgbClr val="173348"/>
            </a:solidFill>
          </a:ln>
        </p:spPr>
        <p:style>
          <a:lnRef idx="2">
            <a:schemeClr val="accent1"/>
          </a:lnRef>
          <a:fillRef idx="0">
            <a:schemeClr val="accent1"/>
          </a:fillRef>
          <a:effectRef idx="0">
            <a:schemeClr val="accent1"/>
          </a:effectRef>
          <a:fontRef idx="minor">
            <a:schemeClr val="tx1"/>
          </a:fontRef>
        </p:style>
      </p:cxnSp>
      <p:cxnSp>
        <p:nvCxnSpPr>
          <p:cNvPr id="56" name="Connector 55"/>
          <p:cNvCxnSpPr/>
          <p:nvPr/>
        </p:nvCxnSpPr>
        <p:spPr>
          <a:xfrm>
            <a:off x="8137527" y="2889503"/>
            <a:ext cx="0" cy="91441"/>
          </a:xfrm>
          <a:prstGeom prst="line">
            <a:avLst/>
          </a:prstGeom>
          <a:ln w="12700">
            <a:solidFill>
              <a:srgbClr val="173348"/>
            </a:solidFill>
          </a:ln>
        </p:spPr>
        <p:style>
          <a:lnRef idx="2">
            <a:schemeClr val="accent1"/>
          </a:lnRef>
          <a:fillRef idx="0">
            <a:schemeClr val="accent1"/>
          </a:fillRef>
          <a:effectRef idx="0">
            <a:schemeClr val="accent1"/>
          </a:effectRef>
          <a:fontRef idx="minor">
            <a:schemeClr val="tx1"/>
          </a:fontRef>
        </p:style>
      </p:cxnSp>
      <p:cxnSp>
        <p:nvCxnSpPr>
          <p:cNvPr id="57" name="Connector 56"/>
          <p:cNvCxnSpPr/>
          <p:nvPr/>
        </p:nvCxnSpPr>
        <p:spPr>
          <a:xfrm>
            <a:off x="8171983" y="2889503"/>
            <a:ext cx="0" cy="91441"/>
          </a:xfrm>
          <a:prstGeom prst="line">
            <a:avLst/>
          </a:prstGeom>
          <a:ln w="12700">
            <a:solidFill>
              <a:srgbClr val="173348"/>
            </a:solidFill>
          </a:ln>
        </p:spPr>
        <p:style>
          <a:lnRef idx="2">
            <a:schemeClr val="accent1"/>
          </a:lnRef>
          <a:fillRef idx="0">
            <a:schemeClr val="accent1"/>
          </a:fillRef>
          <a:effectRef idx="0">
            <a:schemeClr val="accent1"/>
          </a:effectRef>
          <a:fontRef idx="minor">
            <a:schemeClr val="tx1"/>
          </a:fontRef>
        </p:style>
      </p:cxnSp>
      <p:sp>
        <p:nvSpPr>
          <p:cNvPr id="58" name="TextBox 57"/>
          <p:cNvSpPr txBox="1"/>
          <p:nvPr/>
        </p:nvSpPr>
        <p:spPr>
          <a:xfrm>
            <a:off x="10287000" y="2798064"/>
            <a:ext cx="1188720" cy="274320"/>
          </a:xfrm>
          <a:prstGeom prst="rect">
            <a:avLst/>
          </a:prstGeom>
          <a:noFill/>
        </p:spPr>
        <p:txBody>
          <a:bodyPr wrap="square" lIns="0" rIns="0" tIns="0" bIns="0">
            <a:spAutoFit/>
          </a:bodyPr>
          <a:lstStyle/>
          <a:p>
            <a:pPr>
              <a:spcBef>
                <a:spcPts val="0"/>
              </a:spcBef>
              <a:spcAft>
                <a:spcPts val="500"/>
              </a:spcAft>
              <a:defRPr sz="1200" b="0">
                <a:solidFill>
                  <a:srgbClr val="173348"/>
                </a:solidFill>
                <a:latin typeface="Arial"/>
              </a:defRPr>
            </a:pPr>
            <a:r>
              <a:t>10.15 ± 0.43</a:t>
            </a:r>
          </a:p>
        </p:txBody>
      </p:sp>
      <p:sp>
        <p:nvSpPr>
          <p:cNvPr id="59" name="TextBox 58"/>
          <p:cNvSpPr txBox="1"/>
          <p:nvPr/>
        </p:nvSpPr>
        <p:spPr>
          <a:xfrm>
            <a:off x="6327648" y="3465576"/>
            <a:ext cx="1280160" cy="457200"/>
          </a:xfrm>
          <a:prstGeom prst="rect">
            <a:avLst/>
          </a:prstGeom>
          <a:noFill/>
        </p:spPr>
        <p:txBody>
          <a:bodyPr wrap="square" lIns="0" rIns="0" tIns="0" bIns="0">
            <a:spAutoFit/>
          </a:bodyPr>
          <a:lstStyle/>
          <a:p>
            <a:pPr>
              <a:spcBef>
                <a:spcPts val="0"/>
              </a:spcBef>
              <a:spcAft>
                <a:spcPts val="500"/>
              </a:spcAft>
              <a:defRPr sz="1700" b="1">
                <a:solidFill>
                  <a:srgbClr val="173348"/>
                </a:solidFill>
                <a:latin typeface="Arial"/>
              </a:defRPr>
            </a:pPr>
            <a:r>
              <a:t>YOLOv8n</a:t>
            </a:r>
          </a:p>
        </p:txBody>
      </p:sp>
      <p:sp>
        <p:nvSpPr>
          <p:cNvPr id="60" name="Rectangle 59"/>
          <p:cNvSpPr/>
          <p:nvPr/>
        </p:nvSpPr>
        <p:spPr>
          <a:xfrm>
            <a:off x="7744968" y="3355848"/>
            <a:ext cx="2069888" cy="219456"/>
          </a:xfrm>
          <a:prstGeom prst="rect">
            <a:avLst/>
          </a:prstGeom>
          <a:solidFill>
            <a:srgbClr val="127B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61" name="Connector 60"/>
          <p:cNvCxnSpPr/>
          <p:nvPr/>
        </p:nvCxnSpPr>
        <p:spPr>
          <a:xfrm>
            <a:off x="9802152" y="3465576"/>
            <a:ext cx="25408" cy="0"/>
          </a:xfrm>
          <a:prstGeom prst="line">
            <a:avLst/>
          </a:prstGeom>
          <a:ln w="12700">
            <a:solidFill>
              <a:srgbClr val="173348"/>
            </a:solidFill>
          </a:ln>
        </p:spPr>
        <p:style>
          <a:lnRef idx="2">
            <a:schemeClr val="accent1"/>
          </a:lnRef>
          <a:fillRef idx="0">
            <a:schemeClr val="accent1"/>
          </a:fillRef>
          <a:effectRef idx="0">
            <a:schemeClr val="accent1"/>
          </a:effectRef>
          <a:fontRef idx="minor">
            <a:schemeClr val="tx1"/>
          </a:fontRef>
        </p:style>
      </p:cxnSp>
      <p:cxnSp>
        <p:nvCxnSpPr>
          <p:cNvPr id="62" name="Connector 61"/>
          <p:cNvCxnSpPr/>
          <p:nvPr/>
        </p:nvCxnSpPr>
        <p:spPr>
          <a:xfrm>
            <a:off x="9802152" y="3419856"/>
            <a:ext cx="0" cy="91440"/>
          </a:xfrm>
          <a:prstGeom prst="line">
            <a:avLst/>
          </a:prstGeom>
          <a:ln w="12700">
            <a:solidFill>
              <a:srgbClr val="173348"/>
            </a:solidFill>
          </a:ln>
        </p:spPr>
        <p:style>
          <a:lnRef idx="2">
            <a:schemeClr val="accent1"/>
          </a:lnRef>
          <a:fillRef idx="0">
            <a:schemeClr val="accent1"/>
          </a:fillRef>
          <a:effectRef idx="0">
            <a:schemeClr val="accent1"/>
          </a:effectRef>
          <a:fontRef idx="minor">
            <a:schemeClr val="tx1"/>
          </a:fontRef>
        </p:style>
      </p:cxnSp>
      <p:cxnSp>
        <p:nvCxnSpPr>
          <p:cNvPr id="63" name="Connector 62"/>
          <p:cNvCxnSpPr/>
          <p:nvPr/>
        </p:nvCxnSpPr>
        <p:spPr>
          <a:xfrm>
            <a:off x="9827560" y="3419856"/>
            <a:ext cx="0" cy="91440"/>
          </a:xfrm>
          <a:prstGeom prst="line">
            <a:avLst/>
          </a:prstGeom>
          <a:ln w="12700">
            <a:solidFill>
              <a:srgbClr val="173348"/>
            </a:solidFill>
          </a:ln>
        </p:spPr>
        <p:style>
          <a:lnRef idx="2">
            <a:schemeClr val="accent1"/>
          </a:lnRef>
          <a:fillRef idx="0">
            <a:schemeClr val="accent1"/>
          </a:fillRef>
          <a:effectRef idx="0">
            <a:schemeClr val="accent1"/>
          </a:effectRef>
          <a:fontRef idx="minor">
            <a:schemeClr val="tx1"/>
          </a:fontRef>
        </p:style>
      </p:cxnSp>
      <p:sp>
        <p:nvSpPr>
          <p:cNvPr id="64" name="TextBox 63"/>
          <p:cNvSpPr txBox="1"/>
          <p:nvPr/>
        </p:nvSpPr>
        <p:spPr>
          <a:xfrm>
            <a:off x="10287000" y="3328416"/>
            <a:ext cx="1188720" cy="274320"/>
          </a:xfrm>
          <a:prstGeom prst="rect">
            <a:avLst/>
          </a:prstGeom>
          <a:noFill/>
        </p:spPr>
        <p:txBody>
          <a:bodyPr wrap="square" lIns="0" rIns="0" tIns="0" bIns="0">
            <a:spAutoFit/>
          </a:bodyPr>
          <a:lstStyle/>
          <a:p>
            <a:pPr>
              <a:spcBef>
                <a:spcPts val="0"/>
              </a:spcBef>
              <a:spcAft>
                <a:spcPts val="500"/>
              </a:spcAft>
              <a:defRPr sz="1200" b="0">
                <a:solidFill>
                  <a:srgbClr val="173348"/>
                </a:solidFill>
                <a:latin typeface="Arial"/>
              </a:defRPr>
            </a:pPr>
            <a:r>
              <a:t>51.25 ± 0.31</a:t>
            </a:r>
          </a:p>
        </p:txBody>
      </p:sp>
      <p:sp>
        <p:nvSpPr>
          <p:cNvPr id="65" name="Rectangle 64"/>
          <p:cNvSpPr/>
          <p:nvPr/>
        </p:nvSpPr>
        <p:spPr>
          <a:xfrm>
            <a:off x="7744968" y="3666744"/>
            <a:ext cx="404436" cy="219456"/>
          </a:xfrm>
          <a:prstGeom prst="rect">
            <a:avLst/>
          </a:prstGeom>
          <a:solidFill>
            <a:srgbClr val="AABCC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66" name="Connector 65"/>
          <p:cNvCxnSpPr/>
          <p:nvPr/>
        </p:nvCxnSpPr>
        <p:spPr>
          <a:xfrm>
            <a:off x="8100476" y="3776472"/>
            <a:ext cx="97856" cy="0"/>
          </a:xfrm>
          <a:prstGeom prst="line">
            <a:avLst/>
          </a:prstGeom>
          <a:ln w="12700">
            <a:solidFill>
              <a:srgbClr val="173348"/>
            </a:solidFill>
          </a:ln>
        </p:spPr>
        <p:style>
          <a:lnRef idx="2">
            <a:schemeClr val="accent1"/>
          </a:lnRef>
          <a:fillRef idx="0">
            <a:schemeClr val="accent1"/>
          </a:fillRef>
          <a:effectRef idx="0">
            <a:schemeClr val="accent1"/>
          </a:effectRef>
          <a:fontRef idx="minor">
            <a:schemeClr val="tx1"/>
          </a:fontRef>
        </p:style>
      </p:cxnSp>
      <p:cxnSp>
        <p:nvCxnSpPr>
          <p:cNvPr id="67" name="Connector 66"/>
          <p:cNvCxnSpPr/>
          <p:nvPr/>
        </p:nvCxnSpPr>
        <p:spPr>
          <a:xfrm>
            <a:off x="8100476" y="3730752"/>
            <a:ext cx="0" cy="91439"/>
          </a:xfrm>
          <a:prstGeom prst="line">
            <a:avLst/>
          </a:prstGeom>
          <a:ln w="12700">
            <a:solidFill>
              <a:srgbClr val="173348"/>
            </a:solidFill>
          </a:ln>
        </p:spPr>
        <p:style>
          <a:lnRef idx="2">
            <a:schemeClr val="accent1"/>
          </a:lnRef>
          <a:fillRef idx="0">
            <a:schemeClr val="accent1"/>
          </a:fillRef>
          <a:effectRef idx="0">
            <a:schemeClr val="accent1"/>
          </a:effectRef>
          <a:fontRef idx="minor">
            <a:schemeClr val="tx1"/>
          </a:fontRef>
        </p:style>
      </p:cxnSp>
      <p:cxnSp>
        <p:nvCxnSpPr>
          <p:cNvPr id="68" name="Connector 67"/>
          <p:cNvCxnSpPr/>
          <p:nvPr/>
        </p:nvCxnSpPr>
        <p:spPr>
          <a:xfrm>
            <a:off x="8198332" y="3730752"/>
            <a:ext cx="0" cy="91439"/>
          </a:xfrm>
          <a:prstGeom prst="line">
            <a:avLst/>
          </a:prstGeom>
          <a:ln w="12700">
            <a:solidFill>
              <a:srgbClr val="173348"/>
            </a:solidFill>
          </a:ln>
        </p:spPr>
        <p:style>
          <a:lnRef idx="2">
            <a:schemeClr val="accent1"/>
          </a:lnRef>
          <a:fillRef idx="0">
            <a:schemeClr val="accent1"/>
          </a:fillRef>
          <a:effectRef idx="0">
            <a:schemeClr val="accent1"/>
          </a:effectRef>
          <a:fontRef idx="minor">
            <a:schemeClr val="tx1"/>
          </a:fontRef>
        </p:style>
      </p:cxnSp>
      <p:sp>
        <p:nvSpPr>
          <p:cNvPr id="69" name="TextBox 68"/>
          <p:cNvSpPr txBox="1"/>
          <p:nvPr/>
        </p:nvSpPr>
        <p:spPr>
          <a:xfrm>
            <a:off x="10287000" y="3639312"/>
            <a:ext cx="1188720" cy="274320"/>
          </a:xfrm>
          <a:prstGeom prst="rect">
            <a:avLst/>
          </a:prstGeom>
          <a:noFill/>
        </p:spPr>
        <p:txBody>
          <a:bodyPr wrap="square" lIns="0" rIns="0" tIns="0" bIns="0">
            <a:spAutoFit/>
          </a:bodyPr>
          <a:lstStyle/>
          <a:p>
            <a:pPr>
              <a:spcBef>
                <a:spcPts val="0"/>
              </a:spcBef>
              <a:spcAft>
                <a:spcPts val="500"/>
              </a:spcAft>
              <a:defRPr sz="1200" b="0">
                <a:solidFill>
                  <a:srgbClr val="173348"/>
                </a:solidFill>
                <a:latin typeface="Arial"/>
              </a:defRPr>
            </a:pPr>
            <a:r>
              <a:t>10.01 ± 1.21</a:t>
            </a:r>
          </a:p>
        </p:txBody>
      </p:sp>
      <p:sp>
        <p:nvSpPr>
          <p:cNvPr id="70" name="TextBox 69"/>
          <p:cNvSpPr txBox="1"/>
          <p:nvPr/>
        </p:nvSpPr>
        <p:spPr>
          <a:xfrm>
            <a:off x="6327648" y="4306824"/>
            <a:ext cx="1280160" cy="457200"/>
          </a:xfrm>
          <a:prstGeom prst="rect">
            <a:avLst/>
          </a:prstGeom>
          <a:noFill/>
        </p:spPr>
        <p:txBody>
          <a:bodyPr wrap="square" lIns="0" rIns="0" tIns="0" bIns="0">
            <a:spAutoFit/>
          </a:bodyPr>
          <a:lstStyle/>
          <a:p>
            <a:pPr>
              <a:spcBef>
                <a:spcPts val="0"/>
              </a:spcBef>
              <a:spcAft>
                <a:spcPts val="500"/>
              </a:spcAft>
              <a:defRPr sz="1700" b="1">
                <a:solidFill>
                  <a:srgbClr val="173348"/>
                </a:solidFill>
                <a:latin typeface="Arial"/>
              </a:defRPr>
            </a:pPr>
            <a:r>
              <a:t>YOLO26n</a:t>
            </a:r>
          </a:p>
        </p:txBody>
      </p:sp>
      <p:sp>
        <p:nvSpPr>
          <p:cNvPr id="71" name="Rectangle 70"/>
          <p:cNvSpPr/>
          <p:nvPr/>
        </p:nvSpPr>
        <p:spPr>
          <a:xfrm>
            <a:off x="7744968" y="4197096"/>
            <a:ext cx="2211291" cy="219456"/>
          </a:xfrm>
          <a:prstGeom prst="rect">
            <a:avLst/>
          </a:prstGeom>
          <a:solidFill>
            <a:srgbClr val="127B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72" name="Connector 71"/>
          <p:cNvCxnSpPr/>
          <p:nvPr/>
        </p:nvCxnSpPr>
        <p:spPr>
          <a:xfrm>
            <a:off x="9906290" y="4306824"/>
            <a:ext cx="99937" cy="0"/>
          </a:xfrm>
          <a:prstGeom prst="line">
            <a:avLst/>
          </a:prstGeom>
          <a:ln w="12700">
            <a:solidFill>
              <a:srgbClr val="173348"/>
            </a:solidFill>
          </a:ln>
        </p:spPr>
        <p:style>
          <a:lnRef idx="2">
            <a:schemeClr val="accent1"/>
          </a:lnRef>
          <a:fillRef idx="0">
            <a:schemeClr val="accent1"/>
          </a:fillRef>
          <a:effectRef idx="0">
            <a:schemeClr val="accent1"/>
          </a:effectRef>
          <a:fontRef idx="minor">
            <a:schemeClr val="tx1"/>
          </a:fontRef>
        </p:style>
      </p:cxnSp>
      <p:cxnSp>
        <p:nvCxnSpPr>
          <p:cNvPr id="73" name="Connector 72"/>
          <p:cNvCxnSpPr/>
          <p:nvPr/>
        </p:nvCxnSpPr>
        <p:spPr>
          <a:xfrm>
            <a:off x="9906290" y="4261104"/>
            <a:ext cx="0" cy="91440"/>
          </a:xfrm>
          <a:prstGeom prst="line">
            <a:avLst/>
          </a:prstGeom>
          <a:ln w="12700">
            <a:solidFill>
              <a:srgbClr val="173348"/>
            </a:solidFill>
          </a:ln>
        </p:spPr>
        <p:style>
          <a:lnRef idx="2">
            <a:schemeClr val="accent1"/>
          </a:lnRef>
          <a:fillRef idx="0">
            <a:schemeClr val="accent1"/>
          </a:fillRef>
          <a:effectRef idx="0">
            <a:schemeClr val="accent1"/>
          </a:effectRef>
          <a:fontRef idx="minor">
            <a:schemeClr val="tx1"/>
          </a:fontRef>
        </p:style>
      </p:cxnSp>
      <p:cxnSp>
        <p:nvCxnSpPr>
          <p:cNvPr id="74" name="Connector 73"/>
          <p:cNvCxnSpPr/>
          <p:nvPr/>
        </p:nvCxnSpPr>
        <p:spPr>
          <a:xfrm>
            <a:off x="10006227" y="4261104"/>
            <a:ext cx="0" cy="91440"/>
          </a:xfrm>
          <a:prstGeom prst="line">
            <a:avLst/>
          </a:prstGeom>
          <a:ln w="12700">
            <a:solidFill>
              <a:srgbClr val="173348"/>
            </a:solidFill>
          </a:ln>
        </p:spPr>
        <p:style>
          <a:lnRef idx="2">
            <a:schemeClr val="accent1"/>
          </a:lnRef>
          <a:fillRef idx="0">
            <a:schemeClr val="accent1"/>
          </a:fillRef>
          <a:effectRef idx="0">
            <a:schemeClr val="accent1"/>
          </a:effectRef>
          <a:fontRef idx="minor">
            <a:schemeClr val="tx1"/>
          </a:fontRef>
        </p:style>
      </p:cxnSp>
      <p:sp>
        <p:nvSpPr>
          <p:cNvPr id="75" name="TextBox 74"/>
          <p:cNvSpPr txBox="1"/>
          <p:nvPr/>
        </p:nvSpPr>
        <p:spPr>
          <a:xfrm>
            <a:off x="10287000" y="4169663"/>
            <a:ext cx="1188720" cy="274320"/>
          </a:xfrm>
          <a:prstGeom prst="rect">
            <a:avLst/>
          </a:prstGeom>
          <a:noFill/>
        </p:spPr>
        <p:txBody>
          <a:bodyPr wrap="square" lIns="0" rIns="0" tIns="0" bIns="0">
            <a:spAutoFit/>
          </a:bodyPr>
          <a:lstStyle/>
          <a:p>
            <a:pPr>
              <a:spcBef>
                <a:spcPts val="0"/>
              </a:spcBef>
              <a:spcAft>
                <a:spcPts val="500"/>
              </a:spcAft>
              <a:defRPr sz="1200" b="0">
                <a:solidFill>
                  <a:srgbClr val="173348"/>
                </a:solidFill>
                <a:latin typeface="Arial"/>
              </a:defRPr>
            </a:pPr>
            <a:r>
              <a:t>54.75 ± 1.24</a:t>
            </a:r>
          </a:p>
        </p:txBody>
      </p:sp>
      <p:sp>
        <p:nvSpPr>
          <p:cNvPr id="76" name="Rectangle 75"/>
          <p:cNvSpPr/>
          <p:nvPr/>
        </p:nvSpPr>
        <p:spPr>
          <a:xfrm>
            <a:off x="7744968" y="4507992"/>
            <a:ext cx="504213" cy="219456"/>
          </a:xfrm>
          <a:prstGeom prst="rect">
            <a:avLst/>
          </a:prstGeom>
          <a:solidFill>
            <a:srgbClr val="AABCC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77" name="Connector 76"/>
          <p:cNvCxnSpPr/>
          <p:nvPr/>
        </p:nvCxnSpPr>
        <p:spPr>
          <a:xfrm>
            <a:off x="8244049" y="4617720"/>
            <a:ext cx="10263" cy="0"/>
          </a:xfrm>
          <a:prstGeom prst="line">
            <a:avLst/>
          </a:prstGeom>
          <a:ln w="12700">
            <a:solidFill>
              <a:srgbClr val="173348"/>
            </a:solidFill>
          </a:ln>
        </p:spPr>
        <p:style>
          <a:lnRef idx="2">
            <a:schemeClr val="accent1"/>
          </a:lnRef>
          <a:fillRef idx="0">
            <a:schemeClr val="accent1"/>
          </a:fillRef>
          <a:effectRef idx="0">
            <a:schemeClr val="accent1"/>
          </a:effectRef>
          <a:fontRef idx="minor">
            <a:schemeClr val="tx1"/>
          </a:fontRef>
        </p:style>
      </p:cxnSp>
      <p:cxnSp>
        <p:nvCxnSpPr>
          <p:cNvPr id="78" name="Connector 77"/>
          <p:cNvCxnSpPr/>
          <p:nvPr/>
        </p:nvCxnSpPr>
        <p:spPr>
          <a:xfrm>
            <a:off x="8244049" y="4572000"/>
            <a:ext cx="0" cy="91440"/>
          </a:xfrm>
          <a:prstGeom prst="line">
            <a:avLst/>
          </a:prstGeom>
          <a:ln w="12700">
            <a:solidFill>
              <a:srgbClr val="173348"/>
            </a:solidFill>
          </a:ln>
        </p:spPr>
        <p:style>
          <a:lnRef idx="2">
            <a:schemeClr val="accent1"/>
          </a:lnRef>
          <a:fillRef idx="0">
            <a:schemeClr val="accent1"/>
          </a:fillRef>
          <a:effectRef idx="0">
            <a:schemeClr val="accent1"/>
          </a:effectRef>
          <a:fontRef idx="minor">
            <a:schemeClr val="tx1"/>
          </a:fontRef>
        </p:style>
      </p:cxnSp>
      <p:cxnSp>
        <p:nvCxnSpPr>
          <p:cNvPr id="79" name="Connector 78"/>
          <p:cNvCxnSpPr/>
          <p:nvPr/>
        </p:nvCxnSpPr>
        <p:spPr>
          <a:xfrm>
            <a:off x="8254312" y="4572000"/>
            <a:ext cx="0" cy="91440"/>
          </a:xfrm>
          <a:prstGeom prst="line">
            <a:avLst/>
          </a:prstGeom>
          <a:ln w="12700">
            <a:solidFill>
              <a:srgbClr val="173348"/>
            </a:solidFill>
          </a:ln>
        </p:spPr>
        <p:style>
          <a:lnRef idx="2">
            <a:schemeClr val="accent1"/>
          </a:lnRef>
          <a:fillRef idx="0">
            <a:schemeClr val="accent1"/>
          </a:fillRef>
          <a:effectRef idx="0">
            <a:schemeClr val="accent1"/>
          </a:effectRef>
          <a:fontRef idx="minor">
            <a:schemeClr val="tx1"/>
          </a:fontRef>
        </p:style>
      </p:cxnSp>
      <p:sp>
        <p:nvSpPr>
          <p:cNvPr id="80" name="TextBox 79"/>
          <p:cNvSpPr txBox="1"/>
          <p:nvPr/>
        </p:nvSpPr>
        <p:spPr>
          <a:xfrm>
            <a:off x="10287000" y="4480559"/>
            <a:ext cx="1188720" cy="274320"/>
          </a:xfrm>
          <a:prstGeom prst="rect">
            <a:avLst/>
          </a:prstGeom>
          <a:noFill/>
        </p:spPr>
        <p:txBody>
          <a:bodyPr wrap="square" lIns="0" rIns="0" tIns="0" bIns="0">
            <a:spAutoFit/>
          </a:bodyPr>
          <a:lstStyle/>
          <a:p>
            <a:pPr>
              <a:spcBef>
                <a:spcPts val="0"/>
              </a:spcBef>
              <a:spcAft>
                <a:spcPts val="500"/>
              </a:spcAft>
              <a:defRPr sz="1200" b="0">
                <a:solidFill>
                  <a:srgbClr val="173348"/>
                </a:solidFill>
                <a:latin typeface="Arial"/>
              </a:defRPr>
            </a:pPr>
            <a:r>
              <a:t>12.48 ± 0.13</a:t>
            </a:r>
          </a:p>
        </p:txBody>
      </p:sp>
      <p:cxnSp>
        <p:nvCxnSpPr>
          <p:cNvPr id="81" name="Connector 80"/>
          <p:cNvCxnSpPr/>
          <p:nvPr/>
        </p:nvCxnSpPr>
        <p:spPr>
          <a:xfrm>
            <a:off x="7744968" y="4983480"/>
            <a:ext cx="2423160" cy="0"/>
          </a:xfrm>
          <a:prstGeom prst="line">
            <a:avLst/>
          </a:prstGeom>
          <a:ln w="16510">
            <a:solidFill>
              <a:srgbClr val="DCE6EC"/>
            </a:solidFill>
          </a:ln>
        </p:spPr>
        <p:style>
          <a:lnRef idx="2">
            <a:schemeClr val="accent1"/>
          </a:lnRef>
          <a:fillRef idx="0">
            <a:schemeClr val="accent1"/>
          </a:fillRef>
          <a:effectRef idx="0">
            <a:schemeClr val="accent1"/>
          </a:effectRef>
          <a:fontRef idx="minor">
            <a:schemeClr val="tx1"/>
          </a:fontRef>
        </p:style>
      </p:cxnSp>
      <p:sp>
        <p:nvSpPr>
          <p:cNvPr id="82" name="TextBox 81"/>
          <p:cNvSpPr txBox="1"/>
          <p:nvPr/>
        </p:nvSpPr>
        <p:spPr>
          <a:xfrm>
            <a:off x="7607808" y="5093208"/>
            <a:ext cx="457200" cy="228600"/>
          </a:xfrm>
          <a:prstGeom prst="rect">
            <a:avLst/>
          </a:prstGeom>
          <a:noFill/>
        </p:spPr>
        <p:txBody>
          <a:bodyPr wrap="square" lIns="0" rIns="0" tIns="0" bIns="0">
            <a:spAutoFit/>
          </a:bodyPr>
          <a:lstStyle/>
          <a:p>
            <a:pPr>
              <a:spcBef>
                <a:spcPts val="0"/>
              </a:spcBef>
              <a:spcAft>
                <a:spcPts val="500"/>
              </a:spcAft>
              <a:defRPr sz="1100" b="0">
                <a:solidFill>
                  <a:srgbClr val="536778"/>
                </a:solidFill>
                <a:latin typeface="Arial"/>
              </a:defRPr>
            </a:pPr>
            <a:r>
              <a:t>0</a:t>
            </a:r>
          </a:p>
        </p:txBody>
      </p:sp>
      <p:sp>
        <p:nvSpPr>
          <p:cNvPr id="83" name="TextBox 82"/>
          <p:cNvSpPr txBox="1"/>
          <p:nvPr/>
        </p:nvSpPr>
        <p:spPr>
          <a:xfrm>
            <a:off x="8415528" y="5093208"/>
            <a:ext cx="457200" cy="228600"/>
          </a:xfrm>
          <a:prstGeom prst="rect">
            <a:avLst/>
          </a:prstGeom>
          <a:noFill/>
        </p:spPr>
        <p:txBody>
          <a:bodyPr wrap="square" lIns="0" rIns="0" tIns="0" bIns="0">
            <a:spAutoFit/>
          </a:bodyPr>
          <a:lstStyle/>
          <a:p>
            <a:pPr>
              <a:spcBef>
                <a:spcPts val="0"/>
              </a:spcBef>
              <a:spcAft>
                <a:spcPts val="500"/>
              </a:spcAft>
              <a:defRPr sz="1100" b="0">
                <a:solidFill>
                  <a:srgbClr val="536778"/>
                </a:solidFill>
                <a:latin typeface="Arial"/>
              </a:defRPr>
            </a:pPr>
            <a:r>
              <a:t>20</a:t>
            </a:r>
          </a:p>
        </p:txBody>
      </p:sp>
      <p:sp>
        <p:nvSpPr>
          <p:cNvPr id="84" name="TextBox 83"/>
          <p:cNvSpPr txBox="1"/>
          <p:nvPr/>
        </p:nvSpPr>
        <p:spPr>
          <a:xfrm>
            <a:off x="9223248" y="5093208"/>
            <a:ext cx="457200" cy="228600"/>
          </a:xfrm>
          <a:prstGeom prst="rect">
            <a:avLst/>
          </a:prstGeom>
          <a:noFill/>
        </p:spPr>
        <p:txBody>
          <a:bodyPr wrap="square" lIns="0" rIns="0" tIns="0" bIns="0">
            <a:spAutoFit/>
          </a:bodyPr>
          <a:lstStyle/>
          <a:p>
            <a:pPr>
              <a:spcBef>
                <a:spcPts val="0"/>
              </a:spcBef>
              <a:spcAft>
                <a:spcPts val="500"/>
              </a:spcAft>
              <a:defRPr sz="1100" b="0">
                <a:solidFill>
                  <a:srgbClr val="536778"/>
                </a:solidFill>
                <a:latin typeface="Arial"/>
              </a:defRPr>
            </a:pPr>
            <a:r>
              <a:t>40</a:t>
            </a:r>
          </a:p>
        </p:txBody>
      </p:sp>
      <p:sp>
        <p:nvSpPr>
          <p:cNvPr id="85" name="TextBox 84"/>
          <p:cNvSpPr txBox="1"/>
          <p:nvPr/>
        </p:nvSpPr>
        <p:spPr>
          <a:xfrm>
            <a:off x="10030968" y="5093208"/>
            <a:ext cx="457200" cy="228600"/>
          </a:xfrm>
          <a:prstGeom prst="rect">
            <a:avLst/>
          </a:prstGeom>
          <a:noFill/>
        </p:spPr>
        <p:txBody>
          <a:bodyPr wrap="square" lIns="0" rIns="0" tIns="0" bIns="0">
            <a:spAutoFit/>
          </a:bodyPr>
          <a:lstStyle/>
          <a:p>
            <a:pPr>
              <a:spcBef>
                <a:spcPts val="0"/>
              </a:spcBef>
              <a:spcAft>
                <a:spcPts val="500"/>
              </a:spcAft>
              <a:defRPr sz="1100" b="0">
                <a:solidFill>
                  <a:srgbClr val="536778"/>
                </a:solidFill>
                <a:latin typeface="Arial"/>
              </a:defRPr>
            </a:pPr>
            <a:r>
              <a:t>60</a:t>
            </a:r>
          </a:p>
        </p:txBody>
      </p:sp>
      <p:sp>
        <p:nvSpPr>
          <p:cNvPr id="86" name="Rectangle 85"/>
          <p:cNvSpPr/>
          <p:nvPr/>
        </p:nvSpPr>
        <p:spPr>
          <a:xfrm>
            <a:off x="868680" y="5532120"/>
            <a:ext cx="201168" cy="182880"/>
          </a:xfrm>
          <a:prstGeom prst="rect">
            <a:avLst/>
          </a:prstGeom>
          <a:solidFill>
            <a:srgbClr val="127B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7" name="TextBox 86"/>
          <p:cNvSpPr txBox="1"/>
          <p:nvPr/>
        </p:nvSpPr>
        <p:spPr>
          <a:xfrm>
            <a:off x="1188720" y="5486400"/>
            <a:ext cx="2926080" cy="320040"/>
          </a:xfrm>
          <a:prstGeom prst="rect">
            <a:avLst/>
          </a:prstGeom>
          <a:noFill/>
        </p:spPr>
        <p:txBody>
          <a:bodyPr wrap="square" lIns="0" rIns="0" tIns="0" bIns="0">
            <a:spAutoFit/>
          </a:bodyPr>
          <a:lstStyle/>
          <a:p>
            <a:pPr>
              <a:spcBef>
                <a:spcPts val="0"/>
              </a:spcBef>
              <a:spcAft>
                <a:spcPts val="500"/>
              </a:spcAft>
              <a:defRPr sz="1500" b="0">
                <a:solidFill>
                  <a:srgbClr val="173348"/>
                </a:solidFill>
                <a:latin typeface="Arial"/>
              </a:defRPr>
            </a:pPr>
            <a:r>
              <a:t>Huấn luyện trên miền đích</a:t>
            </a:r>
          </a:p>
        </p:txBody>
      </p:sp>
      <p:sp>
        <p:nvSpPr>
          <p:cNvPr id="88" name="Rectangle 87"/>
          <p:cNvSpPr/>
          <p:nvPr/>
        </p:nvSpPr>
        <p:spPr>
          <a:xfrm>
            <a:off x="4480560" y="5532120"/>
            <a:ext cx="201168" cy="182880"/>
          </a:xfrm>
          <a:prstGeom prst="rect">
            <a:avLst/>
          </a:prstGeom>
          <a:solidFill>
            <a:srgbClr val="AABCC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9" name="TextBox 88"/>
          <p:cNvSpPr txBox="1"/>
          <p:nvPr/>
        </p:nvSpPr>
        <p:spPr>
          <a:xfrm>
            <a:off x="4800600" y="5486400"/>
            <a:ext cx="2834640" cy="320040"/>
          </a:xfrm>
          <a:prstGeom prst="rect">
            <a:avLst/>
          </a:prstGeom>
          <a:noFill/>
        </p:spPr>
        <p:txBody>
          <a:bodyPr wrap="square" lIns="0" rIns="0" tIns="0" bIns="0">
            <a:spAutoFit/>
          </a:bodyPr>
          <a:lstStyle/>
          <a:p>
            <a:pPr>
              <a:spcBef>
                <a:spcPts val="0"/>
              </a:spcBef>
              <a:spcAft>
                <a:spcPts val="500"/>
              </a:spcAft>
              <a:defRPr sz="1500" b="0">
                <a:solidFill>
                  <a:srgbClr val="173348"/>
                </a:solidFill>
                <a:latin typeface="Arial"/>
              </a:defRPr>
            </a:pPr>
            <a:r>
              <a:t>Huấn luyện trên miền còn lại</a:t>
            </a:r>
          </a:p>
        </p:txBody>
      </p:sp>
      <p:sp>
        <p:nvSpPr>
          <p:cNvPr id="90" name="Rectangle 89"/>
          <p:cNvSpPr/>
          <p:nvPr/>
        </p:nvSpPr>
        <p:spPr>
          <a:xfrm>
            <a:off x="548640" y="5806440"/>
            <a:ext cx="11091672" cy="365760"/>
          </a:xfrm>
          <a:prstGeom prst="rect">
            <a:avLst/>
          </a:prstGeom>
          <a:solidFill>
            <a:srgbClr val="EDF4F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1" name="TextBox 90"/>
          <p:cNvSpPr txBox="1"/>
          <p:nvPr/>
        </p:nvSpPr>
        <p:spPr>
          <a:xfrm>
            <a:off x="713232" y="5856731"/>
            <a:ext cx="10744200" cy="274320"/>
          </a:xfrm>
          <a:prstGeom prst="rect">
            <a:avLst/>
          </a:prstGeom>
          <a:noFill/>
        </p:spPr>
        <p:txBody>
          <a:bodyPr wrap="square" lIns="0" rIns="0" tIns="0" bIns="0">
            <a:spAutoFit/>
          </a:bodyPr>
          <a:lstStyle/>
          <a:p>
            <a:pPr>
              <a:spcBef>
                <a:spcPts val="0"/>
              </a:spcBef>
              <a:spcAft>
                <a:spcPts val="500"/>
              </a:spcAft>
              <a:defRPr sz="1500" b="1">
                <a:solidFill>
                  <a:srgbClr val="127B80"/>
                </a:solidFill>
                <a:latin typeface="Arial"/>
              </a:defRPr>
            </a:pPr>
            <a:r>
              <a:t>YOLO26n tăng mean cùng miền so với YOLOv8n: +3,08 pp trên Drone và +3,50 pp trên MotorBike.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999" cy="59436"/>
          </a:xfrm>
          <a:prstGeom prst="rect">
            <a:avLst/>
          </a:prstGeom>
          <a:solidFill>
            <a:srgbClr val="127B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48640" y="256032"/>
            <a:ext cx="10972800" cy="228600"/>
          </a:xfrm>
          <a:prstGeom prst="rect">
            <a:avLst/>
          </a:prstGeom>
          <a:noFill/>
        </p:spPr>
        <p:txBody>
          <a:bodyPr wrap="square" lIns="0" rIns="0" tIns="0" bIns="0">
            <a:spAutoFit/>
          </a:bodyPr>
          <a:lstStyle/>
          <a:p>
            <a:pPr>
              <a:spcBef>
                <a:spcPts val="0"/>
              </a:spcBef>
              <a:spcAft>
                <a:spcPts val="500"/>
              </a:spcAft>
              <a:defRPr sz="1100" b="1">
                <a:solidFill>
                  <a:srgbClr val="127B80"/>
                </a:solidFill>
                <a:latin typeface="Arial"/>
              </a:defRPr>
            </a:pPr>
            <a:r>
              <a:t>06 · KẾT QUẢ THỰC NGHIỆM</a:t>
            </a:r>
          </a:p>
        </p:txBody>
      </p:sp>
      <p:sp>
        <p:nvSpPr>
          <p:cNvPr id="4" name="TextBox 3"/>
          <p:cNvSpPr txBox="1"/>
          <p:nvPr/>
        </p:nvSpPr>
        <p:spPr>
          <a:xfrm>
            <a:off x="548640" y="768096"/>
            <a:ext cx="11109960" cy="822960"/>
          </a:xfrm>
          <a:prstGeom prst="rect">
            <a:avLst/>
          </a:prstGeom>
          <a:noFill/>
        </p:spPr>
        <p:txBody>
          <a:bodyPr wrap="square" lIns="0" rIns="0" tIns="0" bIns="0">
            <a:spAutoFit/>
          </a:bodyPr>
          <a:lstStyle/>
          <a:p>
            <a:pPr>
              <a:spcBef>
                <a:spcPts val="0"/>
              </a:spcBef>
              <a:spcAft>
                <a:spcPts val="500"/>
              </a:spcAft>
              <a:defRPr sz="2700" b="1">
                <a:solidFill>
                  <a:srgbClr val="173348"/>
                </a:solidFill>
                <a:latin typeface="Arial"/>
              </a:defRPr>
            </a:pPr>
            <a:r>
              <a:t>Cả 18 gap theo seed đều dương; MotorBike có gap lớn hơn</a:t>
            </a:r>
          </a:p>
        </p:txBody>
      </p:sp>
      <p:cxnSp>
        <p:nvCxnSpPr>
          <p:cNvPr id="5" name="Connector 4"/>
          <p:cNvCxnSpPr/>
          <p:nvPr/>
        </p:nvCxnSpPr>
        <p:spPr>
          <a:xfrm>
            <a:off x="548640" y="6327648"/>
            <a:ext cx="11091672" cy="0"/>
          </a:xfrm>
          <a:prstGeom prst="line">
            <a:avLst/>
          </a:prstGeom>
          <a:ln w="16510">
            <a:solidFill>
              <a:srgbClr val="DCE6EC"/>
            </a:solidFill>
          </a:ln>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548640" y="6446520"/>
            <a:ext cx="10652760" cy="274320"/>
          </a:xfrm>
          <a:prstGeom prst="rect">
            <a:avLst/>
          </a:prstGeom>
          <a:noFill/>
        </p:spPr>
        <p:txBody>
          <a:bodyPr wrap="square" lIns="0" rIns="0" tIns="0" bIns="0">
            <a:spAutoFit/>
          </a:bodyPr>
          <a:lstStyle/>
          <a:p>
            <a:pPr>
              <a:spcBef>
                <a:spcPts val="0"/>
              </a:spcBef>
              <a:spcAft>
                <a:spcPts val="500"/>
              </a:spcAft>
              <a:defRPr sz="1000" b="0">
                <a:solidFill>
                  <a:srgbClr val="536778"/>
                </a:solidFill>
                <a:latin typeface="Arial"/>
              </a:defRPr>
            </a:pPr>
            <a:r>
              <a:t>Nguồn: paper, Bảng V–VI; data/fixed_target_gaps_by_seed.csv · Mỗi điểm là một seed; đơn vị pp</a:t>
            </a:r>
          </a:p>
        </p:txBody>
      </p:sp>
      <p:sp>
        <p:nvSpPr>
          <p:cNvPr id="7" name="TextBox 6"/>
          <p:cNvSpPr txBox="1"/>
          <p:nvPr/>
        </p:nvSpPr>
        <p:spPr>
          <a:xfrm>
            <a:off x="11155680" y="6419088"/>
            <a:ext cx="484632" cy="292608"/>
          </a:xfrm>
          <a:prstGeom prst="rect">
            <a:avLst/>
          </a:prstGeom>
          <a:noFill/>
        </p:spPr>
        <p:txBody>
          <a:bodyPr wrap="square" lIns="0" rIns="0" tIns="0" bIns="0">
            <a:spAutoFit/>
          </a:bodyPr>
          <a:lstStyle/>
          <a:p>
            <a:pPr algn="r">
              <a:spcBef>
                <a:spcPts val="0"/>
              </a:spcBef>
              <a:spcAft>
                <a:spcPts val="500"/>
              </a:spcAft>
              <a:defRPr sz="1200" b="1">
                <a:solidFill>
                  <a:srgbClr val="127B80"/>
                </a:solidFill>
                <a:latin typeface="Arial"/>
              </a:defRPr>
            </a:pPr>
            <a:r>
              <a:t>14</a:t>
            </a:r>
          </a:p>
        </p:txBody>
      </p:sp>
      <p:cxnSp>
        <p:nvCxnSpPr>
          <p:cNvPr id="8" name="Connector 7"/>
          <p:cNvCxnSpPr/>
          <p:nvPr/>
        </p:nvCxnSpPr>
        <p:spPr>
          <a:xfrm>
            <a:off x="2834640" y="1965960"/>
            <a:ext cx="0" cy="3429000"/>
          </a:xfrm>
          <a:prstGeom prst="line">
            <a:avLst/>
          </a:prstGeom>
          <a:ln w="16510">
            <a:solidFill>
              <a:srgbClr val="DCE6EC"/>
            </a:solidFill>
          </a:ln>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2651760" y="5486400"/>
            <a:ext cx="457200" cy="274320"/>
          </a:xfrm>
          <a:prstGeom prst="rect">
            <a:avLst/>
          </a:prstGeom>
          <a:noFill/>
        </p:spPr>
        <p:txBody>
          <a:bodyPr wrap="square" lIns="0" rIns="0" tIns="0" bIns="0">
            <a:spAutoFit/>
          </a:bodyPr>
          <a:lstStyle/>
          <a:p>
            <a:pPr>
              <a:spcBef>
                <a:spcPts val="0"/>
              </a:spcBef>
              <a:spcAft>
                <a:spcPts val="500"/>
              </a:spcAft>
              <a:defRPr sz="1300" b="0">
                <a:solidFill>
                  <a:srgbClr val="536778"/>
                </a:solidFill>
                <a:latin typeface="Arial"/>
              </a:defRPr>
            </a:pPr>
            <a:r>
              <a:t>0</a:t>
            </a:r>
          </a:p>
        </p:txBody>
      </p:sp>
      <p:cxnSp>
        <p:nvCxnSpPr>
          <p:cNvPr id="10" name="Connector 9"/>
          <p:cNvCxnSpPr/>
          <p:nvPr/>
        </p:nvCxnSpPr>
        <p:spPr>
          <a:xfrm>
            <a:off x="4334256" y="1965960"/>
            <a:ext cx="0" cy="3429000"/>
          </a:xfrm>
          <a:prstGeom prst="line">
            <a:avLst/>
          </a:prstGeom>
          <a:ln w="16510">
            <a:solidFill>
              <a:srgbClr val="DCE6EC"/>
            </a:solidFill>
          </a:ln>
        </p:spPr>
        <p:style>
          <a:lnRef idx="2">
            <a:schemeClr val="accent1"/>
          </a:lnRef>
          <a:fillRef idx="0">
            <a:schemeClr val="accent1"/>
          </a:fillRef>
          <a:effectRef idx="0">
            <a:schemeClr val="accent1"/>
          </a:effectRef>
          <a:fontRef idx="minor">
            <a:schemeClr val="tx1"/>
          </a:fontRef>
        </p:style>
      </p:cxnSp>
      <p:sp>
        <p:nvSpPr>
          <p:cNvPr id="11" name="TextBox 10"/>
          <p:cNvSpPr txBox="1"/>
          <p:nvPr/>
        </p:nvSpPr>
        <p:spPr>
          <a:xfrm>
            <a:off x="4151376" y="5486400"/>
            <a:ext cx="457200" cy="274320"/>
          </a:xfrm>
          <a:prstGeom prst="rect">
            <a:avLst/>
          </a:prstGeom>
          <a:noFill/>
        </p:spPr>
        <p:txBody>
          <a:bodyPr wrap="square" lIns="0" rIns="0" tIns="0" bIns="0">
            <a:spAutoFit/>
          </a:bodyPr>
          <a:lstStyle/>
          <a:p>
            <a:pPr>
              <a:spcBef>
                <a:spcPts val="0"/>
              </a:spcBef>
              <a:spcAft>
                <a:spcPts val="500"/>
              </a:spcAft>
              <a:defRPr sz="1300" b="0">
                <a:solidFill>
                  <a:srgbClr val="536778"/>
                </a:solidFill>
                <a:latin typeface="Arial"/>
              </a:defRPr>
            </a:pPr>
            <a:r>
              <a:t>10</a:t>
            </a:r>
          </a:p>
        </p:txBody>
      </p:sp>
      <p:cxnSp>
        <p:nvCxnSpPr>
          <p:cNvPr id="12" name="Connector 11"/>
          <p:cNvCxnSpPr/>
          <p:nvPr/>
        </p:nvCxnSpPr>
        <p:spPr>
          <a:xfrm>
            <a:off x="5833872" y="1965960"/>
            <a:ext cx="0" cy="3429000"/>
          </a:xfrm>
          <a:prstGeom prst="line">
            <a:avLst/>
          </a:prstGeom>
          <a:ln w="16510">
            <a:solidFill>
              <a:srgbClr val="DCE6EC"/>
            </a:solidFill>
          </a:ln>
        </p:spPr>
        <p:style>
          <a:lnRef idx="2">
            <a:schemeClr val="accent1"/>
          </a:lnRef>
          <a:fillRef idx="0">
            <a:schemeClr val="accent1"/>
          </a:fillRef>
          <a:effectRef idx="0">
            <a:schemeClr val="accent1"/>
          </a:effectRef>
          <a:fontRef idx="minor">
            <a:schemeClr val="tx1"/>
          </a:fontRef>
        </p:style>
      </p:cxnSp>
      <p:sp>
        <p:nvSpPr>
          <p:cNvPr id="13" name="TextBox 12"/>
          <p:cNvSpPr txBox="1"/>
          <p:nvPr/>
        </p:nvSpPr>
        <p:spPr>
          <a:xfrm>
            <a:off x="5650992" y="5486400"/>
            <a:ext cx="457200" cy="274320"/>
          </a:xfrm>
          <a:prstGeom prst="rect">
            <a:avLst/>
          </a:prstGeom>
          <a:noFill/>
        </p:spPr>
        <p:txBody>
          <a:bodyPr wrap="square" lIns="0" rIns="0" tIns="0" bIns="0">
            <a:spAutoFit/>
          </a:bodyPr>
          <a:lstStyle/>
          <a:p>
            <a:pPr>
              <a:spcBef>
                <a:spcPts val="0"/>
              </a:spcBef>
              <a:spcAft>
                <a:spcPts val="500"/>
              </a:spcAft>
              <a:defRPr sz="1300" b="0">
                <a:solidFill>
                  <a:srgbClr val="536778"/>
                </a:solidFill>
                <a:latin typeface="Arial"/>
              </a:defRPr>
            </a:pPr>
            <a:r>
              <a:t>20</a:t>
            </a:r>
          </a:p>
        </p:txBody>
      </p:sp>
      <p:cxnSp>
        <p:nvCxnSpPr>
          <p:cNvPr id="14" name="Connector 13"/>
          <p:cNvCxnSpPr/>
          <p:nvPr/>
        </p:nvCxnSpPr>
        <p:spPr>
          <a:xfrm>
            <a:off x="7333488" y="1965960"/>
            <a:ext cx="0" cy="3429000"/>
          </a:xfrm>
          <a:prstGeom prst="line">
            <a:avLst/>
          </a:prstGeom>
          <a:ln w="16510">
            <a:solidFill>
              <a:srgbClr val="DCE6EC"/>
            </a:solidFill>
          </a:ln>
        </p:spPr>
        <p:style>
          <a:lnRef idx="2">
            <a:schemeClr val="accent1"/>
          </a:lnRef>
          <a:fillRef idx="0">
            <a:schemeClr val="accent1"/>
          </a:fillRef>
          <a:effectRef idx="0">
            <a:schemeClr val="accent1"/>
          </a:effectRef>
          <a:fontRef idx="minor">
            <a:schemeClr val="tx1"/>
          </a:fontRef>
        </p:style>
      </p:cxnSp>
      <p:sp>
        <p:nvSpPr>
          <p:cNvPr id="15" name="TextBox 14"/>
          <p:cNvSpPr txBox="1"/>
          <p:nvPr/>
        </p:nvSpPr>
        <p:spPr>
          <a:xfrm>
            <a:off x="7150607" y="5486400"/>
            <a:ext cx="457200" cy="274320"/>
          </a:xfrm>
          <a:prstGeom prst="rect">
            <a:avLst/>
          </a:prstGeom>
          <a:noFill/>
        </p:spPr>
        <p:txBody>
          <a:bodyPr wrap="square" lIns="0" rIns="0" tIns="0" bIns="0">
            <a:spAutoFit/>
          </a:bodyPr>
          <a:lstStyle/>
          <a:p>
            <a:pPr>
              <a:spcBef>
                <a:spcPts val="0"/>
              </a:spcBef>
              <a:spcAft>
                <a:spcPts val="500"/>
              </a:spcAft>
              <a:defRPr sz="1300" b="0">
                <a:solidFill>
                  <a:srgbClr val="536778"/>
                </a:solidFill>
                <a:latin typeface="Arial"/>
              </a:defRPr>
            </a:pPr>
            <a:r>
              <a:t>30</a:t>
            </a:r>
          </a:p>
        </p:txBody>
      </p:sp>
      <p:cxnSp>
        <p:nvCxnSpPr>
          <p:cNvPr id="16" name="Connector 15"/>
          <p:cNvCxnSpPr/>
          <p:nvPr/>
        </p:nvCxnSpPr>
        <p:spPr>
          <a:xfrm>
            <a:off x="8833104" y="1965960"/>
            <a:ext cx="0" cy="3429000"/>
          </a:xfrm>
          <a:prstGeom prst="line">
            <a:avLst/>
          </a:prstGeom>
          <a:ln w="16510">
            <a:solidFill>
              <a:srgbClr val="DCE6EC"/>
            </a:solidFill>
          </a:ln>
        </p:spPr>
        <p:style>
          <a:lnRef idx="2">
            <a:schemeClr val="accent1"/>
          </a:lnRef>
          <a:fillRef idx="0">
            <a:schemeClr val="accent1"/>
          </a:fillRef>
          <a:effectRef idx="0">
            <a:schemeClr val="accent1"/>
          </a:effectRef>
          <a:fontRef idx="minor">
            <a:schemeClr val="tx1"/>
          </a:fontRef>
        </p:style>
      </p:cxnSp>
      <p:sp>
        <p:nvSpPr>
          <p:cNvPr id="17" name="TextBox 16"/>
          <p:cNvSpPr txBox="1"/>
          <p:nvPr/>
        </p:nvSpPr>
        <p:spPr>
          <a:xfrm>
            <a:off x="8650224" y="5486400"/>
            <a:ext cx="457200" cy="274320"/>
          </a:xfrm>
          <a:prstGeom prst="rect">
            <a:avLst/>
          </a:prstGeom>
          <a:noFill/>
        </p:spPr>
        <p:txBody>
          <a:bodyPr wrap="square" lIns="0" rIns="0" tIns="0" bIns="0">
            <a:spAutoFit/>
          </a:bodyPr>
          <a:lstStyle/>
          <a:p>
            <a:pPr>
              <a:spcBef>
                <a:spcPts val="0"/>
              </a:spcBef>
              <a:spcAft>
                <a:spcPts val="500"/>
              </a:spcAft>
              <a:defRPr sz="1300" b="0">
                <a:solidFill>
                  <a:srgbClr val="536778"/>
                </a:solidFill>
                <a:latin typeface="Arial"/>
              </a:defRPr>
            </a:pPr>
            <a:r>
              <a:t>40</a:t>
            </a:r>
          </a:p>
        </p:txBody>
      </p:sp>
      <p:cxnSp>
        <p:nvCxnSpPr>
          <p:cNvPr id="18" name="Connector 17"/>
          <p:cNvCxnSpPr/>
          <p:nvPr/>
        </p:nvCxnSpPr>
        <p:spPr>
          <a:xfrm>
            <a:off x="10332719" y="1965960"/>
            <a:ext cx="0" cy="3429000"/>
          </a:xfrm>
          <a:prstGeom prst="line">
            <a:avLst/>
          </a:prstGeom>
          <a:ln w="16510">
            <a:solidFill>
              <a:srgbClr val="DCE6EC"/>
            </a:solidFill>
          </a:ln>
        </p:spPr>
        <p:style>
          <a:lnRef idx="2">
            <a:schemeClr val="accent1"/>
          </a:lnRef>
          <a:fillRef idx="0">
            <a:schemeClr val="accent1"/>
          </a:fillRef>
          <a:effectRef idx="0">
            <a:schemeClr val="accent1"/>
          </a:effectRef>
          <a:fontRef idx="minor">
            <a:schemeClr val="tx1"/>
          </a:fontRef>
        </p:style>
      </p:cxnSp>
      <p:sp>
        <p:nvSpPr>
          <p:cNvPr id="19" name="TextBox 18"/>
          <p:cNvSpPr txBox="1"/>
          <p:nvPr/>
        </p:nvSpPr>
        <p:spPr>
          <a:xfrm>
            <a:off x="10149840" y="5486400"/>
            <a:ext cx="457200" cy="274320"/>
          </a:xfrm>
          <a:prstGeom prst="rect">
            <a:avLst/>
          </a:prstGeom>
          <a:noFill/>
        </p:spPr>
        <p:txBody>
          <a:bodyPr wrap="square" lIns="0" rIns="0" tIns="0" bIns="0">
            <a:spAutoFit/>
          </a:bodyPr>
          <a:lstStyle/>
          <a:p>
            <a:pPr>
              <a:spcBef>
                <a:spcPts val="0"/>
              </a:spcBef>
              <a:spcAft>
                <a:spcPts val="500"/>
              </a:spcAft>
              <a:defRPr sz="1300" b="0">
                <a:solidFill>
                  <a:srgbClr val="536778"/>
                </a:solidFill>
                <a:latin typeface="Arial"/>
              </a:defRPr>
            </a:pPr>
            <a:r>
              <a:t>50</a:t>
            </a:r>
          </a:p>
        </p:txBody>
      </p:sp>
      <p:sp>
        <p:nvSpPr>
          <p:cNvPr id="20" name="TextBox 19"/>
          <p:cNvSpPr txBox="1"/>
          <p:nvPr/>
        </p:nvSpPr>
        <p:spPr>
          <a:xfrm>
            <a:off x="731520" y="2093976"/>
            <a:ext cx="2057400" cy="320040"/>
          </a:xfrm>
          <a:prstGeom prst="rect">
            <a:avLst/>
          </a:prstGeom>
          <a:noFill/>
        </p:spPr>
        <p:txBody>
          <a:bodyPr wrap="square" lIns="0" rIns="0" tIns="0" bIns="0">
            <a:spAutoFit/>
          </a:bodyPr>
          <a:lstStyle/>
          <a:p>
            <a:pPr>
              <a:spcBef>
                <a:spcPts val="0"/>
              </a:spcBef>
              <a:spcAft>
                <a:spcPts val="500"/>
              </a:spcAft>
              <a:defRPr sz="1400" b="0">
                <a:solidFill>
                  <a:srgbClr val="173348"/>
                </a:solidFill>
                <a:latin typeface="Arial"/>
              </a:defRPr>
            </a:pPr>
            <a:r>
              <a:t>Drone · YOLO11n</a:t>
            </a:r>
          </a:p>
        </p:txBody>
      </p:sp>
      <p:cxnSp>
        <p:nvCxnSpPr>
          <p:cNvPr id="21" name="Connector 20"/>
          <p:cNvCxnSpPr/>
          <p:nvPr/>
        </p:nvCxnSpPr>
        <p:spPr>
          <a:xfrm>
            <a:off x="4460364" y="2212848"/>
            <a:ext cx="1117451" cy="0"/>
          </a:xfrm>
          <a:prstGeom prst="line">
            <a:avLst/>
          </a:prstGeom>
          <a:ln w="25400">
            <a:solidFill>
              <a:srgbClr val="176B87"/>
            </a:solidFill>
          </a:ln>
        </p:spPr>
        <p:style>
          <a:lnRef idx="2">
            <a:schemeClr val="accent1"/>
          </a:lnRef>
          <a:fillRef idx="0">
            <a:schemeClr val="accent1"/>
          </a:fillRef>
          <a:effectRef idx="0">
            <a:schemeClr val="accent1"/>
          </a:effectRef>
          <a:fontRef idx="minor">
            <a:schemeClr val="tx1"/>
          </a:fontRef>
        </p:style>
      </p:cxnSp>
      <p:sp>
        <p:nvSpPr>
          <p:cNvPr id="22" name="Oval 21"/>
          <p:cNvSpPr/>
          <p:nvPr/>
        </p:nvSpPr>
        <p:spPr>
          <a:xfrm>
            <a:off x="5224024" y="2130551"/>
            <a:ext cx="100584" cy="100584"/>
          </a:xfrm>
          <a:prstGeom prst="ellipse">
            <a:avLst/>
          </a:prstGeom>
          <a:solidFill>
            <a:srgbClr val="176B8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Oval 22"/>
          <p:cNvSpPr/>
          <p:nvPr/>
        </p:nvSpPr>
        <p:spPr>
          <a:xfrm>
            <a:off x="4410072" y="2162556"/>
            <a:ext cx="100584" cy="100584"/>
          </a:xfrm>
          <a:prstGeom prst="ellipse">
            <a:avLst/>
          </a:prstGeom>
          <a:solidFill>
            <a:srgbClr val="176B8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Oval 23"/>
          <p:cNvSpPr/>
          <p:nvPr/>
        </p:nvSpPr>
        <p:spPr>
          <a:xfrm>
            <a:off x="5527523" y="2194560"/>
            <a:ext cx="100584" cy="100584"/>
          </a:xfrm>
          <a:prstGeom prst="ellipse">
            <a:avLst/>
          </a:prstGeom>
          <a:solidFill>
            <a:srgbClr val="176B8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TextBox 24"/>
          <p:cNvSpPr txBox="1"/>
          <p:nvPr/>
        </p:nvSpPr>
        <p:spPr>
          <a:xfrm>
            <a:off x="10561320" y="2084831"/>
            <a:ext cx="868680" cy="320040"/>
          </a:xfrm>
          <a:prstGeom prst="rect">
            <a:avLst/>
          </a:prstGeom>
          <a:noFill/>
        </p:spPr>
        <p:txBody>
          <a:bodyPr wrap="square" lIns="0" rIns="0" tIns="0" bIns="0">
            <a:spAutoFit/>
          </a:bodyPr>
          <a:lstStyle/>
          <a:p>
            <a:pPr>
              <a:spcBef>
                <a:spcPts val="0"/>
              </a:spcBef>
              <a:spcAft>
                <a:spcPts val="500"/>
              </a:spcAft>
              <a:defRPr sz="1600" b="1">
                <a:solidFill>
                  <a:srgbClr val="127B80"/>
                </a:solidFill>
                <a:latin typeface="Arial"/>
              </a:defRPr>
            </a:pPr>
            <a:r>
              <a:t>15.13</a:t>
            </a:r>
          </a:p>
        </p:txBody>
      </p:sp>
      <p:sp>
        <p:nvSpPr>
          <p:cNvPr id="26" name="TextBox 25"/>
          <p:cNvSpPr txBox="1"/>
          <p:nvPr/>
        </p:nvSpPr>
        <p:spPr>
          <a:xfrm>
            <a:off x="731520" y="2596896"/>
            <a:ext cx="2057400" cy="320040"/>
          </a:xfrm>
          <a:prstGeom prst="rect">
            <a:avLst/>
          </a:prstGeom>
          <a:noFill/>
        </p:spPr>
        <p:txBody>
          <a:bodyPr wrap="square" lIns="0" rIns="0" tIns="0" bIns="0">
            <a:spAutoFit/>
          </a:bodyPr>
          <a:lstStyle/>
          <a:p>
            <a:pPr>
              <a:spcBef>
                <a:spcPts val="0"/>
              </a:spcBef>
              <a:spcAft>
                <a:spcPts val="500"/>
              </a:spcAft>
              <a:defRPr sz="1400" b="0">
                <a:solidFill>
                  <a:srgbClr val="173348"/>
                </a:solidFill>
                <a:latin typeface="Arial"/>
              </a:defRPr>
            </a:pPr>
            <a:r>
              <a:t>Drone · YOLOv8n</a:t>
            </a:r>
          </a:p>
        </p:txBody>
      </p:sp>
      <p:cxnSp>
        <p:nvCxnSpPr>
          <p:cNvPr id="27" name="Connector 26"/>
          <p:cNvCxnSpPr/>
          <p:nvPr/>
        </p:nvCxnSpPr>
        <p:spPr>
          <a:xfrm>
            <a:off x="4862706" y="2715768"/>
            <a:ext cx="373219" cy="0"/>
          </a:xfrm>
          <a:prstGeom prst="line">
            <a:avLst/>
          </a:prstGeom>
          <a:ln w="25400">
            <a:solidFill>
              <a:srgbClr val="61899C"/>
            </a:solidFill>
          </a:ln>
        </p:spPr>
        <p:style>
          <a:lnRef idx="2">
            <a:schemeClr val="accent1"/>
          </a:lnRef>
          <a:fillRef idx="0">
            <a:schemeClr val="accent1"/>
          </a:fillRef>
          <a:effectRef idx="0">
            <a:schemeClr val="accent1"/>
          </a:effectRef>
          <a:fontRef idx="minor">
            <a:schemeClr val="tx1"/>
          </a:fontRef>
        </p:style>
      </p:cxnSp>
      <p:sp>
        <p:nvSpPr>
          <p:cNvPr id="28" name="Oval 27"/>
          <p:cNvSpPr/>
          <p:nvPr/>
        </p:nvSpPr>
        <p:spPr>
          <a:xfrm>
            <a:off x="5038790" y="2633471"/>
            <a:ext cx="100584" cy="100584"/>
          </a:xfrm>
          <a:prstGeom prst="ellipse">
            <a:avLst/>
          </a:prstGeom>
          <a:solidFill>
            <a:srgbClr val="61899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Oval 28"/>
          <p:cNvSpPr/>
          <p:nvPr/>
        </p:nvSpPr>
        <p:spPr>
          <a:xfrm>
            <a:off x="4812414" y="2665475"/>
            <a:ext cx="100584" cy="100584"/>
          </a:xfrm>
          <a:prstGeom prst="ellipse">
            <a:avLst/>
          </a:prstGeom>
          <a:solidFill>
            <a:srgbClr val="61899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Oval 29"/>
          <p:cNvSpPr/>
          <p:nvPr/>
        </p:nvSpPr>
        <p:spPr>
          <a:xfrm>
            <a:off x="5185633" y="2697479"/>
            <a:ext cx="100584" cy="100584"/>
          </a:xfrm>
          <a:prstGeom prst="ellipse">
            <a:avLst/>
          </a:prstGeom>
          <a:solidFill>
            <a:srgbClr val="61899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TextBox 30"/>
          <p:cNvSpPr txBox="1"/>
          <p:nvPr/>
        </p:nvSpPr>
        <p:spPr>
          <a:xfrm>
            <a:off x="10561320" y="2587751"/>
            <a:ext cx="868680" cy="320040"/>
          </a:xfrm>
          <a:prstGeom prst="rect">
            <a:avLst/>
          </a:prstGeom>
          <a:noFill/>
        </p:spPr>
        <p:txBody>
          <a:bodyPr wrap="square" lIns="0" rIns="0" tIns="0" bIns="0">
            <a:spAutoFit/>
          </a:bodyPr>
          <a:lstStyle/>
          <a:p>
            <a:pPr>
              <a:spcBef>
                <a:spcPts val="0"/>
              </a:spcBef>
              <a:spcAft>
                <a:spcPts val="500"/>
              </a:spcAft>
              <a:defRPr sz="1600" b="1">
                <a:solidFill>
                  <a:srgbClr val="127B80"/>
                </a:solidFill>
                <a:latin typeface="Arial"/>
              </a:defRPr>
            </a:pPr>
            <a:r>
              <a:t>14.86</a:t>
            </a:r>
          </a:p>
        </p:txBody>
      </p:sp>
      <p:sp>
        <p:nvSpPr>
          <p:cNvPr id="32" name="TextBox 31"/>
          <p:cNvSpPr txBox="1"/>
          <p:nvPr/>
        </p:nvSpPr>
        <p:spPr>
          <a:xfrm>
            <a:off x="731520" y="3099816"/>
            <a:ext cx="2057400" cy="320040"/>
          </a:xfrm>
          <a:prstGeom prst="rect">
            <a:avLst/>
          </a:prstGeom>
          <a:noFill/>
        </p:spPr>
        <p:txBody>
          <a:bodyPr wrap="square" lIns="0" rIns="0" tIns="0" bIns="0">
            <a:spAutoFit/>
          </a:bodyPr>
          <a:lstStyle/>
          <a:p>
            <a:pPr>
              <a:spcBef>
                <a:spcPts val="0"/>
              </a:spcBef>
              <a:spcAft>
                <a:spcPts val="500"/>
              </a:spcAft>
              <a:defRPr sz="1400" b="1">
                <a:solidFill>
                  <a:srgbClr val="173348"/>
                </a:solidFill>
                <a:latin typeface="Arial"/>
              </a:defRPr>
            </a:pPr>
            <a:r>
              <a:t>Drone · YOLO26n</a:t>
            </a:r>
          </a:p>
        </p:txBody>
      </p:sp>
      <p:cxnSp>
        <p:nvCxnSpPr>
          <p:cNvPr id="33" name="Connector 32"/>
          <p:cNvCxnSpPr/>
          <p:nvPr/>
        </p:nvCxnSpPr>
        <p:spPr>
          <a:xfrm>
            <a:off x="5249319" y="3218688"/>
            <a:ext cx="240904" cy="0"/>
          </a:xfrm>
          <a:prstGeom prst="line">
            <a:avLst/>
          </a:prstGeom>
          <a:ln w="25400">
            <a:solidFill>
              <a:srgbClr val="D89335"/>
            </a:solidFill>
          </a:ln>
        </p:spPr>
        <p:style>
          <a:lnRef idx="2">
            <a:schemeClr val="accent1"/>
          </a:lnRef>
          <a:fillRef idx="0">
            <a:schemeClr val="accent1"/>
          </a:fillRef>
          <a:effectRef idx="0">
            <a:schemeClr val="accent1"/>
          </a:effectRef>
          <a:fontRef idx="minor">
            <a:schemeClr val="tx1"/>
          </a:fontRef>
        </p:style>
      </p:cxnSp>
      <p:sp>
        <p:nvSpPr>
          <p:cNvPr id="34" name="Oval 33"/>
          <p:cNvSpPr/>
          <p:nvPr/>
        </p:nvSpPr>
        <p:spPr>
          <a:xfrm>
            <a:off x="5319687" y="3136391"/>
            <a:ext cx="100584" cy="100584"/>
          </a:xfrm>
          <a:prstGeom prst="ellipse">
            <a:avLst/>
          </a:prstGeom>
          <a:solidFill>
            <a:srgbClr val="D8933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Oval 34"/>
          <p:cNvSpPr/>
          <p:nvPr/>
        </p:nvSpPr>
        <p:spPr>
          <a:xfrm>
            <a:off x="5199027" y="3168396"/>
            <a:ext cx="100584" cy="100584"/>
          </a:xfrm>
          <a:prstGeom prst="ellipse">
            <a:avLst/>
          </a:prstGeom>
          <a:solidFill>
            <a:srgbClr val="D8933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 name="Oval 35"/>
          <p:cNvSpPr/>
          <p:nvPr/>
        </p:nvSpPr>
        <p:spPr>
          <a:xfrm>
            <a:off x="5439931" y="3200400"/>
            <a:ext cx="100584" cy="100584"/>
          </a:xfrm>
          <a:prstGeom prst="ellipse">
            <a:avLst/>
          </a:prstGeom>
          <a:solidFill>
            <a:srgbClr val="D8933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TextBox 36"/>
          <p:cNvSpPr txBox="1"/>
          <p:nvPr/>
        </p:nvSpPr>
        <p:spPr>
          <a:xfrm>
            <a:off x="10561320" y="3090672"/>
            <a:ext cx="868680" cy="320040"/>
          </a:xfrm>
          <a:prstGeom prst="rect">
            <a:avLst/>
          </a:prstGeom>
          <a:noFill/>
        </p:spPr>
        <p:txBody>
          <a:bodyPr wrap="square" lIns="0" rIns="0" tIns="0" bIns="0">
            <a:spAutoFit/>
          </a:bodyPr>
          <a:lstStyle/>
          <a:p>
            <a:pPr>
              <a:spcBef>
                <a:spcPts val="0"/>
              </a:spcBef>
              <a:spcAft>
                <a:spcPts val="500"/>
              </a:spcAft>
              <a:defRPr sz="1600" b="1">
                <a:solidFill>
                  <a:srgbClr val="127B80"/>
                </a:solidFill>
                <a:latin typeface="Arial"/>
              </a:defRPr>
            </a:pPr>
            <a:r>
              <a:t>16.91</a:t>
            </a:r>
          </a:p>
        </p:txBody>
      </p:sp>
      <p:sp>
        <p:nvSpPr>
          <p:cNvPr id="38" name="TextBox 37"/>
          <p:cNvSpPr txBox="1"/>
          <p:nvPr/>
        </p:nvSpPr>
        <p:spPr>
          <a:xfrm>
            <a:off x="731520" y="3858768"/>
            <a:ext cx="2057400" cy="320040"/>
          </a:xfrm>
          <a:prstGeom prst="rect">
            <a:avLst/>
          </a:prstGeom>
          <a:noFill/>
        </p:spPr>
        <p:txBody>
          <a:bodyPr wrap="square" lIns="0" rIns="0" tIns="0" bIns="0">
            <a:spAutoFit/>
          </a:bodyPr>
          <a:lstStyle/>
          <a:p>
            <a:pPr>
              <a:spcBef>
                <a:spcPts val="0"/>
              </a:spcBef>
              <a:spcAft>
                <a:spcPts val="500"/>
              </a:spcAft>
              <a:defRPr sz="1400" b="0">
                <a:solidFill>
                  <a:srgbClr val="173348"/>
                </a:solidFill>
                <a:latin typeface="Arial"/>
              </a:defRPr>
            </a:pPr>
            <a:r>
              <a:t>MotorBike · YOLO11n</a:t>
            </a:r>
          </a:p>
        </p:txBody>
      </p:sp>
      <p:cxnSp>
        <p:nvCxnSpPr>
          <p:cNvPr id="39" name="Connector 38"/>
          <p:cNvCxnSpPr/>
          <p:nvPr/>
        </p:nvCxnSpPr>
        <p:spPr>
          <a:xfrm>
            <a:off x="9203098" y="3977640"/>
            <a:ext cx="153874" cy="0"/>
          </a:xfrm>
          <a:prstGeom prst="line">
            <a:avLst/>
          </a:prstGeom>
          <a:ln w="25400">
            <a:solidFill>
              <a:srgbClr val="176B87"/>
            </a:solidFill>
          </a:ln>
        </p:spPr>
        <p:style>
          <a:lnRef idx="2">
            <a:schemeClr val="accent1"/>
          </a:lnRef>
          <a:fillRef idx="0">
            <a:schemeClr val="accent1"/>
          </a:fillRef>
          <a:effectRef idx="0">
            <a:schemeClr val="accent1"/>
          </a:effectRef>
          <a:fontRef idx="minor">
            <a:schemeClr val="tx1"/>
          </a:fontRef>
        </p:style>
      </p:cxnSp>
      <p:sp>
        <p:nvSpPr>
          <p:cNvPr id="40" name="Oval 39"/>
          <p:cNvSpPr/>
          <p:nvPr/>
        </p:nvSpPr>
        <p:spPr>
          <a:xfrm>
            <a:off x="9306680" y="3895344"/>
            <a:ext cx="100584" cy="100584"/>
          </a:xfrm>
          <a:prstGeom prst="ellipse">
            <a:avLst/>
          </a:prstGeom>
          <a:solidFill>
            <a:srgbClr val="176B8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Oval 40"/>
          <p:cNvSpPr/>
          <p:nvPr/>
        </p:nvSpPr>
        <p:spPr>
          <a:xfrm>
            <a:off x="9152806" y="3927348"/>
            <a:ext cx="100584" cy="100584"/>
          </a:xfrm>
          <a:prstGeom prst="ellipse">
            <a:avLst/>
          </a:prstGeom>
          <a:solidFill>
            <a:srgbClr val="176B8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 name="Oval 41"/>
          <p:cNvSpPr/>
          <p:nvPr/>
        </p:nvSpPr>
        <p:spPr>
          <a:xfrm>
            <a:off x="9210592" y="3959352"/>
            <a:ext cx="100584" cy="100584"/>
          </a:xfrm>
          <a:prstGeom prst="ellipse">
            <a:avLst/>
          </a:prstGeom>
          <a:solidFill>
            <a:srgbClr val="176B8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 name="TextBox 42"/>
          <p:cNvSpPr txBox="1"/>
          <p:nvPr/>
        </p:nvSpPr>
        <p:spPr>
          <a:xfrm>
            <a:off x="10561320" y="3849624"/>
            <a:ext cx="868680" cy="320040"/>
          </a:xfrm>
          <a:prstGeom prst="rect">
            <a:avLst/>
          </a:prstGeom>
          <a:noFill/>
        </p:spPr>
        <p:txBody>
          <a:bodyPr wrap="square" lIns="0" rIns="0" tIns="0" bIns="0">
            <a:spAutoFit/>
          </a:bodyPr>
          <a:lstStyle/>
          <a:p>
            <a:pPr>
              <a:spcBef>
                <a:spcPts val="0"/>
              </a:spcBef>
              <a:spcAft>
                <a:spcPts val="500"/>
              </a:spcAft>
              <a:defRPr sz="1600" b="1">
                <a:solidFill>
                  <a:srgbClr val="127B80"/>
                </a:solidFill>
                <a:latin typeface="Arial"/>
              </a:defRPr>
            </a:pPr>
            <a:r>
              <a:t>42.94</a:t>
            </a:r>
          </a:p>
        </p:txBody>
      </p:sp>
      <p:sp>
        <p:nvSpPr>
          <p:cNvPr id="44" name="TextBox 43"/>
          <p:cNvSpPr txBox="1"/>
          <p:nvPr/>
        </p:nvSpPr>
        <p:spPr>
          <a:xfrm>
            <a:off x="731520" y="4361688"/>
            <a:ext cx="2057400" cy="320040"/>
          </a:xfrm>
          <a:prstGeom prst="rect">
            <a:avLst/>
          </a:prstGeom>
          <a:noFill/>
        </p:spPr>
        <p:txBody>
          <a:bodyPr wrap="square" lIns="0" rIns="0" tIns="0" bIns="0">
            <a:spAutoFit/>
          </a:bodyPr>
          <a:lstStyle/>
          <a:p>
            <a:pPr>
              <a:spcBef>
                <a:spcPts val="0"/>
              </a:spcBef>
              <a:spcAft>
                <a:spcPts val="500"/>
              </a:spcAft>
              <a:defRPr sz="1400" b="0">
                <a:solidFill>
                  <a:srgbClr val="173348"/>
                </a:solidFill>
                <a:latin typeface="Arial"/>
              </a:defRPr>
            </a:pPr>
            <a:r>
              <a:t>MotorBike · YOLOv8n</a:t>
            </a:r>
          </a:p>
        </p:txBody>
      </p:sp>
      <p:cxnSp>
        <p:nvCxnSpPr>
          <p:cNvPr id="45" name="Connector 44"/>
          <p:cNvCxnSpPr/>
          <p:nvPr/>
        </p:nvCxnSpPr>
        <p:spPr>
          <a:xfrm>
            <a:off x="8891581" y="4480560"/>
            <a:ext cx="301057" cy="0"/>
          </a:xfrm>
          <a:prstGeom prst="line">
            <a:avLst/>
          </a:prstGeom>
          <a:ln w="25400">
            <a:solidFill>
              <a:srgbClr val="61899C"/>
            </a:solidFill>
          </a:ln>
        </p:spPr>
        <p:style>
          <a:lnRef idx="2">
            <a:schemeClr val="accent1"/>
          </a:lnRef>
          <a:fillRef idx="0">
            <a:schemeClr val="accent1"/>
          </a:fillRef>
          <a:effectRef idx="0">
            <a:schemeClr val="accent1"/>
          </a:effectRef>
          <a:fontRef idx="minor">
            <a:schemeClr val="tx1"/>
          </a:fontRef>
        </p:style>
      </p:cxnSp>
      <p:sp>
        <p:nvSpPr>
          <p:cNvPr id="46" name="Oval 45"/>
          <p:cNvSpPr/>
          <p:nvPr/>
        </p:nvSpPr>
        <p:spPr>
          <a:xfrm>
            <a:off x="8841289" y="4398264"/>
            <a:ext cx="100584" cy="100584"/>
          </a:xfrm>
          <a:prstGeom prst="ellipse">
            <a:avLst/>
          </a:prstGeom>
          <a:solidFill>
            <a:srgbClr val="61899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7" name="Oval 46"/>
          <p:cNvSpPr/>
          <p:nvPr/>
        </p:nvSpPr>
        <p:spPr>
          <a:xfrm>
            <a:off x="9142346" y="4430268"/>
            <a:ext cx="100584" cy="100584"/>
          </a:xfrm>
          <a:prstGeom prst="ellipse">
            <a:avLst/>
          </a:prstGeom>
          <a:solidFill>
            <a:srgbClr val="61899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 name="Oval 47"/>
          <p:cNvSpPr/>
          <p:nvPr/>
        </p:nvSpPr>
        <p:spPr>
          <a:xfrm>
            <a:off x="8921913" y="4462272"/>
            <a:ext cx="100584" cy="100584"/>
          </a:xfrm>
          <a:prstGeom prst="ellipse">
            <a:avLst/>
          </a:prstGeom>
          <a:solidFill>
            <a:srgbClr val="61899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9" name="TextBox 48"/>
          <p:cNvSpPr txBox="1"/>
          <p:nvPr/>
        </p:nvSpPr>
        <p:spPr>
          <a:xfrm>
            <a:off x="10561320" y="4352544"/>
            <a:ext cx="868680" cy="320040"/>
          </a:xfrm>
          <a:prstGeom prst="rect">
            <a:avLst/>
          </a:prstGeom>
          <a:noFill/>
        </p:spPr>
        <p:txBody>
          <a:bodyPr wrap="square" lIns="0" rIns="0" tIns="0" bIns="0">
            <a:spAutoFit/>
          </a:bodyPr>
          <a:lstStyle/>
          <a:p>
            <a:pPr>
              <a:spcBef>
                <a:spcPts val="0"/>
              </a:spcBef>
              <a:spcAft>
                <a:spcPts val="500"/>
              </a:spcAft>
              <a:defRPr sz="1600" b="1">
                <a:solidFill>
                  <a:srgbClr val="127B80"/>
                </a:solidFill>
                <a:latin typeface="Arial"/>
              </a:defRPr>
            </a:pPr>
            <a:r>
              <a:t>41.24</a:t>
            </a:r>
          </a:p>
        </p:txBody>
      </p:sp>
      <p:sp>
        <p:nvSpPr>
          <p:cNvPr id="50" name="TextBox 49"/>
          <p:cNvSpPr txBox="1"/>
          <p:nvPr/>
        </p:nvSpPr>
        <p:spPr>
          <a:xfrm>
            <a:off x="731520" y="4864608"/>
            <a:ext cx="2057400" cy="320040"/>
          </a:xfrm>
          <a:prstGeom prst="rect">
            <a:avLst/>
          </a:prstGeom>
          <a:noFill/>
        </p:spPr>
        <p:txBody>
          <a:bodyPr wrap="square" lIns="0" rIns="0" tIns="0" bIns="0">
            <a:spAutoFit/>
          </a:bodyPr>
          <a:lstStyle/>
          <a:p>
            <a:pPr>
              <a:spcBef>
                <a:spcPts val="0"/>
              </a:spcBef>
              <a:spcAft>
                <a:spcPts val="500"/>
              </a:spcAft>
              <a:defRPr sz="1400" b="1">
                <a:solidFill>
                  <a:srgbClr val="173348"/>
                </a:solidFill>
                <a:latin typeface="Arial"/>
              </a:defRPr>
            </a:pPr>
            <a:r>
              <a:t>MotorBike · YOLO26n</a:t>
            </a:r>
          </a:p>
        </p:txBody>
      </p:sp>
      <p:cxnSp>
        <p:nvCxnSpPr>
          <p:cNvPr id="51" name="Connector 50"/>
          <p:cNvCxnSpPr/>
          <p:nvPr/>
        </p:nvCxnSpPr>
        <p:spPr>
          <a:xfrm>
            <a:off x="8953104" y="4983480"/>
            <a:ext cx="350486" cy="0"/>
          </a:xfrm>
          <a:prstGeom prst="line">
            <a:avLst/>
          </a:prstGeom>
          <a:ln w="25400">
            <a:solidFill>
              <a:srgbClr val="D89335"/>
            </a:solidFill>
          </a:ln>
        </p:spPr>
        <p:style>
          <a:lnRef idx="2">
            <a:schemeClr val="accent1"/>
          </a:lnRef>
          <a:fillRef idx="0">
            <a:schemeClr val="accent1"/>
          </a:fillRef>
          <a:effectRef idx="0">
            <a:schemeClr val="accent1"/>
          </a:effectRef>
          <a:fontRef idx="minor">
            <a:schemeClr val="tx1"/>
          </a:fontRef>
        </p:style>
      </p:cxnSp>
      <p:sp>
        <p:nvSpPr>
          <p:cNvPr id="52" name="Oval 51"/>
          <p:cNvSpPr/>
          <p:nvPr/>
        </p:nvSpPr>
        <p:spPr>
          <a:xfrm>
            <a:off x="9253298" y="4901184"/>
            <a:ext cx="100584" cy="100584"/>
          </a:xfrm>
          <a:prstGeom prst="ellipse">
            <a:avLst/>
          </a:prstGeom>
          <a:solidFill>
            <a:srgbClr val="D8933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 name="Oval 52"/>
          <p:cNvSpPr/>
          <p:nvPr/>
        </p:nvSpPr>
        <p:spPr>
          <a:xfrm>
            <a:off x="9213139" y="4933188"/>
            <a:ext cx="100584" cy="100584"/>
          </a:xfrm>
          <a:prstGeom prst="ellipse">
            <a:avLst/>
          </a:prstGeom>
          <a:solidFill>
            <a:srgbClr val="D8933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 name="Oval 53"/>
          <p:cNvSpPr/>
          <p:nvPr/>
        </p:nvSpPr>
        <p:spPr>
          <a:xfrm>
            <a:off x="8902812" y="4965192"/>
            <a:ext cx="100584" cy="100584"/>
          </a:xfrm>
          <a:prstGeom prst="ellipse">
            <a:avLst/>
          </a:prstGeom>
          <a:solidFill>
            <a:srgbClr val="D8933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5" name="TextBox 54"/>
          <p:cNvSpPr txBox="1"/>
          <p:nvPr/>
        </p:nvSpPr>
        <p:spPr>
          <a:xfrm>
            <a:off x="10561320" y="4855464"/>
            <a:ext cx="868680" cy="320040"/>
          </a:xfrm>
          <a:prstGeom prst="rect">
            <a:avLst/>
          </a:prstGeom>
          <a:noFill/>
        </p:spPr>
        <p:txBody>
          <a:bodyPr wrap="square" lIns="0" rIns="0" tIns="0" bIns="0">
            <a:spAutoFit/>
          </a:bodyPr>
          <a:lstStyle/>
          <a:p>
            <a:pPr>
              <a:spcBef>
                <a:spcPts val="0"/>
              </a:spcBef>
              <a:spcAft>
                <a:spcPts val="500"/>
              </a:spcAft>
              <a:defRPr sz="1600" b="1">
                <a:solidFill>
                  <a:srgbClr val="127B80"/>
                </a:solidFill>
                <a:latin typeface="Arial"/>
              </a:defRPr>
            </a:pPr>
            <a:r>
              <a:t>42.27</a:t>
            </a:r>
          </a:p>
        </p:txBody>
      </p:sp>
      <p:sp>
        <p:nvSpPr>
          <p:cNvPr id="56" name="TextBox 55"/>
          <p:cNvSpPr txBox="1"/>
          <p:nvPr/>
        </p:nvSpPr>
        <p:spPr>
          <a:xfrm>
            <a:off x="10469880" y="1719072"/>
            <a:ext cx="1005840" cy="274320"/>
          </a:xfrm>
          <a:prstGeom prst="rect">
            <a:avLst/>
          </a:prstGeom>
          <a:noFill/>
        </p:spPr>
        <p:txBody>
          <a:bodyPr wrap="square" lIns="0" rIns="0" tIns="0" bIns="0">
            <a:spAutoFit/>
          </a:bodyPr>
          <a:lstStyle/>
          <a:p>
            <a:pPr>
              <a:spcBef>
                <a:spcPts val="0"/>
              </a:spcBef>
              <a:spcAft>
                <a:spcPts val="500"/>
              </a:spcAft>
              <a:defRPr sz="1300" b="1">
                <a:solidFill>
                  <a:srgbClr val="127B80"/>
                </a:solidFill>
                <a:latin typeface="Arial"/>
              </a:defRPr>
            </a:pPr>
            <a:r>
              <a:t>Gap TB</a:t>
            </a:r>
          </a:p>
        </p:txBody>
      </p:sp>
      <p:sp>
        <p:nvSpPr>
          <p:cNvPr id="57" name="Rectangle 56"/>
          <p:cNvSpPr/>
          <p:nvPr/>
        </p:nvSpPr>
        <p:spPr>
          <a:xfrm>
            <a:off x="548640" y="5806440"/>
            <a:ext cx="11091672" cy="365760"/>
          </a:xfrm>
          <a:prstGeom prst="rect">
            <a:avLst/>
          </a:prstGeom>
          <a:solidFill>
            <a:srgbClr val="EDF4F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8" name="TextBox 57"/>
          <p:cNvSpPr txBox="1"/>
          <p:nvPr/>
        </p:nvSpPr>
        <p:spPr>
          <a:xfrm>
            <a:off x="713232" y="5856731"/>
            <a:ext cx="10744200" cy="274320"/>
          </a:xfrm>
          <a:prstGeom prst="rect">
            <a:avLst/>
          </a:prstGeom>
          <a:noFill/>
        </p:spPr>
        <p:txBody>
          <a:bodyPr wrap="square" lIns="0" rIns="0" tIns="0" bIns="0">
            <a:spAutoFit/>
          </a:bodyPr>
          <a:lstStyle/>
          <a:p>
            <a:pPr>
              <a:spcBef>
                <a:spcPts val="0"/>
              </a:spcBef>
              <a:spcAft>
                <a:spcPts val="500"/>
              </a:spcAft>
              <a:defRPr sz="1500" b="1">
                <a:solidFill>
                  <a:srgbClr val="127B80"/>
                </a:solidFill>
                <a:latin typeface="Arial"/>
              </a:defRPr>
            </a:pPr>
            <a:r>
              <a:t>Mean gap: Drone 14,86–16,91 pp; MotorBike 41,24–42,94 pp. Mỗi phép so sánh giữ cùng tập đích.</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999" cy="59436"/>
          </a:xfrm>
          <a:prstGeom prst="rect">
            <a:avLst/>
          </a:prstGeom>
          <a:solidFill>
            <a:srgbClr val="127B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48640" y="256032"/>
            <a:ext cx="10972800" cy="228600"/>
          </a:xfrm>
          <a:prstGeom prst="rect">
            <a:avLst/>
          </a:prstGeom>
          <a:noFill/>
        </p:spPr>
        <p:txBody>
          <a:bodyPr wrap="square" lIns="0" rIns="0" tIns="0" bIns="0">
            <a:spAutoFit/>
          </a:bodyPr>
          <a:lstStyle/>
          <a:p>
            <a:pPr>
              <a:spcBef>
                <a:spcPts val="0"/>
              </a:spcBef>
              <a:spcAft>
                <a:spcPts val="500"/>
              </a:spcAft>
              <a:defRPr sz="1100" b="1">
                <a:solidFill>
                  <a:srgbClr val="127B80"/>
                </a:solidFill>
                <a:latin typeface="Arial"/>
              </a:defRPr>
            </a:pPr>
            <a:r>
              <a:t>06 · KẾT QUẢ THỰC NGHIỆM</a:t>
            </a:r>
          </a:p>
        </p:txBody>
      </p:sp>
      <p:sp>
        <p:nvSpPr>
          <p:cNvPr id="4" name="TextBox 3"/>
          <p:cNvSpPr txBox="1"/>
          <p:nvPr/>
        </p:nvSpPr>
        <p:spPr>
          <a:xfrm>
            <a:off x="548640" y="768096"/>
            <a:ext cx="11109960" cy="822960"/>
          </a:xfrm>
          <a:prstGeom prst="rect">
            <a:avLst/>
          </a:prstGeom>
          <a:noFill/>
        </p:spPr>
        <p:txBody>
          <a:bodyPr wrap="square" lIns="0" rIns="0" tIns="0" bIns="0">
            <a:spAutoFit/>
          </a:bodyPr>
          <a:lstStyle/>
          <a:p>
            <a:pPr>
              <a:spcBef>
                <a:spcPts val="0"/>
              </a:spcBef>
              <a:spcAft>
                <a:spcPts val="500"/>
              </a:spcAft>
              <a:defRPr sz="2700" b="1">
                <a:solidFill>
                  <a:srgbClr val="173348"/>
                </a:solidFill>
                <a:latin typeface="Arial"/>
              </a:defRPr>
            </a:pPr>
            <a:r>
              <a:t>D20 trên MotorBike mất nhiều AP; D40 trên Drone đảo chiều</a:t>
            </a:r>
          </a:p>
        </p:txBody>
      </p:sp>
      <p:cxnSp>
        <p:nvCxnSpPr>
          <p:cNvPr id="5" name="Connector 4"/>
          <p:cNvCxnSpPr/>
          <p:nvPr/>
        </p:nvCxnSpPr>
        <p:spPr>
          <a:xfrm>
            <a:off x="548640" y="6327648"/>
            <a:ext cx="11091672" cy="0"/>
          </a:xfrm>
          <a:prstGeom prst="line">
            <a:avLst/>
          </a:prstGeom>
          <a:ln w="16510">
            <a:solidFill>
              <a:srgbClr val="DCE6EC"/>
            </a:solidFill>
          </a:ln>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548640" y="6446520"/>
            <a:ext cx="10652760" cy="274320"/>
          </a:xfrm>
          <a:prstGeom prst="rect">
            <a:avLst/>
          </a:prstGeom>
          <a:noFill/>
        </p:spPr>
        <p:txBody>
          <a:bodyPr wrap="square" lIns="0" rIns="0" tIns="0" bIns="0">
            <a:spAutoFit/>
          </a:bodyPr>
          <a:lstStyle/>
          <a:p>
            <a:pPr>
              <a:spcBef>
                <a:spcPts val="0"/>
              </a:spcBef>
              <a:spcAft>
                <a:spcPts val="500"/>
              </a:spcAft>
              <a:defRPr sz="1000" b="0">
                <a:solidFill>
                  <a:srgbClr val="536778"/>
                </a:solidFill>
                <a:latin typeface="Arial"/>
              </a:defRPr>
            </a:pPr>
            <a:r>
              <a:t>Nguồn: paper, Bảng VII / Hình 3; AP@50:95 mean qua 3 seed · Gap tính trên cùng tập đích</a:t>
            </a:r>
          </a:p>
        </p:txBody>
      </p:sp>
      <p:sp>
        <p:nvSpPr>
          <p:cNvPr id="7" name="TextBox 6"/>
          <p:cNvSpPr txBox="1"/>
          <p:nvPr/>
        </p:nvSpPr>
        <p:spPr>
          <a:xfrm>
            <a:off x="11155680" y="6419088"/>
            <a:ext cx="484632" cy="292608"/>
          </a:xfrm>
          <a:prstGeom prst="rect">
            <a:avLst/>
          </a:prstGeom>
          <a:noFill/>
        </p:spPr>
        <p:txBody>
          <a:bodyPr wrap="square" lIns="0" rIns="0" tIns="0" bIns="0">
            <a:spAutoFit/>
          </a:bodyPr>
          <a:lstStyle/>
          <a:p>
            <a:pPr algn="r">
              <a:spcBef>
                <a:spcPts val="0"/>
              </a:spcBef>
              <a:spcAft>
                <a:spcPts val="500"/>
              </a:spcAft>
              <a:defRPr sz="1200" b="1">
                <a:solidFill>
                  <a:srgbClr val="127B80"/>
                </a:solidFill>
                <a:latin typeface="Arial"/>
              </a:defRPr>
            </a:pPr>
            <a:r>
              <a:t>15</a:t>
            </a:r>
          </a:p>
        </p:txBody>
      </p:sp>
      <p:sp>
        <p:nvSpPr>
          <p:cNvPr id="8" name="TextBox 7"/>
          <p:cNvSpPr txBox="1"/>
          <p:nvPr/>
        </p:nvSpPr>
        <p:spPr>
          <a:xfrm>
            <a:off x="731520" y="1737360"/>
            <a:ext cx="6903720" cy="365760"/>
          </a:xfrm>
          <a:prstGeom prst="rect">
            <a:avLst/>
          </a:prstGeom>
          <a:noFill/>
        </p:spPr>
        <p:txBody>
          <a:bodyPr wrap="square" lIns="0" rIns="0" tIns="0" bIns="0">
            <a:spAutoFit/>
          </a:bodyPr>
          <a:lstStyle/>
          <a:p>
            <a:pPr>
              <a:spcBef>
                <a:spcPts val="0"/>
              </a:spcBef>
              <a:spcAft>
                <a:spcPts val="500"/>
              </a:spcAft>
              <a:defRPr sz="2100" b="1">
                <a:solidFill>
                  <a:srgbClr val="127B80"/>
                </a:solidFill>
                <a:latin typeface="Arial"/>
              </a:defRPr>
            </a:pPr>
            <a:r>
              <a:t>Gap theo lớp trên MotorBike Test (pp)</a:t>
            </a:r>
          </a:p>
        </p:txBody>
      </p:sp>
      <p:cxnSp>
        <p:nvCxnSpPr>
          <p:cNvPr id="9" name="Connector 8"/>
          <p:cNvCxnSpPr/>
          <p:nvPr/>
        </p:nvCxnSpPr>
        <p:spPr>
          <a:xfrm>
            <a:off x="1051560" y="5029200"/>
            <a:ext cx="6537960" cy="0"/>
          </a:xfrm>
          <a:prstGeom prst="line">
            <a:avLst/>
          </a:prstGeom>
          <a:ln w="16510">
            <a:solidFill>
              <a:srgbClr val="DCE6EC"/>
            </a:solidFill>
          </a:ln>
        </p:spPr>
        <p:style>
          <a:lnRef idx="2">
            <a:schemeClr val="accent1"/>
          </a:lnRef>
          <a:fillRef idx="0">
            <a:schemeClr val="accent1"/>
          </a:fillRef>
          <a:effectRef idx="0">
            <a:schemeClr val="accent1"/>
          </a:effectRef>
          <a:fontRef idx="minor">
            <a:schemeClr val="tx1"/>
          </a:fontRef>
        </p:style>
      </p:cxnSp>
      <p:sp>
        <p:nvSpPr>
          <p:cNvPr id="10" name="TextBox 9"/>
          <p:cNvSpPr txBox="1"/>
          <p:nvPr/>
        </p:nvSpPr>
        <p:spPr>
          <a:xfrm>
            <a:off x="594360" y="4901184"/>
            <a:ext cx="365760" cy="274320"/>
          </a:xfrm>
          <a:prstGeom prst="rect">
            <a:avLst/>
          </a:prstGeom>
          <a:noFill/>
        </p:spPr>
        <p:txBody>
          <a:bodyPr wrap="square" lIns="0" rIns="0" tIns="0" bIns="0">
            <a:spAutoFit/>
          </a:bodyPr>
          <a:lstStyle/>
          <a:p>
            <a:pPr>
              <a:spcBef>
                <a:spcPts val="0"/>
              </a:spcBef>
              <a:spcAft>
                <a:spcPts val="500"/>
              </a:spcAft>
              <a:defRPr sz="1200" b="0">
                <a:solidFill>
                  <a:srgbClr val="536778"/>
                </a:solidFill>
                <a:latin typeface="Arial"/>
              </a:defRPr>
            </a:pPr>
            <a:r>
              <a:t>0</a:t>
            </a:r>
          </a:p>
        </p:txBody>
      </p:sp>
      <p:cxnSp>
        <p:nvCxnSpPr>
          <p:cNvPr id="11" name="Connector 10"/>
          <p:cNvCxnSpPr/>
          <p:nvPr/>
        </p:nvCxnSpPr>
        <p:spPr>
          <a:xfrm>
            <a:off x="1051560" y="4255476"/>
            <a:ext cx="6537960" cy="0"/>
          </a:xfrm>
          <a:prstGeom prst="line">
            <a:avLst/>
          </a:prstGeom>
          <a:ln w="16510">
            <a:solidFill>
              <a:srgbClr val="DCE6EC"/>
            </a:solidFill>
          </a:ln>
        </p:spPr>
        <p:style>
          <a:lnRef idx="2">
            <a:schemeClr val="accent1"/>
          </a:lnRef>
          <a:fillRef idx="0">
            <a:schemeClr val="accent1"/>
          </a:fillRef>
          <a:effectRef idx="0">
            <a:schemeClr val="accent1"/>
          </a:effectRef>
          <a:fontRef idx="minor">
            <a:schemeClr val="tx1"/>
          </a:fontRef>
        </p:style>
      </p:cxnSp>
      <p:sp>
        <p:nvSpPr>
          <p:cNvPr id="12" name="TextBox 11"/>
          <p:cNvSpPr txBox="1"/>
          <p:nvPr/>
        </p:nvSpPr>
        <p:spPr>
          <a:xfrm>
            <a:off x="594360" y="4127460"/>
            <a:ext cx="365760" cy="274320"/>
          </a:xfrm>
          <a:prstGeom prst="rect">
            <a:avLst/>
          </a:prstGeom>
          <a:noFill/>
        </p:spPr>
        <p:txBody>
          <a:bodyPr wrap="square" lIns="0" rIns="0" tIns="0" bIns="0">
            <a:spAutoFit/>
          </a:bodyPr>
          <a:lstStyle/>
          <a:p>
            <a:pPr>
              <a:spcBef>
                <a:spcPts val="0"/>
              </a:spcBef>
              <a:spcAft>
                <a:spcPts val="500"/>
              </a:spcAft>
              <a:defRPr sz="1200" b="0">
                <a:solidFill>
                  <a:srgbClr val="536778"/>
                </a:solidFill>
                <a:latin typeface="Arial"/>
              </a:defRPr>
            </a:pPr>
            <a:r>
              <a:t>20</a:t>
            </a:r>
          </a:p>
        </p:txBody>
      </p:sp>
      <p:cxnSp>
        <p:nvCxnSpPr>
          <p:cNvPr id="13" name="Connector 12"/>
          <p:cNvCxnSpPr/>
          <p:nvPr/>
        </p:nvCxnSpPr>
        <p:spPr>
          <a:xfrm>
            <a:off x="1051560" y="3481753"/>
            <a:ext cx="6537960" cy="0"/>
          </a:xfrm>
          <a:prstGeom prst="line">
            <a:avLst/>
          </a:prstGeom>
          <a:ln w="16510">
            <a:solidFill>
              <a:srgbClr val="DCE6EC"/>
            </a:solidFill>
          </a:ln>
        </p:spPr>
        <p:style>
          <a:lnRef idx="2">
            <a:schemeClr val="accent1"/>
          </a:lnRef>
          <a:fillRef idx="0">
            <a:schemeClr val="accent1"/>
          </a:fillRef>
          <a:effectRef idx="0">
            <a:schemeClr val="accent1"/>
          </a:effectRef>
          <a:fontRef idx="minor">
            <a:schemeClr val="tx1"/>
          </a:fontRef>
        </p:style>
      </p:cxnSp>
      <p:sp>
        <p:nvSpPr>
          <p:cNvPr id="14" name="TextBox 13"/>
          <p:cNvSpPr txBox="1"/>
          <p:nvPr/>
        </p:nvSpPr>
        <p:spPr>
          <a:xfrm>
            <a:off x="594360" y="3353737"/>
            <a:ext cx="365760" cy="274320"/>
          </a:xfrm>
          <a:prstGeom prst="rect">
            <a:avLst/>
          </a:prstGeom>
          <a:noFill/>
        </p:spPr>
        <p:txBody>
          <a:bodyPr wrap="square" lIns="0" rIns="0" tIns="0" bIns="0">
            <a:spAutoFit/>
          </a:bodyPr>
          <a:lstStyle/>
          <a:p>
            <a:pPr>
              <a:spcBef>
                <a:spcPts val="0"/>
              </a:spcBef>
              <a:spcAft>
                <a:spcPts val="500"/>
              </a:spcAft>
              <a:defRPr sz="1200" b="0">
                <a:solidFill>
                  <a:srgbClr val="536778"/>
                </a:solidFill>
                <a:latin typeface="Arial"/>
              </a:defRPr>
            </a:pPr>
            <a:r>
              <a:t>40</a:t>
            </a:r>
          </a:p>
        </p:txBody>
      </p:sp>
      <p:cxnSp>
        <p:nvCxnSpPr>
          <p:cNvPr id="15" name="Connector 14"/>
          <p:cNvCxnSpPr/>
          <p:nvPr/>
        </p:nvCxnSpPr>
        <p:spPr>
          <a:xfrm>
            <a:off x="1051560" y="2708030"/>
            <a:ext cx="6537960" cy="0"/>
          </a:xfrm>
          <a:prstGeom prst="line">
            <a:avLst/>
          </a:prstGeom>
          <a:ln w="16510">
            <a:solidFill>
              <a:srgbClr val="DCE6EC"/>
            </a:solidFill>
          </a:ln>
        </p:spPr>
        <p:style>
          <a:lnRef idx="2">
            <a:schemeClr val="accent1"/>
          </a:lnRef>
          <a:fillRef idx="0">
            <a:schemeClr val="accent1"/>
          </a:fillRef>
          <a:effectRef idx="0">
            <a:schemeClr val="accent1"/>
          </a:effectRef>
          <a:fontRef idx="minor">
            <a:schemeClr val="tx1"/>
          </a:fontRef>
        </p:style>
      </p:cxnSp>
      <p:sp>
        <p:nvSpPr>
          <p:cNvPr id="16" name="TextBox 15"/>
          <p:cNvSpPr txBox="1"/>
          <p:nvPr/>
        </p:nvSpPr>
        <p:spPr>
          <a:xfrm>
            <a:off x="594360" y="2580014"/>
            <a:ext cx="365760" cy="274320"/>
          </a:xfrm>
          <a:prstGeom prst="rect">
            <a:avLst/>
          </a:prstGeom>
          <a:noFill/>
        </p:spPr>
        <p:txBody>
          <a:bodyPr wrap="square" lIns="0" rIns="0" tIns="0" bIns="0">
            <a:spAutoFit/>
          </a:bodyPr>
          <a:lstStyle/>
          <a:p>
            <a:pPr>
              <a:spcBef>
                <a:spcPts val="0"/>
              </a:spcBef>
              <a:spcAft>
                <a:spcPts val="500"/>
              </a:spcAft>
              <a:defRPr sz="1200" b="0">
                <a:solidFill>
                  <a:srgbClr val="536778"/>
                </a:solidFill>
                <a:latin typeface="Arial"/>
              </a:defRPr>
            </a:pPr>
            <a:r>
              <a:t>60</a:t>
            </a:r>
          </a:p>
        </p:txBody>
      </p:sp>
      <p:sp>
        <p:nvSpPr>
          <p:cNvPr id="17" name="Rectangle 16"/>
          <p:cNvSpPr/>
          <p:nvPr/>
        </p:nvSpPr>
        <p:spPr>
          <a:xfrm>
            <a:off x="1188720" y="3972100"/>
            <a:ext cx="265176" cy="1057099"/>
          </a:xfrm>
          <a:prstGeom prst="rect">
            <a:avLst/>
          </a:prstGeom>
          <a:solidFill>
            <a:srgbClr val="176B8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Rectangle 17"/>
          <p:cNvSpPr/>
          <p:nvPr/>
        </p:nvSpPr>
        <p:spPr>
          <a:xfrm>
            <a:off x="1517904" y="4000414"/>
            <a:ext cx="265176" cy="1028785"/>
          </a:xfrm>
          <a:prstGeom prst="rect">
            <a:avLst/>
          </a:prstGeom>
          <a:solidFill>
            <a:srgbClr val="61899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Rectangle 18"/>
          <p:cNvSpPr/>
          <p:nvPr/>
        </p:nvSpPr>
        <p:spPr>
          <a:xfrm>
            <a:off x="1847088" y="4016936"/>
            <a:ext cx="265176" cy="1012263"/>
          </a:xfrm>
          <a:prstGeom prst="rect">
            <a:avLst/>
          </a:prstGeom>
          <a:solidFill>
            <a:srgbClr val="D8933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1298448" y="5157216"/>
            <a:ext cx="1005840" cy="320040"/>
          </a:xfrm>
          <a:prstGeom prst="rect">
            <a:avLst/>
          </a:prstGeom>
          <a:noFill/>
        </p:spPr>
        <p:txBody>
          <a:bodyPr wrap="square" lIns="0" rIns="0" tIns="0" bIns="0">
            <a:spAutoFit/>
          </a:bodyPr>
          <a:lstStyle/>
          <a:p>
            <a:pPr>
              <a:spcBef>
                <a:spcPts val="0"/>
              </a:spcBef>
              <a:spcAft>
                <a:spcPts val="500"/>
              </a:spcAft>
              <a:defRPr sz="1700" b="1">
                <a:solidFill>
                  <a:srgbClr val="173348"/>
                </a:solidFill>
                <a:latin typeface="Arial"/>
              </a:defRPr>
            </a:pPr>
            <a:r>
              <a:t>D00</a:t>
            </a:r>
          </a:p>
        </p:txBody>
      </p:sp>
      <p:sp>
        <p:nvSpPr>
          <p:cNvPr id="21" name="Rectangle 20"/>
          <p:cNvSpPr/>
          <p:nvPr/>
        </p:nvSpPr>
        <p:spPr>
          <a:xfrm>
            <a:off x="2816352" y="3648304"/>
            <a:ext cx="265176" cy="1380895"/>
          </a:xfrm>
          <a:prstGeom prst="rect">
            <a:avLst/>
          </a:prstGeom>
          <a:solidFill>
            <a:srgbClr val="176B8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Rectangle 21"/>
          <p:cNvSpPr/>
          <p:nvPr/>
        </p:nvSpPr>
        <p:spPr>
          <a:xfrm>
            <a:off x="3145536" y="3697258"/>
            <a:ext cx="265176" cy="1331941"/>
          </a:xfrm>
          <a:prstGeom prst="rect">
            <a:avLst/>
          </a:prstGeom>
          <a:solidFill>
            <a:srgbClr val="61899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Rectangle 22"/>
          <p:cNvSpPr/>
          <p:nvPr/>
        </p:nvSpPr>
        <p:spPr>
          <a:xfrm>
            <a:off x="3474720" y="3833370"/>
            <a:ext cx="265176" cy="1195829"/>
          </a:xfrm>
          <a:prstGeom prst="rect">
            <a:avLst/>
          </a:prstGeom>
          <a:solidFill>
            <a:srgbClr val="D8933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2926080" y="5157216"/>
            <a:ext cx="1005840" cy="320040"/>
          </a:xfrm>
          <a:prstGeom prst="rect">
            <a:avLst/>
          </a:prstGeom>
          <a:noFill/>
        </p:spPr>
        <p:txBody>
          <a:bodyPr wrap="square" lIns="0" rIns="0" tIns="0" bIns="0">
            <a:spAutoFit/>
          </a:bodyPr>
          <a:lstStyle/>
          <a:p>
            <a:pPr>
              <a:spcBef>
                <a:spcPts val="0"/>
              </a:spcBef>
              <a:spcAft>
                <a:spcPts val="500"/>
              </a:spcAft>
              <a:defRPr sz="1700" b="1">
                <a:solidFill>
                  <a:srgbClr val="173348"/>
                </a:solidFill>
                <a:latin typeface="Arial"/>
              </a:defRPr>
            </a:pPr>
            <a:r>
              <a:t>D10</a:t>
            </a:r>
          </a:p>
        </p:txBody>
      </p:sp>
      <p:sp>
        <p:nvSpPr>
          <p:cNvPr id="25" name="Rectangle 24"/>
          <p:cNvSpPr/>
          <p:nvPr/>
        </p:nvSpPr>
        <p:spPr>
          <a:xfrm>
            <a:off x="4443984" y="2796205"/>
            <a:ext cx="265176" cy="2232994"/>
          </a:xfrm>
          <a:prstGeom prst="rect">
            <a:avLst/>
          </a:prstGeom>
          <a:solidFill>
            <a:srgbClr val="176B8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4370832" y="2503597"/>
            <a:ext cx="685800" cy="256032"/>
          </a:xfrm>
          <a:prstGeom prst="rect">
            <a:avLst/>
          </a:prstGeom>
          <a:noFill/>
        </p:spPr>
        <p:txBody>
          <a:bodyPr wrap="square" lIns="0" rIns="0" tIns="0" bIns="0">
            <a:spAutoFit/>
          </a:bodyPr>
          <a:lstStyle/>
          <a:p>
            <a:pPr>
              <a:spcBef>
                <a:spcPts val="0"/>
              </a:spcBef>
              <a:spcAft>
                <a:spcPts val="500"/>
              </a:spcAft>
              <a:defRPr sz="1200" b="1">
                <a:solidFill>
                  <a:srgbClr val="176B87"/>
                </a:solidFill>
                <a:latin typeface="Arial"/>
              </a:defRPr>
            </a:pPr>
            <a:r>
              <a:t>57.7</a:t>
            </a:r>
          </a:p>
        </p:txBody>
      </p:sp>
      <p:sp>
        <p:nvSpPr>
          <p:cNvPr id="27" name="Rectangle 26"/>
          <p:cNvSpPr/>
          <p:nvPr/>
        </p:nvSpPr>
        <p:spPr>
          <a:xfrm>
            <a:off x="4773168" y="2970624"/>
            <a:ext cx="265176" cy="2058575"/>
          </a:xfrm>
          <a:prstGeom prst="rect">
            <a:avLst/>
          </a:prstGeom>
          <a:solidFill>
            <a:srgbClr val="61899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TextBox 27"/>
          <p:cNvSpPr txBox="1"/>
          <p:nvPr/>
        </p:nvSpPr>
        <p:spPr>
          <a:xfrm>
            <a:off x="4700016" y="2678016"/>
            <a:ext cx="685800" cy="256032"/>
          </a:xfrm>
          <a:prstGeom prst="rect">
            <a:avLst/>
          </a:prstGeom>
          <a:noFill/>
        </p:spPr>
        <p:txBody>
          <a:bodyPr wrap="square" lIns="0" rIns="0" tIns="0" bIns="0">
            <a:spAutoFit/>
          </a:bodyPr>
          <a:lstStyle/>
          <a:p>
            <a:pPr>
              <a:spcBef>
                <a:spcPts val="0"/>
              </a:spcBef>
              <a:spcAft>
                <a:spcPts val="500"/>
              </a:spcAft>
              <a:defRPr sz="1200" b="1">
                <a:solidFill>
                  <a:srgbClr val="61899C"/>
                </a:solidFill>
                <a:latin typeface="Arial"/>
              </a:defRPr>
            </a:pPr>
            <a:r>
              <a:t>53.2</a:t>
            </a:r>
          </a:p>
        </p:txBody>
      </p:sp>
      <p:sp>
        <p:nvSpPr>
          <p:cNvPr id="29" name="Rectangle 28"/>
          <p:cNvSpPr/>
          <p:nvPr/>
        </p:nvSpPr>
        <p:spPr>
          <a:xfrm>
            <a:off x="5102352" y="2845467"/>
            <a:ext cx="265176" cy="2183732"/>
          </a:xfrm>
          <a:prstGeom prst="rect">
            <a:avLst/>
          </a:prstGeom>
          <a:solidFill>
            <a:srgbClr val="D8933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TextBox 29"/>
          <p:cNvSpPr txBox="1"/>
          <p:nvPr/>
        </p:nvSpPr>
        <p:spPr>
          <a:xfrm>
            <a:off x="5029200" y="2552859"/>
            <a:ext cx="685800" cy="256032"/>
          </a:xfrm>
          <a:prstGeom prst="rect">
            <a:avLst/>
          </a:prstGeom>
          <a:noFill/>
        </p:spPr>
        <p:txBody>
          <a:bodyPr wrap="square" lIns="0" rIns="0" tIns="0" bIns="0">
            <a:spAutoFit/>
          </a:bodyPr>
          <a:lstStyle/>
          <a:p>
            <a:pPr>
              <a:spcBef>
                <a:spcPts val="0"/>
              </a:spcBef>
              <a:spcAft>
                <a:spcPts val="500"/>
              </a:spcAft>
              <a:defRPr sz="1200" b="1">
                <a:solidFill>
                  <a:srgbClr val="D89335"/>
                </a:solidFill>
                <a:latin typeface="Arial"/>
              </a:defRPr>
            </a:pPr>
            <a:r>
              <a:t>56.4</a:t>
            </a:r>
          </a:p>
        </p:txBody>
      </p:sp>
      <p:sp>
        <p:nvSpPr>
          <p:cNvPr id="31" name="TextBox 30"/>
          <p:cNvSpPr txBox="1"/>
          <p:nvPr/>
        </p:nvSpPr>
        <p:spPr>
          <a:xfrm>
            <a:off x="4553712" y="5157216"/>
            <a:ext cx="1005840" cy="320040"/>
          </a:xfrm>
          <a:prstGeom prst="rect">
            <a:avLst/>
          </a:prstGeom>
          <a:noFill/>
        </p:spPr>
        <p:txBody>
          <a:bodyPr wrap="square" lIns="0" rIns="0" tIns="0" bIns="0">
            <a:spAutoFit/>
          </a:bodyPr>
          <a:lstStyle/>
          <a:p>
            <a:pPr>
              <a:spcBef>
                <a:spcPts val="0"/>
              </a:spcBef>
              <a:spcAft>
                <a:spcPts val="500"/>
              </a:spcAft>
              <a:defRPr sz="1700" b="1">
                <a:solidFill>
                  <a:srgbClr val="173348"/>
                </a:solidFill>
                <a:latin typeface="Arial"/>
              </a:defRPr>
            </a:pPr>
            <a:r>
              <a:t>D20</a:t>
            </a:r>
          </a:p>
        </p:txBody>
      </p:sp>
      <p:sp>
        <p:nvSpPr>
          <p:cNvPr id="32" name="Rectangle 31"/>
          <p:cNvSpPr/>
          <p:nvPr/>
        </p:nvSpPr>
        <p:spPr>
          <a:xfrm>
            <a:off x="6071616" y="3055806"/>
            <a:ext cx="265176" cy="1973393"/>
          </a:xfrm>
          <a:prstGeom prst="rect">
            <a:avLst/>
          </a:prstGeom>
          <a:solidFill>
            <a:srgbClr val="176B8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Rectangle 32"/>
          <p:cNvSpPr/>
          <p:nvPr/>
        </p:nvSpPr>
        <p:spPr>
          <a:xfrm>
            <a:off x="6400800" y="3067090"/>
            <a:ext cx="265176" cy="1962109"/>
          </a:xfrm>
          <a:prstGeom prst="rect">
            <a:avLst/>
          </a:prstGeom>
          <a:solidFill>
            <a:srgbClr val="61899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Rectangle 33"/>
          <p:cNvSpPr/>
          <p:nvPr/>
        </p:nvSpPr>
        <p:spPr>
          <a:xfrm>
            <a:off x="6729983" y="2880116"/>
            <a:ext cx="265176" cy="2149083"/>
          </a:xfrm>
          <a:prstGeom prst="rect">
            <a:avLst/>
          </a:prstGeom>
          <a:solidFill>
            <a:srgbClr val="D8933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TextBox 34"/>
          <p:cNvSpPr txBox="1"/>
          <p:nvPr/>
        </p:nvSpPr>
        <p:spPr>
          <a:xfrm>
            <a:off x="6181344" y="5157216"/>
            <a:ext cx="1005840" cy="320040"/>
          </a:xfrm>
          <a:prstGeom prst="rect">
            <a:avLst/>
          </a:prstGeom>
          <a:noFill/>
        </p:spPr>
        <p:txBody>
          <a:bodyPr wrap="square" lIns="0" rIns="0" tIns="0" bIns="0">
            <a:spAutoFit/>
          </a:bodyPr>
          <a:lstStyle/>
          <a:p>
            <a:pPr>
              <a:spcBef>
                <a:spcPts val="0"/>
              </a:spcBef>
              <a:spcAft>
                <a:spcPts val="500"/>
              </a:spcAft>
              <a:defRPr sz="1700" b="1">
                <a:solidFill>
                  <a:srgbClr val="173348"/>
                </a:solidFill>
                <a:latin typeface="Arial"/>
              </a:defRPr>
            </a:pPr>
            <a:r>
              <a:t>D40</a:t>
            </a:r>
          </a:p>
        </p:txBody>
      </p:sp>
      <p:sp>
        <p:nvSpPr>
          <p:cNvPr id="36" name="Rectangle 35"/>
          <p:cNvSpPr/>
          <p:nvPr/>
        </p:nvSpPr>
        <p:spPr>
          <a:xfrm>
            <a:off x="914400" y="5632704"/>
            <a:ext cx="182880" cy="146304"/>
          </a:xfrm>
          <a:prstGeom prst="rect">
            <a:avLst/>
          </a:prstGeom>
          <a:solidFill>
            <a:srgbClr val="176B8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TextBox 36"/>
          <p:cNvSpPr txBox="1"/>
          <p:nvPr/>
        </p:nvSpPr>
        <p:spPr>
          <a:xfrm>
            <a:off x="1188720" y="5559552"/>
            <a:ext cx="1828800" cy="320040"/>
          </a:xfrm>
          <a:prstGeom prst="rect">
            <a:avLst/>
          </a:prstGeom>
          <a:noFill/>
        </p:spPr>
        <p:txBody>
          <a:bodyPr wrap="square" lIns="0" rIns="0" tIns="0" bIns="0">
            <a:spAutoFit/>
          </a:bodyPr>
          <a:lstStyle/>
          <a:p>
            <a:pPr>
              <a:spcBef>
                <a:spcPts val="0"/>
              </a:spcBef>
              <a:spcAft>
                <a:spcPts val="500"/>
              </a:spcAft>
              <a:defRPr sz="1400" b="0">
                <a:solidFill>
                  <a:srgbClr val="173348"/>
                </a:solidFill>
                <a:latin typeface="Arial"/>
              </a:defRPr>
            </a:pPr>
            <a:r>
              <a:t>YOLO11n</a:t>
            </a:r>
          </a:p>
        </p:txBody>
      </p:sp>
      <p:sp>
        <p:nvSpPr>
          <p:cNvPr id="38" name="Rectangle 37"/>
          <p:cNvSpPr/>
          <p:nvPr/>
        </p:nvSpPr>
        <p:spPr>
          <a:xfrm>
            <a:off x="3200400" y="5632704"/>
            <a:ext cx="182880" cy="146304"/>
          </a:xfrm>
          <a:prstGeom prst="rect">
            <a:avLst/>
          </a:prstGeom>
          <a:solidFill>
            <a:srgbClr val="61899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 name="TextBox 38"/>
          <p:cNvSpPr txBox="1"/>
          <p:nvPr/>
        </p:nvSpPr>
        <p:spPr>
          <a:xfrm>
            <a:off x="3474720" y="5559552"/>
            <a:ext cx="1828800" cy="320040"/>
          </a:xfrm>
          <a:prstGeom prst="rect">
            <a:avLst/>
          </a:prstGeom>
          <a:noFill/>
        </p:spPr>
        <p:txBody>
          <a:bodyPr wrap="square" lIns="0" rIns="0" tIns="0" bIns="0">
            <a:spAutoFit/>
          </a:bodyPr>
          <a:lstStyle/>
          <a:p>
            <a:pPr>
              <a:spcBef>
                <a:spcPts val="0"/>
              </a:spcBef>
              <a:spcAft>
                <a:spcPts val="500"/>
              </a:spcAft>
              <a:defRPr sz="1400" b="0">
                <a:solidFill>
                  <a:srgbClr val="173348"/>
                </a:solidFill>
                <a:latin typeface="Arial"/>
              </a:defRPr>
            </a:pPr>
            <a:r>
              <a:t>YOLOv8n</a:t>
            </a:r>
          </a:p>
        </p:txBody>
      </p:sp>
      <p:sp>
        <p:nvSpPr>
          <p:cNvPr id="40" name="Rectangle 39"/>
          <p:cNvSpPr/>
          <p:nvPr/>
        </p:nvSpPr>
        <p:spPr>
          <a:xfrm>
            <a:off x="5486400" y="5632704"/>
            <a:ext cx="182880" cy="146304"/>
          </a:xfrm>
          <a:prstGeom prst="rect">
            <a:avLst/>
          </a:prstGeom>
          <a:solidFill>
            <a:srgbClr val="D8933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TextBox 40"/>
          <p:cNvSpPr txBox="1"/>
          <p:nvPr/>
        </p:nvSpPr>
        <p:spPr>
          <a:xfrm>
            <a:off x="5760720" y="5559552"/>
            <a:ext cx="1828800" cy="320040"/>
          </a:xfrm>
          <a:prstGeom prst="rect">
            <a:avLst/>
          </a:prstGeom>
          <a:noFill/>
        </p:spPr>
        <p:txBody>
          <a:bodyPr wrap="square" lIns="0" rIns="0" tIns="0" bIns="0">
            <a:spAutoFit/>
          </a:bodyPr>
          <a:lstStyle/>
          <a:p>
            <a:pPr>
              <a:spcBef>
                <a:spcPts val="0"/>
              </a:spcBef>
              <a:spcAft>
                <a:spcPts val="500"/>
              </a:spcAft>
              <a:defRPr sz="1400" b="0">
                <a:solidFill>
                  <a:srgbClr val="173348"/>
                </a:solidFill>
                <a:latin typeface="Arial"/>
              </a:defRPr>
            </a:pPr>
            <a:r>
              <a:t>YOLO26n</a:t>
            </a:r>
          </a:p>
        </p:txBody>
      </p:sp>
      <p:sp>
        <p:nvSpPr>
          <p:cNvPr id="42" name="Rectangle 41"/>
          <p:cNvSpPr/>
          <p:nvPr/>
        </p:nvSpPr>
        <p:spPr>
          <a:xfrm>
            <a:off x="8229600" y="1792224"/>
            <a:ext cx="3246120" cy="3931920"/>
          </a:xfrm>
          <a:prstGeom prst="rect">
            <a:avLst/>
          </a:prstGeom>
          <a:solidFill>
            <a:srgbClr val="EDF4F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 name="TextBox 42"/>
          <p:cNvSpPr txBox="1"/>
          <p:nvPr/>
        </p:nvSpPr>
        <p:spPr>
          <a:xfrm>
            <a:off x="8458200" y="1993392"/>
            <a:ext cx="2743200" cy="502920"/>
          </a:xfrm>
          <a:prstGeom prst="rect">
            <a:avLst/>
          </a:prstGeom>
          <a:noFill/>
        </p:spPr>
        <p:txBody>
          <a:bodyPr wrap="square" lIns="0" rIns="0" tIns="0" bIns="0">
            <a:spAutoFit/>
          </a:bodyPr>
          <a:lstStyle/>
          <a:p>
            <a:pPr>
              <a:spcBef>
                <a:spcPts val="0"/>
              </a:spcBef>
              <a:spcAft>
                <a:spcPts val="500"/>
              </a:spcAft>
              <a:defRPr sz="2100" b="1">
                <a:solidFill>
                  <a:srgbClr val="127B80"/>
                </a:solidFill>
                <a:latin typeface="Arial"/>
              </a:defRPr>
            </a:pPr>
            <a:r>
              <a:t>Ngoại lệ D40 · Drone</a:t>
            </a:r>
          </a:p>
        </p:txBody>
      </p:sp>
      <p:sp>
        <p:nvSpPr>
          <p:cNvPr id="44" name="TextBox 43"/>
          <p:cNvSpPr txBox="1"/>
          <p:nvPr/>
        </p:nvSpPr>
        <p:spPr>
          <a:xfrm>
            <a:off x="8458200" y="2807208"/>
            <a:ext cx="2743200" cy="1508760"/>
          </a:xfrm>
          <a:prstGeom prst="rect">
            <a:avLst/>
          </a:prstGeom>
          <a:noFill/>
        </p:spPr>
        <p:txBody>
          <a:bodyPr wrap="square" lIns="0" rIns="0" tIns="0" bIns="0">
            <a:spAutoFit/>
          </a:bodyPr>
          <a:lstStyle/>
          <a:p>
            <a:pPr>
              <a:spcBef>
                <a:spcPts val="0"/>
              </a:spcBef>
              <a:spcAft>
                <a:spcPts val="500"/>
              </a:spcAft>
              <a:defRPr sz="2000" b="0">
                <a:solidFill>
                  <a:srgbClr val="173348"/>
                </a:solidFill>
                <a:latin typeface="Arial"/>
              </a:defRPr>
            </a:pPr>
            <a:r>
              <a:t>YOLO11n   −6,61 pp</a:t>
            </a:r>
          </a:p>
          <a:p>
            <a:pPr>
              <a:spcBef>
                <a:spcPts val="0"/>
              </a:spcBef>
              <a:spcAft>
                <a:spcPts val="500"/>
              </a:spcAft>
              <a:defRPr sz="2000" b="0">
                <a:solidFill>
                  <a:srgbClr val="173348"/>
                </a:solidFill>
                <a:latin typeface="Arial"/>
              </a:defRPr>
            </a:pPr>
            <a:r>
              <a:t>YOLOv8n   −9,74 pp</a:t>
            </a:r>
          </a:p>
          <a:p>
            <a:pPr>
              <a:spcBef>
                <a:spcPts val="0"/>
              </a:spcBef>
              <a:spcAft>
                <a:spcPts val="500"/>
              </a:spcAft>
              <a:defRPr sz="2000" b="0">
                <a:solidFill>
                  <a:srgbClr val="173348"/>
                </a:solidFill>
                <a:latin typeface="Arial"/>
              </a:defRPr>
            </a:pPr>
            <a:r>
              <a:t>YOLO26n   −1,95 pp</a:t>
            </a:r>
          </a:p>
        </p:txBody>
      </p:sp>
      <p:sp>
        <p:nvSpPr>
          <p:cNvPr id="45" name="TextBox 44"/>
          <p:cNvSpPr txBox="1"/>
          <p:nvPr/>
        </p:nvSpPr>
        <p:spPr>
          <a:xfrm>
            <a:off x="8458200" y="4626864"/>
            <a:ext cx="2743200" cy="822960"/>
          </a:xfrm>
          <a:prstGeom prst="rect">
            <a:avLst/>
          </a:prstGeom>
          <a:noFill/>
        </p:spPr>
        <p:txBody>
          <a:bodyPr wrap="square" lIns="0" rIns="0" tIns="0" bIns="0">
            <a:spAutoFit/>
          </a:bodyPr>
          <a:lstStyle/>
          <a:p>
            <a:pPr>
              <a:spcBef>
                <a:spcPts val="0"/>
              </a:spcBef>
              <a:spcAft>
                <a:spcPts val="500"/>
              </a:spcAft>
              <a:defRPr sz="1600" b="0">
                <a:solidFill>
                  <a:srgbClr val="536778"/>
                </a:solidFill>
                <a:latin typeface="Arial"/>
              </a:defRPr>
            </a:pPr>
            <a:r>
              <a:t>Hỗ trợ thưa: 17 hộp / 9 ảnh.</a:t>
            </a:r>
          </a:p>
          <a:p>
            <a:pPr>
              <a:spcBef>
                <a:spcPts val="0"/>
              </a:spcBef>
              <a:spcAft>
                <a:spcPts val="500"/>
              </a:spcAft>
              <a:defRPr sz="1600" b="0">
                <a:solidFill>
                  <a:srgbClr val="536778"/>
                </a:solidFill>
                <a:latin typeface="Arial"/>
              </a:defRPr>
            </a:pPr>
            <a:r>
              <a:t>Giữ nguyên kết quả này.</a:t>
            </a:r>
          </a:p>
        </p:txBody>
      </p:sp>
      <p:sp>
        <p:nvSpPr>
          <p:cNvPr id="46" name="Rectangle 45"/>
          <p:cNvSpPr/>
          <p:nvPr/>
        </p:nvSpPr>
        <p:spPr>
          <a:xfrm>
            <a:off x="548640" y="5806440"/>
            <a:ext cx="11091672" cy="365760"/>
          </a:xfrm>
          <a:prstGeom prst="rect">
            <a:avLst/>
          </a:prstGeom>
          <a:solidFill>
            <a:srgbClr val="EDF4F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7" name="TextBox 46"/>
          <p:cNvSpPr txBox="1"/>
          <p:nvPr/>
        </p:nvSpPr>
        <p:spPr>
          <a:xfrm>
            <a:off x="713232" y="5856731"/>
            <a:ext cx="10744200" cy="274320"/>
          </a:xfrm>
          <a:prstGeom prst="rect">
            <a:avLst/>
          </a:prstGeom>
          <a:noFill/>
        </p:spPr>
        <p:txBody>
          <a:bodyPr wrap="square" lIns="0" rIns="0" tIns="0" bIns="0">
            <a:spAutoFit/>
          </a:bodyPr>
          <a:lstStyle/>
          <a:p>
            <a:pPr>
              <a:spcBef>
                <a:spcPts val="0"/>
              </a:spcBef>
              <a:spcAft>
                <a:spcPts val="500"/>
              </a:spcAft>
              <a:defRPr sz="1500" b="1">
                <a:solidFill>
                  <a:srgbClr val="127B80"/>
                </a:solidFill>
                <a:latin typeface="Arial"/>
              </a:defRPr>
            </a:pPr>
            <a:r>
              <a:t>D20 trên MotorBike: giảm AP tương đối 96,14–98,30% so với baseline huấn luyện trên MotorBike.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999" cy="59436"/>
          </a:xfrm>
          <a:prstGeom prst="rect">
            <a:avLst/>
          </a:prstGeom>
          <a:solidFill>
            <a:srgbClr val="127B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48640" y="256032"/>
            <a:ext cx="10972800" cy="228600"/>
          </a:xfrm>
          <a:prstGeom prst="rect">
            <a:avLst/>
          </a:prstGeom>
          <a:noFill/>
        </p:spPr>
        <p:txBody>
          <a:bodyPr wrap="square" lIns="0" rIns="0" tIns="0" bIns="0">
            <a:spAutoFit/>
          </a:bodyPr>
          <a:lstStyle/>
          <a:p>
            <a:pPr>
              <a:spcBef>
                <a:spcPts val="0"/>
              </a:spcBef>
              <a:spcAft>
                <a:spcPts val="500"/>
              </a:spcAft>
              <a:defRPr sz="1100" b="1">
                <a:solidFill>
                  <a:srgbClr val="127B80"/>
                </a:solidFill>
                <a:latin typeface="Arial"/>
              </a:defRPr>
            </a:pPr>
            <a:r>
              <a:t>06 · KẾT QUẢ THỰC NGHIỆM</a:t>
            </a:r>
          </a:p>
        </p:txBody>
      </p:sp>
      <p:sp>
        <p:nvSpPr>
          <p:cNvPr id="4" name="TextBox 3"/>
          <p:cNvSpPr txBox="1"/>
          <p:nvPr/>
        </p:nvSpPr>
        <p:spPr>
          <a:xfrm>
            <a:off x="548640" y="768096"/>
            <a:ext cx="11109960" cy="822960"/>
          </a:xfrm>
          <a:prstGeom prst="rect">
            <a:avLst/>
          </a:prstGeom>
          <a:noFill/>
        </p:spPr>
        <p:txBody>
          <a:bodyPr wrap="square" lIns="0" rIns="0" tIns="0" bIns="0">
            <a:spAutoFit/>
          </a:bodyPr>
          <a:lstStyle/>
          <a:p>
            <a:pPr>
              <a:spcBef>
                <a:spcPts val="0"/>
              </a:spcBef>
              <a:spcAft>
                <a:spcPts val="500"/>
              </a:spcAft>
              <a:defRPr sz="2700" b="1">
                <a:solidFill>
                  <a:srgbClr val="173348"/>
                </a:solidFill>
                <a:latin typeface="Arial"/>
              </a:defRPr>
            </a:pPr>
            <a:r>
              <a:t>Lọc ảnh có nhãn ngoài phạm vi vẫn giữ chiều gap</a:t>
            </a:r>
          </a:p>
        </p:txBody>
      </p:sp>
      <p:cxnSp>
        <p:nvCxnSpPr>
          <p:cNvPr id="5" name="Connector 4"/>
          <p:cNvCxnSpPr/>
          <p:nvPr/>
        </p:nvCxnSpPr>
        <p:spPr>
          <a:xfrm>
            <a:off x="548640" y="6327648"/>
            <a:ext cx="11091672" cy="0"/>
          </a:xfrm>
          <a:prstGeom prst="line">
            <a:avLst/>
          </a:prstGeom>
          <a:ln w="16510">
            <a:solidFill>
              <a:srgbClr val="DCE6EC"/>
            </a:solidFill>
          </a:ln>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548640" y="6446520"/>
            <a:ext cx="10652760" cy="274320"/>
          </a:xfrm>
          <a:prstGeom prst="rect">
            <a:avLst/>
          </a:prstGeom>
          <a:noFill/>
        </p:spPr>
        <p:txBody>
          <a:bodyPr wrap="square" lIns="0" rIns="0" tIns="0" bIns="0">
            <a:spAutoFit/>
          </a:bodyPr>
          <a:lstStyle/>
          <a:p>
            <a:pPr>
              <a:spcBef>
                <a:spcPts val="0"/>
              </a:spcBef>
              <a:spcAft>
                <a:spcPts val="500"/>
              </a:spcAft>
              <a:defRPr sz="1000" b="0">
                <a:solidFill>
                  <a:srgbClr val="536778"/>
                </a:solidFill>
                <a:latin typeface="Arial"/>
              </a:defRPr>
            </a:pPr>
            <a:r>
              <a:t>Nguồn: paper, phần IV; data/gap_summary.csv · Clean-only: Drone 273 ảnh, MotorBike 271 ảnh</a:t>
            </a:r>
          </a:p>
        </p:txBody>
      </p:sp>
      <p:sp>
        <p:nvSpPr>
          <p:cNvPr id="7" name="TextBox 6"/>
          <p:cNvSpPr txBox="1"/>
          <p:nvPr/>
        </p:nvSpPr>
        <p:spPr>
          <a:xfrm>
            <a:off x="11155680" y="6419088"/>
            <a:ext cx="484632" cy="292608"/>
          </a:xfrm>
          <a:prstGeom prst="rect">
            <a:avLst/>
          </a:prstGeom>
          <a:noFill/>
        </p:spPr>
        <p:txBody>
          <a:bodyPr wrap="square" lIns="0" rIns="0" tIns="0" bIns="0">
            <a:spAutoFit/>
          </a:bodyPr>
          <a:lstStyle/>
          <a:p>
            <a:pPr algn="r">
              <a:spcBef>
                <a:spcPts val="0"/>
              </a:spcBef>
              <a:spcAft>
                <a:spcPts val="500"/>
              </a:spcAft>
              <a:defRPr sz="1200" b="1">
                <a:solidFill>
                  <a:srgbClr val="127B80"/>
                </a:solidFill>
                <a:latin typeface="Arial"/>
              </a:defRPr>
            </a:pPr>
            <a:r>
              <a:t>16</a:t>
            </a:r>
          </a:p>
        </p:txBody>
      </p:sp>
      <p:graphicFrame>
        <p:nvGraphicFramePr>
          <p:cNvPr id="8" name="Table 7"/>
          <p:cNvGraphicFramePr>
            <a:graphicFrameLocks noGrp="1"/>
          </p:cNvGraphicFramePr>
          <p:nvPr/>
        </p:nvGraphicFramePr>
        <p:xfrm>
          <a:off x="685800" y="1828800"/>
          <a:ext cx="10835640" cy="2706624"/>
        </p:xfrm>
        <a:graphic>
          <a:graphicData uri="http://schemas.openxmlformats.org/drawingml/2006/table">
            <a:tbl>
              <a:tblPr firstRow="1" bandRow="1">
                <a:tableStyleId>{5C22544A-7EE6-4342-B048-85BDC9FD1C3A}</a:tableStyleId>
              </a:tblPr>
              <a:tblGrid>
                <a:gridCol w="2240280"/>
                <a:gridCol w="2057400"/>
                <a:gridCol w="2057400"/>
                <a:gridCol w="2240280"/>
                <a:gridCol w="2240280"/>
              </a:tblGrid>
              <a:tr h="676656">
                <a:tc>
                  <a:txBody>
                    <a:bodyPr/>
                    <a:lstStyle/>
                    <a:p>
                      <a:pPr>
                        <a:defRPr sz="1900" b="1">
                          <a:solidFill>
                            <a:srgbClr val="FFFFFF"/>
                          </a:solidFill>
                          <a:latin typeface="Arial"/>
                        </a:defRPr>
                      </a:pPr>
                      <a:r>
                        <a:t>Model</a:t>
                      </a:r>
                    </a:p>
                  </a:txBody>
                  <a:tcPr marL="118872" marR="91440" marT="91440" marB="45720" anchor="ctr">
                    <a:solidFill>
                      <a:srgbClr val="173348"/>
                    </a:solidFill>
                  </a:tcPr>
                </a:tc>
                <a:tc>
                  <a:txBody>
                    <a:bodyPr/>
                    <a:lstStyle/>
                    <a:p>
                      <a:pPr>
                        <a:defRPr sz="1900" b="1">
                          <a:solidFill>
                            <a:srgbClr val="FFFFFF"/>
                          </a:solidFill>
                          <a:latin typeface="Arial"/>
                        </a:defRPr>
                      </a:pPr>
                      <a:r>
                        <a:t>Drone: full</a:t>
                      </a:r>
                    </a:p>
                  </a:txBody>
                  <a:tcPr marL="118872" marR="91440" marT="91440" marB="45720" anchor="ctr">
                    <a:solidFill>
                      <a:srgbClr val="173348"/>
                    </a:solidFill>
                  </a:tcPr>
                </a:tc>
                <a:tc>
                  <a:txBody>
                    <a:bodyPr/>
                    <a:lstStyle/>
                    <a:p>
                      <a:pPr>
                        <a:defRPr sz="1900" b="1">
                          <a:solidFill>
                            <a:srgbClr val="FFFFFF"/>
                          </a:solidFill>
                          <a:latin typeface="Arial"/>
                        </a:defRPr>
                      </a:pPr>
                      <a:r>
                        <a:t>Drone: clean</a:t>
                      </a:r>
                    </a:p>
                  </a:txBody>
                  <a:tcPr marL="118872" marR="91440" marT="91440" marB="45720" anchor="ctr">
                    <a:solidFill>
                      <a:srgbClr val="173348"/>
                    </a:solidFill>
                  </a:tcPr>
                </a:tc>
                <a:tc>
                  <a:txBody>
                    <a:bodyPr/>
                    <a:lstStyle/>
                    <a:p>
                      <a:pPr>
                        <a:defRPr sz="1900" b="1">
                          <a:solidFill>
                            <a:srgbClr val="FFFFFF"/>
                          </a:solidFill>
                          <a:latin typeface="Arial"/>
                        </a:defRPr>
                      </a:pPr>
                      <a:r>
                        <a:t>MotorBike: full</a:t>
                      </a:r>
                    </a:p>
                  </a:txBody>
                  <a:tcPr marL="118872" marR="91440" marT="91440" marB="45720" anchor="ctr">
                    <a:solidFill>
                      <a:srgbClr val="173348"/>
                    </a:solidFill>
                  </a:tcPr>
                </a:tc>
                <a:tc>
                  <a:txBody>
                    <a:bodyPr/>
                    <a:lstStyle/>
                    <a:p>
                      <a:pPr>
                        <a:defRPr sz="1900" b="1">
                          <a:solidFill>
                            <a:srgbClr val="FFFFFF"/>
                          </a:solidFill>
                          <a:latin typeface="Arial"/>
                        </a:defRPr>
                      </a:pPr>
                      <a:r>
                        <a:t>MotorBike: clean</a:t>
                      </a:r>
                    </a:p>
                  </a:txBody>
                  <a:tcPr marL="118872" marR="91440" marT="91440" marB="45720" anchor="ctr">
                    <a:solidFill>
                      <a:srgbClr val="173348"/>
                    </a:solidFill>
                  </a:tcPr>
                </a:tc>
              </a:tr>
              <a:tr h="676656">
                <a:tc>
                  <a:txBody>
                    <a:bodyPr/>
                    <a:lstStyle/>
                    <a:p>
                      <a:pPr>
                        <a:defRPr sz="1900" b="0">
                          <a:solidFill>
                            <a:srgbClr val="173348"/>
                          </a:solidFill>
                          <a:latin typeface="Arial"/>
                        </a:defRPr>
                      </a:pPr>
                      <a:r>
                        <a:t>YOLO11n</a:t>
                      </a:r>
                    </a:p>
                  </a:txBody>
                  <a:tcPr marL="118872" marR="91440" marT="91440" marB="45720" anchor="ctr">
                    <a:solidFill>
                      <a:srgbClr val="F2F6F8"/>
                    </a:solidFill>
                  </a:tcPr>
                </a:tc>
                <a:tc>
                  <a:txBody>
                    <a:bodyPr/>
                    <a:lstStyle/>
                    <a:p>
                      <a:pPr>
                        <a:defRPr sz="1900" b="0">
                          <a:solidFill>
                            <a:srgbClr val="173348"/>
                          </a:solidFill>
                          <a:latin typeface="Arial"/>
                        </a:defRPr>
                      </a:pPr>
                      <a:r>
                        <a:t>15.13</a:t>
                      </a:r>
                    </a:p>
                  </a:txBody>
                  <a:tcPr marL="118872" marR="91440" marT="91440" marB="45720" anchor="ctr">
                    <a:solidFill>
                      <a:srgbClr val="F2F6F8"/>
                    </a:solidFill>
                  </a:tcPr>
                </a:tc>
                <a:tc>
                  <a:txBody>
                    <a:bodyPr/>
                    <a:lstStyle/>
                    <a:p>
                      <a:pPr>
                        <a:defRPr sz="1900" b="0">
                          <a:solidFill>
                            <a:srgbClr val="173348"/>
                          </a:solidFill>
                          <a:latin typeface="Arial"/>
                        </a:defRPr>
                      </a:pPr>
                      <a:r>
                        <a:t>14.93</a:t>
                      </a:r>
                    </a:p>
                  </a:txBody>
                  <a:tcPr marL="118872" marR="91440" marT="91440" marB="45720" anchor="ctr">
                    <a:solidFill>
                      <a:srgbClr val="F2F6F8"/>
                    </a:solidFill>
                  </a:tcPr>
                </a:tc>
                <a:tc>
                  <a:txBody>
                    <a:bodyPr/>
                    <a:lstStyle/>
                    <a:p>
                      <a:pPr>
                        <a:defRPr sz="1900" b="0">
                          <a:solidFill>
                            <a:srgbClr val="173348"/>
                          </a:solidFill>
                          <a:latin typeface="Arial"/>
                        </a:defRPr>
                      </a:pPr>
                      <a:r>
                        <a:t>42.94</a:t>
                      </a:r>
                    </a:p>
                  </a:txBody>
                  <a:tcPr marL="118872" marR="91440" marT="91440" marB="45720" anchor="ctr">
                    <a:solidFill>
                      <a:srgbClr val="F2F6F8"/>
                    </a:solidFill>
                  </a:tcPr>
                </a:tc>
                <a:tc>
                  <a:txBody>
                    <a:bodyPr/>
                    <a:lstStyle/>
                    <a:p>
                      <a:pPr>
                        <a:defRPr sz="1900" b="0">
                          <a:solidFill>
                            <a:srgbClr val="173348"/>
                          </a:solidFill>
                          <a:latin typeface="Arial"/>
                        </a:defRPr>
                      </a:pPr>
                      <a:r>
                        <a:t>43.86</a:t>
                      </a:r>
                    </a:p>
                  </a:txBody>
                  <a:tcPr marL="118872" marR="91440" marT="91440" marB="45720" anchor="ctr">
                    <a:solidFill>
                      <a:srgbClr val="F2F6F8"/>
                    </a:solidFill>
                  </a:tcPr>
                </a:tc>
              </a:tr>
              <a:tr h="676656">
                <a:tc>
                  <a:txBody>
                    <a:bodyPr/>
                    <a:lstStyle/>
                    <a:p>
                      <a:pPr>
                        <a:defRPr sz="1900" b="0">
                          <a:solidFill>
                            <a:srgbClr val="173348"/>
                          </a:solidFill>
                          <a:latin typeface="Arial"/>
                        </a:defRPr>
                      </a:pPr>
                      <a:r>
                        <a:t>YOLOv8n</a:t>
                      </a:r>
                    </a:p>
                  </a:txBody>
                  <a:tcPr marL="118872" marR="91440" marT="91440" marB="45720" anchor="ctr">
                    <a:solidFill>
                      <a:srgbClr val="FFFFFF"/>
                    </a:solidFill>
                  </a:tcPr>
                </a:tc>
                <a:tc>
                  <a:txBody>
                    <a:bodyPr/>
                    <a:lstStyle/>
                    <a:p>
                      <a:pPr>
                        <a:defRPr sz="1900" b="0">
                          <a:solidFill>
                            <a:srgbClr val="173348"/>
                          </a:solidFill>
                          <a:latin typeface="Arial"/>
                        </a:defRPr>
                      </a:pPr>
                      <a:r>
                        <a:t>14.86</a:t>
                      </a:r>
                    </a:p>
                  </a:txBody>
                  <a:tcPr marL="118872" marR="91440" marT="91440" marB="45720" anchor="ctr">
                    <a:solidFill>
                      <a:srgbClr val="FFFFFF"/>
                    </a:solidFill>
                  </a:tcPr>
                </a:tc>
                <a:tc>
                  <a:txBody>
                    <a:bodyPr/>
                    <a:lstStyle/>
                    <a:p>
                      <a:pPr>
                        <a:defRPr sz="1900" b="0">
                          <a:solidFill>
                            <a:srgbClr val="173348"/>
                          </a:solidFill>
                          <a:latin typeface="Arial"/>
                        </a:defRPr>
                      </a:pPr>
                      <a:r>
                        <a:t>15.25</a:t>
                      </a:r>
                    </a:p>
                  </a:txBody>
                  <a:tcPr marL="118872" marR="91440" marT="91440" marB="45720" anchor="ctr">
                    <a:solidFill>
                      <a:srgbClr val="FFFFFF"/>
                    </a:solidFill>
                  </a:tcPr>
                </a:tc>
                <a:tc>
                  <a:txBody>
                    <a:bodyPr/>
                    <a:lstStyle/>
                    <a:p>
                      <a:pPr>
                        <a:defRPr sz="1900" b="0">
                          <a:solidFill>
                            <a:srgbClr val="173348"/>
                          </a:solidFill>
                          <a:latin typeface="Arial"/>
                        </a:defRPr>
                      </a:pPr>
                      <a:r>
                        <a:t>41.24</a:t>
                      </a:r>
                    </a:p>
                  </a:txBody>
                  <a:tcPr marL="118872" marR="91440" marT="91440" marB="45720" anchor="ctr">
                    <a:solidFill>
                      <a:srgbClr val="FFFFFF"/>
                    </a:solidFill>
                  </a:tcPr>
                </a:tc>
                <a:tc>
                  <a:txBody>
                    <a:bodyPr/>
                    <a:lstStyle/>
                    <a:p>
                      <a:pPr>
                        <a:defRPr sz="1900" b="0">
                          <a:solidFill>
                            <a:srgbClr val="173348"/>
                          </a:solidFill>
                          <a:latin typeface="Arial"/>
                        </a:defRPr>
                      </a:pPr>
                      <a:r>
                        <a:t>41.87</a:t>
                      </a:r>
                    </a:p>
                  </a:txBody>
                  <a:tcPr marL="118872" marR="91440" marT="91440" marB="45720" anchor="ctr">
                    <a:solidFill>
                      <a:srgbClr val="FFFFFF"/>
                    </a:solidFill>
                  </a:tcPr>
                </a:tc>
              </a:tr>
              <a:tr h="676656">
                <a:tc>
                  <a:txBody>
                    <a:bodyPr/>
                    <a:lstStyle/>
                    <a:p>
                      <a:pPr>
                        <a:defRPr sz="1900" b="0">
                          <a:solidFill>
                            <a:srgbClr val="173348"/>
                          </a:solidFill>
                          <a:latin typeface="Arial"/>
                        </a:defRPr>
                      </a:pPr>
                      <a:r>
                        <a:t>YOLO26n</a:t>
                      </a:r>
                    </a:p>
                  </a:txBody>
                  <a:tcPr marL="118872" marR="91440" marT="91440" marB="45720" anchor="ctr">
                    <a:solidFill>
                      <a:srgbClr val="F2F6F8"/>
                    </a:solidFill>
                  </a:tcPr>
                </a:tc>
                <a:tc>
                  <a:txBody>
                    <a:bodyPr/>
                    <a:lstStyle/>
                    <a:p>
                      <a:pPr>
                        <a:defRPr sz="1900" b="0">
                          <a:solidFill>
                            <a:srgbClr val="173348"/>
                          </a:solidFill>
                          <a:latin typeface="Arial"/>
                        </a:defRPr>
                      </a:pPr>
                      <a:r>
                        <a:t>16.91</a:t>
                      </a:r>
                    </a:p>
                  </a:txBody>
                  <a:tcPr marL="118872" marR="91440" marT="91440" marB="45720" anchor="ctr">
                    <a:solidFill>
                      <a:srgbClr val="F2F6F8"/>
                    </a:solidFill>
                  </a:tcPr>
                </a:tc>
                <a:tc>
                  <a:txBody>
                    <a:bodyPr/>
                    <a:lstStyle/>
                    <a:p>
                      <a:pPr>
                        <a:defRPr sz="1900" b="0">
                          <a:solidFill>
                            <a:srgbClr val="173348"/>
                          </a:solidFill>
                          <a:latin typeface="Arial"/>
                        </a:defRPr>
                      </a:pPr>
                      <a:r>
                        <a:t>16.59</a:t>
                      </a:r>
                    </a:p>
                  </a:txBody>
                  <a:tcPr marL="118872" marR="91440" marT="91440" marB="45720" anchor="ctr">
                    <a:solidFill>
                      <a:srgbClr val="F2F6F8"/>
                    </a:solidFill>
                  </a:tcPr>
                </a:tc>
                <a:tc>
                  <a:txBody>
                    <a:bodyPr/>
                    <a:lstStyle/>
                    <a:p>
                      <a:pPr>
                        <a:defRPr sz="1900" b="0">
                          <a:solidFill>
                            <a:srgbClr val="173348"/>
                          </a:solidFill>
                          <a:latin typeface="Arial"/>
                        </a:defRPr>
                      </a:pPr>
                      <a:r>
                        <a:t>42.27</a:t>
                      </a:r>
                    </a:p>
                  </a:txBody>
                  <a:tcPr marL="118872" marR="91440" marT="91440" marB="45720" anchor="ctr">
                    <a:solidFill>
                      <a:srgbClr val="F2F6F8"/>
                    </a:solidFill>
                  </a:tcPr>
                </a:tc>
                <a:tc>
                  <a:txBody>
                    <a:bodyPr/>
                    <a:lstStyle/>
                    <a:p>
                      <a:pPr>
                        <a:defRPr sz="1900" b="0">
                          <a:solidFill>
                            <a:srgbClr val="173348"/>
                          </a:solidFill>
                          <a:latin typeface="Arial"/>
                        </a:defRPr>
                      </a:pPr>
                      <a:r>
                        <a:t>42.60</a:t>
                      </a:r>
                    </a:p>
                  </a:txBody>
                  <a:tcPr marL="118872" marR="91440" marT="91440" marB="45720" anchor="ctr">
                    <a:solidFill>
                      <a:srgbClr val="F2F6F8"/>
                    </a:solidFill>
                  </a:tcPr>
                </a:tc>
              </a:tr>
            </a:tbl>
          </a:graphicData>
        </a:graphic>
      </p:graphicFrame>
      <p:sp>
        <p:nvSpPr>
          <p:cNvPr id="9" name="TextBox 8"/>
          <p:cNvSpPr txBox="1"/>
          <p:nvPr/>
        </p:nvSpPr>
        <p:spPr>
          <a:xfrm>
            <a:off x="777240" y="4892040"/>
            <a:ext cx="10607040" cy="594360"/>
          </a:xfrm>
          <a:prstGeom prst="rect">
            <a:avLst/>
          </a:prstGeom>
          <a:noFill/>
        </p:spPr>
        <p:txBody>
          <a:bodyPr wrap="square" lIns="0" rIns="0" tIns="0" bIns="0">
            <a:spAutoFit/>
          </a:bodyPr>
          <a:lstStyle/>
          <a:p>
            <a:pPr>
              <a:spcBef>
                <a:spcPts val="0"/>
              </a:spcBef>
              <a:spcAft>
                <a:spcPts val="500"/>
              </a:spcAft>
              <a:defRPr sz="2300" b="1">
                <a:solidFill>
                  <a:srgbClr val="127B80"/>
                </a:solidFill>
                <a:latin typeface="Arial"/>
              </a:defRPr>
            </a:pPr>
            <a:r>
              <a:t>Cả 18 so sánh clean-only vẫn dương; bảng ghi mean gap (pp), n = 3.</a:t>
            </a:r>
          </a:p>
        </p:txBody>
      </p:sp>
      <p:sp>
        <p:nvSpPr>
          <p:cNvPr id="10" name="Rectangle 9"/>
          <p:cNvSpPr/>
          <p:nvPr/>
        </p:nvSpPr>
        <p:spPr>
          <a:xfrm>
            <a:off x="548640" y="5806440"/>
            <a:ext cx="11091672" cy="365760"/>
          </a:xfrm>
          <a:prstGeom prst="rect">
            <a:avLst/>
          </a:prstGeom>
          <a:solidFill>
            <a:srgbClr val="EDF4F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713232" y="5856731"/>
            <a:ext cx="10744200" cy="274320"/>
          </a:xfrm>
          <a:prstGeom prst="rect">
            <a:avLst/>
          </a:prstGeom>
          <a:noFill/>
        </p:spPr>
        <p:txBody>
          <a:bodyPr wrap="square" lIns="0" rIns="0" tIns="0" bIns="0">
            <a:spAutoFit/>
          </a:bodyPr>
          <a:lstStyle/>
          <a:p>
            <a:pPr>
              <a:spcBef>
                <a:spcPts val="0"/>
              </a:spcBef>
              <a:spcAft>
                <a:spcPts val="500"/>
              </a:spcAft>
              <a:defRPr sz="1500" b="1">
                <a:solidFill>
                  <a:srgbClr val="127B80"/>
                </a:solidFill>
                <a:latin typeface="Arial"/>
              </a:defRPr>
            </a:pPr>
            <a:r>
              <a:t>Clean-only thay đổi thành phần ảnh test; chưa thể quy phần thay đổi metric chỉ cho tác động của nhãn bị lọc.</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999" cy="59436"/>
          </a:xfrm>
          <a:prstGeom prst="rect">
            <a:avLst/>
          </a:prstGeom>
          <a:solidFill>
            <a:srgbClr val="127B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48640" y="256032"/>
            <a:ext cx="10972800" cy="228600"/>
          </a:xfrm>
          <a:prstGeom prst="rect">
            <a:avLst/>
          </a:prstGeom>
          <a:noFill/>
        </p:spPr>
        <p:txBody>
          <a:bodyPr wrap="square" lIns="0" rIns="0" tIns="0" bIns="0">
            <a:spAutoFit/>
          </a:bodyPr>
          <a:lstStyle/>
          <a:p>
            <a:pPr>
              <a:spcBef>
                <a:spcPts val="0"/>
              </a:spcBef>
              <a:spcAft>
                <a:spcPts val="500"/>
              </a:spcAft>
              <a:defRPr sz="1100" b="1">
                <a:solidFill>
                  <a:srgbClr val="127B80"/>
                </a:solidFill>
                <a:latin typeface="Arial"/>
              </a:defRPr>
            </a:pPr>
            <a:r>
              <a:t>06 · KẾT QUẢ THỰC NGHIỆM</a:t>
            </a:r>
          </a:p>
        </p:txBody>
      </p:sp>
      <p:sp>
        <p:nvSpPr>
          <p:cNvPr id="4" name="TextBox 3"/>
          <p:cNvSpPr txBox="1"/>
          <p:nvPr/>
        </p:nvSpPr>
        <p:spPr>
          <a:xfrm>
            <a:off x="548640" y="768096"/>
            <a:ext cx="11109960" cy="822960"/>
          </a:xfrm>
          <a:prstGeom prst="rect">
            <a:avLst/>
          </a:prstGeom>
          <a:noFill/>
        </p:spPr>
        <p:txBody>
          <a:bodyPr wrap="square" lIns="0" rIns="0" tIns="0" bIns="0">
            <a:spAutoFit/>
          </a:bodyPr>
          <a:lstStyle/>
          <a:p>
            <a:pPr>
              <a:spcBef>
                <a:spcPts val="0"/>
              </a:spcBef>
              <a:spcAft>
                <a:spcPts val="500"/>
              </a:spcAft>
              <a:defRPr sz="2700" b="1">
                <a:solidFill>
                  <a:srgbClr val="173348"/>
                </a:solidFill>
                <a:latin typeface="Arial"/>
              </a:defRPr>
            </a:pPr>
            <a:r>
              <a:t>Ảnh lưu trữ minh họa nhãn thật và dự đoán validation</a:t>
            </a:r>
          </a:p>
        </p:txBody>
      </p:sp>
      <p:cxnSp>
        <p:nvCxnSpPr>
          <p:cNvPr id="5" name="Connector 4"/>
          <p:cNvCxnSpPr/>
          <p:nvPr/>
        </p:nvCxnSpPr>
        <p:spPr>
          <a:xfrm>
            <a:off x="548640" y="6327648"/>
            <a:ext cx="11091672" cy="0"/>
          </a:xfrm>
          <a:prstGeom prst="line">
            <a:avLst/>
          </a:prstGeom>
          <a:ln w="16510">
            <a:solidFill>
              <a:srgbClr val="DCE6EC"/>
            </a:solidFill>
          </a:ln>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548640" y="6446520"/>
            <a:ext cx="10652760" cy="274320"/>
          </a:xfrm>
          <a:prstGeom prst="rect">
            <a:avLst/>
          </a:prstGeom>
          <a:noFill/>
        </p:spPr>
        <p:txBody>
          <a:bodyPr wrap="square" lIns="0" rIns="0" tIns="0" bIns="0">
            <a:spAutoFit/>
          </a:bodyPr>
          <a:lstStyle/>
          <a:p>
            <a:pPr>
              <a:spcBef>
                <a:spcPts val="0"/>
              </a:spcBef>
              <a:spcAft>
                <a:spcPts val="500"/>
              </a:spcAft>
              <a:defRPr sz="1000" b="0">
                <a:solidFill>
                  <a:srgbClr val="536778"/>
                </a:solidFill>
                <a:latin typeface="Arial"/>
              </a:defRPr>
            </a:pPr>
            <a:r>
              <a:t>Nguồn: YOLO11n MotorBike seed 13 · run/val_batch0_{labels,pred}.jpg · China_MotorBike_001773.jpg</a:t>
            </a:r>
          </a:p>
        </p:txBody>
      </p:sp>
      <p:sp>
        <p:nvSpPr>
          <p:cNvPr id="7" name="TextBox 6"/>
          <p:cNvSpPr txBox="1"/>
          <p:nvPr/>
        </p:nvSpPr>
        <p:spPr>
          <a:xfrm>
            <a:off x="11155680" y="6419088"/>
            <a:ext cx="484632" cy="292608"/>
          </a:xfrm>
          <a:prstGeom prst="rect">
            <a:avLst/>
          </a:prstGeom>
          <a:noFill/>
        </p:spPr>
        <p:txBody>
          <a:bodyPr wrap="square" lIns="0" rIns="0" tIns="0" bIns="0">
            <a:spAutoFit/>
          </a:bodyPr>
          <a:lstStyle/>
          <a:p>
            <a:pPr algn="r">
              <a:spcBef>
                <a:spcPts val="0"/>
              </a:spcBef>
              <a:spcAft>
                <a:spcPts val="500"/>
              </a:spcAft>
              <a:defRPr sz="1200" b="1">
                <a:solidFill>
                  <a:srgbClr val="127B80"/>
                </a:solidFill>
                <a:latin typeface="Arial"/>
              </a:defRPr>
            </a:pPr>
            <a:r>
              <a:t>17</a:t>
            </a:r>
          </a:p>
        </p:txBody>
      </p:sp>
      <p:pic>
        <p:nvPicPr>
          <p:cNvPr id="8" name="Picture 7" descr="qual_gt.png"/>
          <p:cNvPicPr>
            <a:picLocks noChangeAspect="1"/>
          </p:cNvPicPr>
          <p:nvPr/>
        </p:nvPicPr>
        <p:blipFill>
          <a:blip r:embed="rId2"/>
          <a:stretch>
            <a:fillRect/>
          </a:stretch>
        </p:blipFill>
        <p:spPr>
          <a:xfrm>
            <a:off x="859734" y="1865376"/>
            <a:ext cx="3721210" cy="3566160"/>
          </a:xfrm>
          <a:prstGeom prst="rect">
            <a:avLst/>
          </a:prstGeom>
        </p:spPr>
      </p:pic>
      <p:pic>
        <p:nvPicPr>
          <p:cNvPr id="9" name="Picture 8" descr="qual_pred.png"/>
          <p:cNvPicPr>
            <a:picLocks noChangeAspect="1"/>
          </p:cNvPicPr>
          <p:nvPr/>
        </p:nvPicPr>
        <p:blipFill>
          <a:blip r:embed="rId3"/>
          <a:stretch>
            <a:fillRect/>
          </a:stretch>
        </p:blipFill>
        <p:spPr>
          <a:xfrm>
            <a:off x="5020254" y="1865376"/>
            <a:ext cx="3721210" cy="3566160"/>
          </a:xfrm>
          <a:prstGeom prst="rect">
            <a:avLst/>
          </a:prstGeom>
        </p:spPr>
      </p:pic>
      <p:sp>
        <p:nvSpPr>
          <p:cNvPr id="10" name="TextBox 9"/>
          <p:cNvSpPr txBox="1"/>
          <p:nvPr/>
        </p:nvSpPr>
        <p:spPr>
          <a:xfrm>
            <a:off x="914400" y="1527048"/>
            <a:ext cx="3657600" cy="347472"/>
          </a:xfrm>
          <a:prstGeom prst="rect">
            <a:avLst/>
          </a:prstGeom>
          <a:noFill/>
        </p:spPr>
        <p:txBody>
          <a:bodyPr wrap="square" lIns="0" rIns="0" tIns="0" bIns="0">
            <a:spAutoFit/>
          </a:bodyPr>
          <a:lstStyle/>
          <a:p>
            <a:pPr>
              <a:spcBef>
                <a:spcPts val="0"/>
              </a:spcBef>
              <a:spcAft>
                <a:spcPts val="500"/>
              </a:spcAft>
              <a:defRPr sz="2000" b="1">
                <a:solidFill>
                  <a:srgbClr val="127B80"/>
                </a:solidFill>
                <a:latin typeface="Arial"/>
              </a:defRPr>
            </a:pPr>
            <a:r>
              <a:t>Nhãn thật (GT)</a:t>
            </a:r>
          </a:p>
        </p:txBody>
      </p:sp>
      <p:sp>
        <p:nvSpPr>
          <p:cNvPr id="11" name="TextBox 10"/>
          <p:cNvSpPr txBox="1"/>
          <p:nvPr/>
        </p:nvSpPr>
        <p:spPr>
          <a:xfrm>
            <a:off x="5084064" y="1527048"/>
            <a:ext cx="3657600" cy="347472"/>
          </a:xfrm>
          <a:prstGeom prst="rect">
            <a:avLst/>
          </a:prstGeom>
          <a:noFill/>
        </p:spPr>
        <p:txBody>
          <a:bodyPr wrap="square" lIns="0" rIns="0" tIns="0" bIns="0">
            <a:spAutoFit/>
          </a:bodyPr>
          <a:lstStyle/>
          <a:p>
            <a:pPr>
              <a:spcBef>
                <a:spcPts val="0"/>
              </a:spcBef>
              <a:spcAft>
                <a:spcPts val="500"/>
              </a:spcAft>
              <a:defRPr sz="2000" b="1">
                <a:solidFill>
                  <a:srgbClr val="127B80"/>
                </a:solidFill>
                <a:latin typeface="Arial"/>
              </a:defRPr>
            </a:pPr>
            <a:r>
              <a:t>Dự đoán được lưu</a:t>
            </a:r>
          </a:p>
        </p:txBody>
      </p:sp>
      <p:sp>
        <p:nvSpPr>
          <p:cNvPr id="12" name="TextBox 11"/>
          <p:cNvSpPr txBox="1"/>
          <p:nvPr/>
        </p:nvSpPr>
        <p:spPr>
          <a:xfrm>
            <a:off x="9217152" y="2167128"/>
            <a:ext cx="2194560" cy="2514600"/>
          </a:xfrm>
          <a:prstGeom prst="rect">
            <a:avLst/>
          </a:prstGeom>
          <a:noFill/>
        </p:spPr>
        <p:txBody>
          <a:bodyPr wrap="square" lIns="0" rIns="0" tIns="0" bIns="0">
            <a:spAutoFit/>
          </a:bodyPr>
          <a:lstStyle/>
          <a:p>
            <a:pPr>
              <a:spcBef>
                <a:spcPts val="0"/>
              </a:spcBef>
              <a:spcAft>
                <a:spcPts val="500"/>
              </a:spcAft>
              <a:defRPr sz="2000" b="0">
                <a:solidFill>
                  <a:srgbClr val="173348"/>
                </a:solidFill>
                <a:latin typeface="Arial"/>
              </a:defRPr>
            </a:pPr>
            <a:r>
              <a:t>Cùng một ảnh</a:t>
            </a:r>
          </a:p>
          <a:p>
            <a:pPr>
              <a:spcBef>
                <a:spcPts val="0"/>
              </a:spcBef>
              <a:spcAft>
                <a:spcPts val="500"/>
              </a:spcAft>
              <a:defRPr sz="2000" b="0">
                <a:solidFill>
                  <a:srgbClr val="173348"/>
                </a:solidFill>
                <a:latin typeface="Arial"/>
              </a:defRPr>
            </a:pPr>
            <a:r>
              <a:t>Cùng miền nguồn</a:t>
            </a:r>
          </a:p>
          <a:p>
            <a:pPr>
              <a:spcBef>
                <a:spcPts val="0"/>
              </a:spcBef>
              <a:spcAft>
                <a:spcPts val="500"/>
              </a:spcAft>
              <a:defRPr sz="2000" b="0">
                <a:solidFill>
                  <a:srgbClr val="173348"/>
                </a:solidFill>
                <a:latin typeface="Arial"/>
              </a:defRPr>
            </a:pPr>
            <a:r>
              <a:t>Khung và điểm</a:t>
            </a:r>
          </a:p>
          <a:p>
            <a:pPr>
              <a:spcBef>
                <a:spcPts val="0"/>
              </a:spcBef>
              <a:spcAft>
                <a:spcPts val="500"/>
              </a:spcAft>
              <a:defRPr sz="2000" b="0">
                <a:solidFill>
                  <a:srgbClr val="173348"/>
                </a:solidFill>
                <a:latin typeface="Arial"/>
              </a:defRPr>
            </a:pPr>
            <a:r>
              <a:t>giữ như bản lưu</a:t>
            </a:r>
          </a:p>
        </p:txBody>
      </p:sp>
      <p:sp>
        <p:nvSpPr>
          <p:cNvPr id="13" name="Rectangle 12"/>
          <p:cNvSpPr/>
          <p:nvPr/>
        </p:nvSpPr>
        <p:spPr>
          <a:xfrm>
            <a:off x="548640" y="5806440"/>
            <a:ext cx="11091672" cy="365760"/>
          </a:xfrm>
          <a:prstGeom prst="rect">
            <a:avLst/>
          </a:prstGeom>
          <a:solidFill>
            <a:srgbClr val="EDF4F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713232" y="5856731"/>
            <a:ext cx="10744200" cy="274320"/>
          </a:xfrm>
          <a:prstGeom prst="rect">
            <a:avLst/>
          </a:prstGeom>
          <a:noFill/>
        </p:spPr>
        <p:txBody>
          <a:bodyPr wrap="square" lIns="0" rIns="0" tIns="0" bIns="0">
            <a:spAutoFit/>
          </a:bodyPr>
          <a:lstStyle/>
          <a:p>
            <a:pPr>
              <a:spcBef>
                <a:spcPts val="0"/>
              </a:spcBef>
              <a:spcAft>
                <a:spcPts val="500"/>
              </a:spcAft>
              <a:defRPr sz="1500" b="1">
                <a:solidFill>
                  <a:srgbClr val="127B80"/>
                </a:solidFill>
                <a:latin typeface="Arial"/>
              </a:defRPr>
            </a:pPr>
            <a:r>
              <a:t>Ví dụ minh họa validation; chưa thay thế kiểm tra FP/FN độc lập trên ảnh test xuyên miền.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999" cy="59436"/>
          </a:xfrm>
          <a:prstGeom prst="rect">
            <a:avLst/>
          </a:prstGeom>
          <a:solidFill>
            <a:srgbClr val="127B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48640" y="256032"/>
            <a:ext cx="10972800" cy="228600"/>
          </a:xfrm>
          <a:prstGeom prst="rect">
            <a:avLst/>
          </a:prstGeom>
          <a:noFill/>
        </p:spPr>
        <p:txBody>
          <a:bodyPr wrap="square" lIns="0" rIns="0" tIns="0" bIns="0">
            <a:spAutoFit/>
          </a:bodyPr>
          <a:lstStyle/>
          <a:p>
            <a:pPr>
              <a:spcBef>
                <a:spcPts val="0"/>
              </a:spcBef>
              <a:spcAft>
                <a:spcPts val="500"/>
              </a:spcAft>
              <a:defRPr sz="1100" b="1">
                <a:solidFill>
                  <a:srgbClr val="127B80"/>
                </a:solidFill>
                <a:latin typeface="Arial"/>
              </a:defRPr>
            </a:pPr>
            <a:r>
              <a:t>07 · HẠN CHẾ CỦA NGHIÊN CỨU</a:t>
            </a:r>
          </a:p>
        </p:txBody>
      </p:sp>
      <p:sp>
        <p:nvSpPr>
          <p:cNvPr id="4" name="TextBox 3"/>
          <p:cNvSpPr txBox="1"/>
          <p:nvPr/>
        </p:nvSpPr>
        <p:spPr>
          <a:xfrm>
            <a:off x="548640" y="768096"/>
            <a:ext cx="11109960" cy="822960"/>
          </a:xfrm>
          <a:prstGeom prst="rect">
            <a:avLst/>
          </a:prstGeom>
          <a:noFill/>
        </p:spPr>
        <p:txBody>
          <a:bodyPr wrap="square" lIns="0" rIns="0" tIns="0" bIns="0">
            <a:spAutoFit/>
          </a:bodyPr>
          <a:lstStyle/>
          <a:p>
            <a:pPr>
              <a:spcBef>
                <a:spcPts val="0"/>
              </a:spcBef>
              <a:spcAft>
                <a:spcPts val="500"/>
              </a:spcAft>
              <a:defRPr sz="2700" b="1">
                <a:solidFill>
                  <a:srgbClr val="173348"/>
                </a:solidFill>
                <a:latin typeface="Arial"/>
              </a:defRPr>
            </a:pPr>
            <a:r>
              <a:t>Bằng chứng còn bị giới hạn bởi cảnh, nguồn và cách kiểm chứng</a:t>
            </a:r>
          </a:p>
        </p:txBody>
      </p:sp>
      <p:cxnSp>
        <p:nvCxnSpPr>
          <p:cNvPr id="5" name="Connector 4"/>
          <p:cNvCxnSpPr/>
          <p:nvPr/>
        </p:nvCxnSpPr>
        <p:spPr>
          <a:xfrm>
            <a:off x="548640" y="6327648"/>
            <a:ext cx="11091672" cy="0"/>
          </a:xfrm>
          <a:prstGeom prst="line">
            <a:avLst/>
          </a:prstGeom>
          <a:ln w="16510">
            <a:solidFill>
              <a:srgbClr val="DCE6EC"/>
            </a:solidFill>
          </a:ln>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548640" y="6446520"/>
            <a:ext cx="10652760" cy="274320"/>
          </a:xfrm>
          <a:prstGeom prst="rect">
            <a:avLst/>
          </a:prstGeom>
          <a:noFill/>
        </p:spPr>
        <p:txBody>
          <a:bodyPr wrap="square" lIns="0" rIns="0" tIns="0" bIns="0">
            <a:spAutoFit/>
          </a:bodyPr>
          <a:lstStyle/>
          <a:p>
            <a:pPr>
              <a:spcBef>
                <a:spcPts val="0"/>
              </a:spcBef>
              <a:spcAft>
                <a:spcPts val="500"/>
              </a:spcAft>
              <a:defRPr sz="1000" b="0">
                <a:solidFill>
                  <a:srgbClr val="536778"/>
                </a:solidFill>
                <a:latin typeface="Arial"/>
              </a:defRPr>
            </a:pPr>
            <a:r>
              <a:t>Nguồn: paper, phần V · Giới hạn được giữ cùng các kết quả thuận và bất lợi</a:t>
            </a:r>
          </a:p>
        </p:txBody>
      </p:sp>
      <p:sp>
        <p:nvSpPr>
          <p:cNvPr id="7" name="TextBox 6"/>
          <p:cNvSpPr txBox="1"/>
          <p:nvPr/>
        </p:nvSpPr>
        <p:spPr>
          <a:xfrm>
            <a:off x="11155680" y="6419088"/>
            <a:ext cx="484632" cy="292608"/>
          </a:xfrm>
          <a:prstGeom prst="rect">
            <a:avLst/>
          </a:prstGeom>
          <a:noFill/>
        </p:spPr>
        <p:txBody>
          <a:bodyPr wrap="square" lIns="0" rIns="0" tIns="0" bIns="0">
            <a:spAutoFit/>
          </a:bodyPr>
          <a:lstStyle/>
          <a:p>
            <a:pPr algn="r">
              <a:spcBef>
                <a:spcPts val="0"/>
              </a:spcBef>
              <a:spcAft>
                <a:spcPts val="500"/>
              </a:spcAft>
              <a:defRPr sz="1200" b="1">
                <a:solidFill>
                  <a:srgbClr val="127B80"/>
                </a:solidFill>
                <a:latin typeface="Arial"/>
              </a:defRPr>
            </a:pPr>
            <a:r>
              <a:t>18</a:t>
            </a:r>
          </a:p>
        </p:txBody>
      </p:sp>
      <p:sp>
        <p:nvSpPr>
          <p:cNvPr id="8" name="TextBox 7"/>
          <p:cNvSpPr txBox="1"/>
          <p:nvPr/>
        </p:nvSpPr>
        <p:spPr>
          <a:xfrm>
            <a:off x="731520" y="1847088"/>
            <a:ext cx="5166360" cy="484632"/>
          </a:xfrm>
          <a:prstGeom prst="rect">
            <a:avLst/>
          </a:prstGeom>
          <a:noFill/>
        </p:spPr>
        <p:txBody>
          <a:bodyPr wrap="square" lIns="0" rIns="0" tIns="0" bIns="0">
            <a:spAutoFit/>
          </a:bodyPr>
          <a:lstStyle/>
          <a:p>
            <a:pPr>
              <a:spcBef>
                <a:spcPts val="0"/>
              </a:spcBef>
              <a:spcAft>
                <a:spcPts val="500"/>
              </a:spcAft>
              <a:defRPr sz="2300" b="1">
                <a:solidFill>
                  <a:srgbClr val="127B80"/>
                </a:solidFill>
                <a:latin typeface="Arial"/>
              </a:defRPr>
            </a:pPr>
            <a:r>
              <a:t>Yếu tố cùng thay đổi</a:t>
            </a:r>
          </a:p>
        </p:txBody>
      </p:sp>
      <p:sp>
        <p:nvSpPr>
          <p:cNvPr id="9" name="TextBox 8"/>
          <p:cNvSpPr txBox="1"/>
          <p:nvPr/>
        </p:nvSpPr>
        <p:spPr>
          <a:xfrm>
            <a:off x="731520" y="2514600"/>
            <a:ext cx="5029200" cy="960120"/>
          </a:xfrm>
          <a:prstGeom prst="rect">
            <a:avLst/>
          </a:prstGeom>
          <a:noFill/>
        </p:spPr>
        <p:txBody>
          <a:bodyPr wrap="square" lIns="0" rIns="0" tIns="0" bIns="0">
            <a:spAutoFit/>
          </a:bodyPr>
          <a:lstStyle/>
          <a:p>
            <a:pPr>
              <a:spcBef>
                <a:spcPts val="0"/>
              </a:spcBef>
              <a:spcAft>
                <a:spcPts val="500"/>
              </a:spcAft>
              <a:defRPr sz="2100" b="0">
                <a:solidFill>
                  <a:srgbClr val="173348"/>
                </a:solidFill>
                <a:latin typeface="Arial"/>
              </a:defRPr>
            </a:pPr>
            <a:r>
              <a:t>Góc nhìn, cỡ tập train, cảnh và phân bố lớp chưa được tách riêng.</a:t>
            </a:r>
          </a:p>
        </p:txBody>
      </p:sp>
      <p:sp>
        <p:nvSpPr>
          <p:cNvPr id="10" name="TextBox 9"/>
          <p:cNvSpPr txBox="1"/>
          <p:nvPr/>
        </p:nvSpPr>
        <p:spPr>
          <a:xfrm>
            <a:off x="6309359" y="1847088"/>
            <a:ext cx="5166360" cy="484632"/>
          </a:xfrm>
          <a:prstGeom prst="rect">
            <a:avLst/>
          </a:prstGeom>
          <a:noFill/>
        </p:spPr>
        <p:txBody>
          <a:bodyPr wrap="square" lIns="0" rIns="0" tIns="0" bIns="0">
            <a:spAutoFit/>
          </a:bodyPr>
          <a:lstStyle/>
          <a:p>
            <a:pPr>
              <a:spcBef>
                <a:spcPts val="0"/>
              </a:spcBef>
              <a:spcAft>
                <a:spcPts val="500"/>
              </a:spcAft>
              <a:defRPr sz="2300" b="1">
                <a:solidFill>
                  <a:srgbClr val="127B80"/>
                </a:solidFill>
                <a:latin typeface="Arial"/>
              </a:defRPr>
            </a:pPr>
            <a:r>
              <a:t>Phạm vi lặp lại hẹp</a:t>
            </a:r>
          </a:p>
        </p:txBody>
      </p:sp>
      <p:sp>
        <p:nvSpPr>
          <p:cNvPr id="11" name="TextBox 10"/>
          <p:cNvSpPr txBox="1"/>
          <p:nvPr/>
        </p:nvSpPr>
        <p:spPr>
          <a:xfrm>
            <a:off x="6309359" y="2514600"/>
            <a:ext cx="5029200" cy="960120"/>
          </a:xfrm>
          <a:prstGeom prst="rect">
            <a:avLst/>
          </a:prstGeom>
          <a:noFill/>
        </p:spPr>
        <p:txBody>
          <a:bodyPr wrap="square" lIns="0" rIns="0" tIns="0" bIns="0">
            <a:spAutoFit/>
          </a:bodyPr>
          <a:lstStyle/>
          <a:p>
            <a:pPr>
              <a:spcBef>
                <a:spcPts val="0"/>
              </a:spcBef>
              <a:spcAft>
                <a:spcPts val="500"/>
              </a:spcAft>
              <a:defRPr sz="2100" b="0">
                <a:solidFill>
                  <a:srgbClr val="173348"/>
                </a:solidFill>
                <a:latin typeface="Arial"/>
              </a:defRPr>
            </a:pPr>
            <a:r>
              <a:t>Ba seed và ba biến thể cùng họ; SD chưa phản ánh bất định theo cảnh.</a:t>
            </a:r>
          </a:p>
        </p:txBody>
      </p:sp>
      <p:sp>
        <p:nvSpPr>
          <p:cNvPr id="12" name="TextBox 11"/>
          <p:cNvSpPr txBox="1"/>
          <p:nvPr/>
        </p:nvSpPr>
        <p:spPr>
          <a:xfrm>
            <a:off x="731520" y="3712464"/>
            <a:ext cx="5166360" cy="484632"/>
          </a:xfrm>
          <a:prstGeom prst="rect">
            <a:avLst/>
          </a:prstGeom>
          <a:noFill/>
        </p:spPr>
        <p:txBody>
          <a:bodyPr wrap="square" lIns="0" rIns="0" tIns="0" bIns="0">
            <a:spAutoFit/>
          </a:bodyPr>
          <a:lstStyle/>
          <a:p>
            <a:pPr>
              <a:spcBef>
                <a:spcPts val="0"/>
              </a:spcBef>
              <a:spcAft>
                <a:spcPts val="500"/>
              </a:spcAft>
              <a:defRPr sz="2300" b="1">
                <a:solidFill>
                  <a:srgbClr val="127B80"/>
                </a:solidFill>
                <a:latin typeface="Arial"/>
              </a:defRPr>
            </a:pPr>
            <a:r>
              <a:t>Kiểm soát cảnh chưa tuyệt đối</a:t>
            </a:r>
          </a:p>
        </p:txBody>
      </p:sp>
      <p:sp>
        <p:nvSpPr>
          <p:cNvPr id="13" name="TextBox 12"/>
          <p:cNvSpPr txBox="1"/>
          <p:nvPr/>
        </p:nvSpPr>
        <p:spPr>
          <a:xfrm>
            <a:off x="731520" y="4379976"/>
            <a:ext cx="5029200" cy="960120"/>
          </a:xfrm>
          <a:prstGeom prst="rect">
            <a:avLst/>
          </a:prstGeom>
          <a:noFill/>
        </p:spPr>
        <p:txBody>
          <a:bodyPr wrap="square" lIns="0" rIns="0" tIns="0" bIns="0">
            <a:spAutoFit/>
          </a:bodyPr>
          <a:lstStyle/>
          <a:p>
            <a:pPr>
              <a:spcBef>
                <a:spcPts val="0"/>
              </a:spcBef>
              <a:spcAft>
                <a:spcPts val="500"/>
              </a:spcAft>
              <a:defRPr sz="2100" b="0">
                <a:solidFill>
                  <a:srgbClr val="173348"/>
                </a:solidFill>
                <a:latin typeface="Arial"/>
              </a:defRPr>
            </a:pPr>
            <a:r>
              <a:t>Bảo vệ liên kết đã nhận diện; từng xem một số ảnh MotorBike trước khi khóa split.</a:t>
            </a:r>
          </a:p>
        </p:txBody>
      </p:sp>
      <p:sp>
        <p:nvSpPr>
          <p:cNvPr id="14" name="TextBox 13"/>
          <p:cNvSpPr txBox="1"/>
          <p:nvPr/>
        </p:nvSpPr>
        <p:spPr>
          <a:xfrm>
            <a:off x="6309359" y="3712464"/>
            <a:ext cx="5166360" cy="484632"/>
          </a:xfrm>
          <a:prstGeom prst="rect">
            <a:avLst/>
          </a:prstGeom>
          <a:noFill/>
        </p:spPr>
        <p:txBody>
          <a:bodyPr wrap="square" lIns="0" rIns="0" tIns="0" bIns="0">
            <a:spAutoFit/>
          </a:bodyPr>
          <a:lstStyle/>
          <a:p>
            <a:pPr>
              <a:spcBef>
                <a:spcPts val="0"/>
              </a:spcBef>
              <a:spcAft>
                <a:spcPts val="500"/>
              </a:spcAft>
              <a:defRPr sz="2300" b="1">
                <a:solidFill>
                  <a:srgbClr val="127B80"/>
                </a:solidFill>
                <a:latin typeface="Arial"/>
              </a:defRPr>
            </a:pPr>
            <a:r>
              <a:t>Chưa replay độc lập</a:t>
            </a:r>
          </a:p>
        </p:txBody>
      </p:sp>
      <p:sp>
        <p:nvSpPr>
          <p:cNvPr id="15" name="TextBox 14"/>
          <p:cNvSpPr txBox="1"/>
          <p:nvPr/>
        </p:nvSpPr>
        <p:spPr>
          <a:xfrm>
            <a:off x="6309359" y="4379976"/>
            <a:ext cx="5029200" cy="960120"/>
          </a:xfrm>
          <a:prstGeom prst="rect">
            <a:avLst/>
          </a:prstGeom>
          <a:noFill/>
        </p:spPr>
        <p:txBody>
          <a:bodyPr wrap="square" lIns="0" rIns="0" tIns="0" bIns="0">
            <a:spAutoFit/>
          </a:bodyPr>
          <a:lstStyle/>
          <a:p>
            <a:pPr>
              <a:spcBef>
                <a:spcPts val="0"/>
              </a:spcBef>
              <a:spcAft>
                <a:spcPts val="500"/>
              </a:spcAft>
              <a:defRPr sz="2100" b="0">
                <a:solidFill>
                  <a:srgbClr val="173348"/>
                </a:solidFill>
                <a:latin typeface="Arial"/>
              </a:defRPr>
            </a:pPr>
            <a:r>
              <a:t>Chưa chạy lại inference/test hoặc audit ảnh–XML; D40 trên Drone có hỗ trợ thưa.</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999" cy="59436"/>
          </a:xfrm>
          <a:prstGeom prst="rect">
            <a:avLst/>
          </a:prstGeom>
          <a:solidFill>
            <a:srgbClr val="127B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48640" y="256032"/>
            <a:ext cx="10972800" cy="228600"/>
          </a:xfrm>
          <a:prstGeom prst="rect">
            <a:avLst/>
          </a:prstGeom>
          <a:noFill/>
        </p:spPr>
        <p:txBody>
          <a:bodyPr wrap="square" lIns="0" rIns="0" tIns="0" bIns="0">
            <a:spAutoFit/>
          </a:bodyPr>
          <a:lstStyle/>
          <a:p>
            <a:pPr>
              <a:spcBef>
                <a:spcPts val="0"/>
              </a:spcBef>
              <a:spcAft>
                <a:spcPts val="500"/>
              </a:spcAft>
              <a:defRPr sz="1100" b="1">
                <a:solidFill>
                  <a:srgbClr val="127B80"/>
                </a:solidFill>
                <a:latin typeface="Arial"/>
              </a:defRPr>
            </a:pPr>
            <a:r>
              <a:t>08 · KẾT LUẬN VÀ HƯỚNG PHÁT TRIỂN</a:t>
            </a:r>
          </a:p>
        </p:txBody>
      </p:sp>
      <p:sp>
        <p:nvSpPr>
          <p:cNvPr id="4" name="TextBox 3"/>
          <p:cNvSpPr txBox="1"/>
          <p:nvPr/>
        </p:nvSpPr>
        <p:spPr>
          <a:xfrm>
            <a:off x="548640" y="768096"/>
            <a:ext cx="11109960" cy="822960"/>
          </a:xfrm>
          <a:prstGeom prst="rect">
            <a:avLst/>
          </a:prstGeom>
          <a:noFill/>
        </p:spPr>
        <p:txBody>
          <a:bodyPr wrap="square" lIns="0" rIns="0" tIns="0" bIns="0">
            <a:spAutoFit/>
          </a:bodyPr>
          <a:lstStyle/>
          <a:p>
            <a:pPr>
              <a:spcBef>
                <a:spcPts val="0"/>
              </a:spcBef>
              <a:spcAft>
                <a:spcPts val="500"/>
              </a:spcAft>
              <a:defRPr sz="2700" b="1">
                <a:solidFill>
                  <a:srgbClr val="173348"/>
                </a:solidFill>
                <a:latin typeface="Arial"/>
              </a:defRPr>
            </a:pPr>
            <a:r>
              <a:t>YOLO26n tăng điểm tuyệt đối, gap xuyên miền vẫn lớn</a:t>
            </a:r>
          </a:p>
        </p:txBody>
      </p:sp>
      <p:cxnSp>
        <p:nvCxnSpPr>
          <p:cNvPr id="5" name="Connector 4"/>
          <p:cNvCxnSpPr/>
          <p:nvPr/>
        </p:nvCxnSpPr>
        <p:spPr>
          <a:xfrm>
            <a:off x="548640" y="6327648"/>
            <a:ext cx="11091672" cy="0"/>
          </a:xfrm>
          <a:prstGeom prst="line">
            <a:avLst/>
          </a:prstGeom>
          <a:ln w="16510">
            <a:solidFill>
              <a:srgbClr val="DCE6EC"/>
            </a:solidFill>
          </a:ln>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548640" y="6446520"/>
            <a:ext cx="10652760" cy="274320"/>
          </a:xfrm>
          <a:prstGeom prst="rect">
            <a:avLst/>
          </a:prstGeom>
          <a:noFill/>
        </p:spPr>
        <p:txBody>
          <a:bodyPr wrap="square" lIns="0" rIns="0" tIns="0" bIns="0">
            <a:spAutoFit/>
          </a:bodyPr>
          <a:lstStyle/>
          <a:p>
            <a:pPr>
              <a:spcBef>
                <a:spcPts val="0"/>
              </a:spcBef>
              <a:spcAft>
                <a:spcPts val="500"/>
              </a:spcAft>
              <a:defRPr sz="1000" b="0">
                <a:solidFill>
                  <a:srgbClr val="536778"/>
                </a:solidFill>
                <a:latin typeface="Arial"/>
              </a:defRPr>
            </a:pPr>
            <a:r>
              <a:t>Nguồn: paper, Kết luận; Bảng III, V, VI, VII · Các kết luận mang tính mô tả trên split khóa</a:t>
            </a:r>
          </a:p>
        </p:txBody>
      </p:sp>
      <p:sp>
        <p:nvSpPr>
          <p:cNvPr id="7" name="TextBox 6"/>
          <p:cNvSpPr txBox="1"/>
          <p:nvPr/>
        </p:nvSpPr>
        <p:spPr>
          <a:xfrm>
            <a:off x="11155680" y="6419088"/>
            <a:ext cx="484632" cy="292608"/>
          </a:xfrm>
          <a:prstGeom prst="rect">
            <a:avLst/>
          </a:prstGeom>
          <a:noFill/>
        </p:spPr>
        <p:txBody>
          <a:bodyPr wrap="square" lIns="0" rIns="0" tIns="0" bIns="0">
            <a:spAutoFit/>
          </a:bodyPr>
          <a:lstStyle/>
          <a:p>
            <a:pPr algn="r">
              <a:spcBef>
                <a:spcPts val="0"/>
              </a:spcBef>
              <a:spcAft>
                <a:spcPts val="500"/>
              </a:spcAft>
              <a:defRPr sz="1200" b="1">
                <a:solidFill>
                  <a:srgbClr val="127B80"/>
                </a:solidFill>
                <a:latin typeface="Arial"/>
              </a:defRPr>
            </a:pPr>
            <a:r>
              <a:t>19</a:t>
            </a:r>
          </a:p>
        </p:txBody>
      </p:sp>
      <p:sp>
        <p:nvSpPr>
          <p:cNvPr id="8" name="TextBox 7"/>
          <p:cNvSpPr txBox="1"/>
          <p:nvPr/>
        </p:nvSpPr>
        <p:spPr>
          <a:xfrm>
            <a:off x="777240" y="1828800"/>
            <a:ext cx="5486400" cy="685800"/>
          </a:xfrm>
          <a:prstGeom prst="rect">
            <a:avLst/>
          </a:prstGeom>
          <a:noFill/>
        </p:spPr>
        <p:txBody>
          <a:bodyPr wrap="square" lIns="0" rIns="0" tIns="0" bIns="0">
            <a:spAutoFit/>
          </a:bodyPr>
          <a:lstStyle/>
          <a:p>
            <a:pPr>
              <a:spcBef>
                <a:spcPts val="0"/>
              </a:spcBef>
              <a:spcAft>
                <a:spcPts val="500"/>
              </a:spcAft>
              <a:defRPr sz="3500" b="1">
                <a:solidFill>
                  <a:srgbClr val="127B80"/>
                </a:solidFill>
                <a:latin typeface="Arial"/>
              </a:defRPr>
            </a:pPr>
            <a:r>
              <a:t>14,86–16,91 pp</a:t>
            </a:r>
          </a:p>
        </p:txBody>
      </p:sp>
      <p:sp>
        <p:nvSpPr>
          <p:cNvPr id="9" name="TextBox 8"/>
          <p:cNvSpPr txBox="1"/>
          <p:nvPr/>
        </p:nvSpPr>
        <p:spPr>
          <a:xfrm>
            <a:off x="777240" y="2560320"/>
            <a:ext cx="5486400" cy="384048"/>
          </a:xfrm>
          <a:prstGeom prst="rect">
            <a:avLst/>
          </a:prstGeom>
          <a:noFill/>
        </p:spPr>
        <p:txBody>
          <a:bodyPr wrap="square" lIns="0" rIns="0" tIns="0" bIns="0">
            <a:spAutoFit/>
          </a:bodyPr>
          <a:lstStyle/>
          <a:p>
            <a:pPr>
              <a:spcBef>
                <a:spcPts val="0"/>
              </a:spcBef>
              <a:spcAft>
                <a:spcPts val="500"/>
              </a:spcAft>
              <a:defRPr sz="2100" b="0">
                <a:solidFill>
                  <a:srgbClr val="173348"/>
                </a:solidFill>
                <a:latin typeface="Arial"/>
              </a:defRPr>
            </a:pPr>
            <a:r>
              <a:t>Mean gap trên Drone Test</a:t>
            </a:r>
          </a:p>
        </p:txBody>
      </p:sp>
      <p:sp>
        <p:nvSpPr>
          <p:cNvPr id="10" name="TextBox 9"/>
          <p:cNvSpPr txBox="1"/>
          <p:nvPr/>
        </p:nvSpPr>
        <p:spPr>
          <a:xfrm>
            <a:off x="777240" y="3090672"/>
            <a:ext cx="5486400" cy="685800"/>
          </a:xfrm>
          <a:prstGeom prst="rect">
            <a:avLst/>
          </a:prstGeom>
          <a:noFill/>
        </p:spPr>
        <p:txBody>
          <a:bodyPr wrap="square" lIns="0" rIns="0" tIns="0" bIns="0">
            <a:spAutoFit/>
          </a:bodyPr>
          <a:lstStyle/>
          <a:p>
            <a:pPr>
              <a:spcBef>
                <a:spcPts val="0"/>
              </a:spcBef>
              <a:spcAft>
                <a:spcPts val="500"/>
              </a:spcAft>
              <a:defRPr sz="3500" b="1">
                <a:solidFill>
                  <a:srgbClr val="127B80"/>
                </a:solidFill>
                <a:latin typeface="Arial"/>
              </a:defRPr>
            </a:pPr>
            <a:r>
              <a:t>41,24–42,94 pp</a:t>
            </a:r>
          </a:p>
        </p:txBody>
      </p:sp>
      <p:sp>
        <p:nvSpPr>
          <p:cNvPr id="11" name="TextBox 10"/>
          <p:cNvSpPr txBox="1"/>
          <p:nvPr/>
        </p:nvSpPr>
        <p:spPr>
          <a:xfrm>
            <a:off x="777240" y="3822191"/>
            <a:ext cx="5486400" cy="384048"/>
          </a:xfrm>
          <a:prstGeom prst="rect">
            <a:avLst/>
          </a:prstGeom>
          <a:noFill/>
        </p:spPr>
        <p:txBody>
          <a:bodyPr wrap="square" lIns="0" rIns="0" tIns="0" bIns="0">
            <a:spAutoFit/>
          </a:bodyPr>
          <a:lstStyle/>
          <a:p>
            <a:pPr>
              <a:spcBef>
                <a:spcPts val="0"/>
              </a:spcBef>
              <a:spcAft>
                <a:spcPts val="500"/>
              </a:spcAft>
              <a:defRPr sz="2100" b="0">
                <a:solidFill>
                  <a:srgbClr val="173348"/>
                </a:solidFill>
                <a:latin typeface="Arial"/>
              </a:defRPr>
            </a:pPr>
            <a:r>
              <a:t>Mean gap trên MotorBike Test</a:t>
            </a:r>
          </a:p>
        </p:txBody>
      </p:sp>
      <p:sp>
        <p:nvSpPr>
          <p:cNvPr id="12" name="Rectangle 11"/>
          <p:cNvSpPr/>
          <p:nvPr/>
        </p:nvSpPr>
        <p:spPr>
          <a:xfrm>
            <a:off x="6995160" y="1828800"/>
            <a:ext cx="4389120" cy="3429000"/>
          </a:xfrm>
          <a:prstGeom prst="rect">
            <a:avLst/>
          </a:prstGeom>
          <a:solidFill>
            <a:srgbClr val="EDF4F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7269480" y="2103120"/>
            <a:ext cx="3840480" cy="548640"/>
          </a:xfrm>
          <a:prstGeom prst="rect">
            <a:avLst/>
          </a:prstGeom>
          <a:noFill/>
        </p:spPr>
        <p:txBody>
          <a:bodyPr wrap="square" lIns="0" rIns="0" tIns="0" bIns="0">
            <a:spAutoFit/>
          </a:bodyPr>
          <a:lstStyle/>
          <a:p>
            <a:pPr>
              <a:spcBef>
                <a:spcPts val="0"/>
              </a:spcBef>
              <a:spcAft>
                <a:spcPts val="500"/>
              </a:spcAft>
              <a:defRPr sz="2800" b="1">
                <a:solidFill>
                  <a:srgbClr val="173348"/>
                </a:solidFill>
                <a:latin typeface="Arial"/>
              </a:defRPr>
            </a:pPr>
            <a:r>
              <a:t>18/18 so sánh dương</a:t>
            </a:r>
          </a:p>
        </p:txBody>
      </p:sp>
      <p:sp>
        <p:nvSpPr>
          <p:cNvPr id="14" name="TextBox 13"/>
          <p:cNvSpPr txBox="1"/>
          <p:nvPr/>
        </p:nvSpPr>
        <p:spPr>
          <a:xfrm>
            <a:off x="7269480" y="2990088"/>
            <a:ext cx="3749039" cy="1874519"/>
          </a:xfrm>
          <a:prstGeom prst="rect">
            <a:avLst/>
          </a:prstGeom>
          <a:noFill/>
        </p:spPr>
        <p:txBody>
          <a:bodyPr wrap="square" lIns="0" rIns="0" tIns="0" bIns="0">
            <a:spAutoFit/>
          </a:bodyPr>
          <a:lstStyle/>
          <a:p>
            <a:pPr>
              <a:spcBef>
                <a:spcPts val="0"/>
              </a:spcBef>
              <a:spcAft>
                <a:spcPts val="500"/>
              </a:spcAft>
              <a:defRPr sz="2100" b="0">
                <a:solidFill>
                  <a:srgbClr val="173348"/>
                </a:solidFill>
                <a:latin typeface="Arial"/>
              </a:defRPr>
            </a:pPr>
            <a:r>
              <a:t>Lặp lại ở ba model.</a:t>
            </a:r>
          </a:p>
          <a:p>
            <a:pPr>
              <a:spcBef>
                <a:spcPts val="0"/>
              </a:spcBef>
              <a:spcAft>
                <a:spcPts val="500"/>
              </a:spcAft>
              <a:defRPr sz="2100" b="0">
                <a:solidFill>
                  <a:srgbClr val="173348"/>
                </a:solidFill>
                <a:latin typeface="Arial"/>
              </a:defRPr>
            </a:pPr>
            <a:r>
              <a:t>D20 dễ tổn thương trên MotorBike.</a:t>
            </a:r>
          </a:p>
          <a:p>
            <a:pPr>
              <a:spcBef>
                <a:spcPts val="0"/>
              </a:spcBef>
              <a:spcAft>
                <a:spcPts val="500"/>
              </a:spcAft>
              <a:defRPr sz="2100" b="0">
                <a:solidFill>
                  <a:srgbClr val="173348"/>
                </a:solidFill>
                <a:latin typeface="Arial"/>
              </a:defRPr>
            </a:pPr>
            <a:r>
              <a:t>D40 hiếm trên Drone có đảo chiều.</a:t>
            </a:r>
          </a:p>
        </p:txBody>
      </p:sp>
      <p:sp>
        <p:nvSpPr>
          <p:cNvPr id="15" name="Rectangle 14"/>
          <p:cNvSpPr/>
          <p:nvPr/>
        </p:nvSpPr>
        <p:spPr>
          <a:xfrm>
            <a:off x="548640" y="5806440"/>
            <a:ext cx="11091672" cy="365760"/>
          </a:xfrm>
          <a:prstGeom prst="rect">
            <a:avLst/>
          </a:prstGeom>
          <a:solidFill>
            <a:srgbClr val="EDF4F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713232" y="5856731"/>
            <a:ext cx="10744200" cy="274320"/>
          </a:xfrm>
          <a:prstGeom prst="rect">
            <a:avLst/>
          </a:prstGeom>
          <a:noFill/>
        </p:spPr>
        <p:txBody>
          <a:bodyPr wrap="square" lIns="0" rIns="0" tIns="0" bIns="0">
            <a:spAutoFit/>
          </a:bodyPr>
          <a:lstStyle/>
          <a:p>
            <a:pPr>
              <a:spcBef>
                <a:spcPts val="0"/>
              </a:spcBef>
              <a:spcAft>
                <a:spcPts val="500"/>
              </a:spcAft>
              <a:defRPr sz="1500" b="1">
                <a:solidFill>
                  <a:srgbClr val="127B80"/>
                </a:solidFill>
                <a:latin typeface="Arial"/>
              </a:defRPr>
            </a:pPr>
            <a:r>
              <a:t>Đóng góp: giao thức hai chiều trên cùng tập đích, minh bạch theo seed và kiểm tra lặp lại với YOLO26n.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999" cy="59436"/>
          </a:xfrm>
          <a:prstGeom prst="rect">
            <a:avLst/>
          </a:prstGeom>
          <a:solidFill>
            <a:srgbClr val="127B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48640" y="256032"/>
            <a:ext cx="10972800" cy="228600"/>
          </a:xfrm>
          <a:prstGeom prst="rect">
            <a:avLst/>
          </a:prstGeom>
          <a:noFill/>
        </p:spPr>
        <p:txBody>
          <a:bodyPr wrap="square" lIns="0" rIns="0" tIns="0" bIns="0">
            <a:spAutoFit/>
          </a:bodyPr>
          <a:lstStyle/>
          <a:p>
            <a:pPr>
              <a:spcBef>
                <a:spcPts val="0"/>
              </a:spcBef>
              <a:spcAft>
                <a:spcPts val="500"/>
              </a:spcAft>
              <a:defRPr sz="1100" b="1">
                <a:solidFill>
                  <a:srgbClr val="127B80"/>
                </a:solidFill>
                <a:latin typeface="Arial"/>
              </a:defRPr>
            </a:pPr>
            <a:r>
              <a:t>08 · KẾT LUẬN VÀ HƯỚNG PHÁT TRIỂN</a:t>
            </a:r>
          </a:p>
        </p:txBody>
      </p:sp>
      <p:sp>
        <p:nvSpPr>
          <p:cNvPr id="4" name="TextBox 3"/>
          <p:cNvSpPr txBox="1"/>
          <p:nvPr/>
        </p:nvSpPr>
        <p:spPr>
          <a:xfrm>
            <a:off x="548640" y="768096"/>
            <a:ext cx="11109960" cy="822960"/>
          </a:xfrm>
          <a:prstGeom prst="rect">
            <a:avLst/>
          </a:prstGeom>
          <a:noFill/>
        </p:spPr>
        <p:txBody>
          <a:bodyPr wrap="square" lIns="0" rIns="0" tIns="0" bIns="0">
            <a:spAutoFit/>
          </a:bodyPr>
          <a:lstStyle/>
          <a:p>
            <a:pPr>
              <a:spcBef>
                <a:spcPts val="0"/>
              </a:spcBef>
              <a:spcAft>
                <a:spcPts val="500"/>
              </a:spcAft>
              <a:defRPr sz="2700" b="1">
                <a:solidFill>
                  <a:srgbClr val="173348"/>
                </a:solidFill>
                <a:latin typeface="Arial"/>
              </a:defRPr>
            </a:pPr>
            <a:r>
              <a:t>Bước tiếp theo: kiểm chứng độc lập và tách yếu tố gây nhiễu</a:t>
            </a:r>
          </a:p>
        </p:txBody>
      </p:sp>
      <p:cxnSp>
        <p:nvCxnSpPr>
          <p:cNvPr id="5" name="Connector 4"/>
          <p:cNvCxnSpPr/>
          <p:nvPr/>
        </p:nvCxnSpPr>
        <p:spPr>
          <a:xfrm>
            <a:off x="548640" y="6327648"/>
            <a:ext cx="11091672" cy="0"/>
          </a:xfrm>
          <a:prstGeom prst="line">
            <a:avLst/>
          </a:prstGeom>
          <a:ln w="16510">
            <a:solidFill>
              <a:srgbClr val="DCE6EC"/>
            </a:solidFill>
          </a:ln>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548640" y="6446520"/>
            <a:ext cx="10652760" cy="274320"/>
          </a:xfrm>
          <a:prstGeom prst="rect">
            <a:avLst/>
          </a:prstGeom>
          <a:noFill/>
        </p:spPr>
        <p:txBody>
          <a:bodyPr wrap="square" lIns="0" rIns="0" tIns="0" bIns="0">
            <a:spAutoFit/>
          </a:bodyPr>
          <a:lstStyle/>
          <a:p>
            <a:pPr>
              <a:spcBef>
                <a:spcPts val="0"/>
              </a:spcBef>
              <a:spcAft>
                <a:spcPts val="500"/>
              </a:spcAft>
              <a:defRPr sz="1000" b="0">
                <a:solidFill>
                  <a:srgbClr val="536778"/>
                </a:solidFill>
                <a:latin typeface="Arial"/>
              </a:defRPr>
            </a:pPr>
            <a:r>
              <a:t>Nguồn: paper, Thảo luận và hướng phát triển · Các mục dưới đây là công việc đề xuất</a:t>
            </a:r>
          </a:p>
        </p:txBody>
      </p:sp>
      <p:sp>
        <p:nvSpPr>
          <p:cNvPr id="7" name="TextBox 6"/>
          <p:cNvSpPr txBox="1"/>
          <p:nvPr/>
        </p:nvSpPr>
        <p:spPr>
          <a:xfrm>
            <a:off x="11155680" y="6419088"/>
            <a:ext cx="484632" cy="292608"/>
          </a:xfrm>
          <a:prstGeom prst="rect">
            <a:avLst/>
          </a:prstGeom>
          <a:noFill/>
        </p:spPr>
        <p:txBody>
          <a:bodyPr wrap="square" lIns="0" rIns="0" tIns="0" bIns="0">
            <a:spAutoFit/>
          </a:bodyPr>
          <a:lstStyle/>
          <a:p>
            <a:pPr algn="r">
              <a:spcBef>
                <a:spcPts val="0"/>
              </a:spcBef>
              <a:spcAft>
                <a:spcPts val="500"/>
              </a:spcAft>
              <a:defRPr sz="1200" b="1">
                <a:solidFill>
                  <a:srgbClr val="127B80"/>
                </a:solidFill>
                <a:latin typeface="Arial"/>
              </a:defRPr>
            </a:pPr>
            <a:r>
              <a:t>20</a:t>
            </a:r>
          </a:p>
        </p:txBody>
      </p:sp>
      <p:sp>
        <p:nvSpPr>
          <p:cNvPr id="8" name="TextBox 7"/>
          <p:cNvSpPr txBox="1"/>
          <p:nvPr/>
        </p:nvSpPr>
        <p:spPr>
          <a:xfrm>
            <a:off x="731520" y="1810512"/>
            <a:ext cx="548640" cy="393192"/>
          </a:xfrm>
          <a:prstGeom prst="rect">
            <a:avLst/>
          </a:prstGeom>
          <a:noFill/>
        </p:spPr>
        <p:txBody>
          <a:bodyPr wrap="square" lIns="0" rIns="0" tIns="0" bIns="0">
            <a:spAutoFit/>
          </a:bodyPr>
          <a:lstStyle/>
          <a:p>
            <a:pPr>
              <a:spcBef>
                <a:spcPts val="0"/>
              </a:spcBef>
              <a:spcAft>
                <a:spcPts val="500"/>
              </a:spcAft>
              <a:defRPr sz="2300" b="1">
                <a:solidFill>
                  <a:srgbClr val="127B80"/>
                </a:solidFill>
                <a:latin typeface="Arial"/>
              </a:defRPr>
            </a:pPr>
            <a:r>
              <a:t>01</a:t>
            </a:r>
          </a:p>
        </p:txBody>
      </p:sp>
      <p:sp>
        <p:nvSpPr>
          <p:cNvPr id="9" name="TextBox 8"/>
          <p:cNvSpPr txBox="1"/>
          <p:nvPr/>
        </p:nvSpPr>
        <p:spPr>
          <a:xfrm>
            <a:off x="1508760" y="1810512"/>
            <a:ext cx="3931920" cy="429768"/>
          </a:xfrm>
          <a:prstGeom prst="rect">
            <a:avLst/>
          </a:prstGeom>
          <a:noFill/>
        </p:spPr>
        <p:txBody>
          <a:bodyPr wrap="square" lIns="0" rIns="0" tIns="0" bIns="0">
            <a:spAutoFit/>
          </a:bodyPr>
          <a:lstStyle/>
          <a:p>
            <a:pPr>
              <a:spcBef>
                <a:spcPts val="0"/>
              </a:spcBef>
              <a:spcAft>
                <a:spcPts val="500"/>
              </a:spcAft>
              <a:defRPr sz="2200" b="1">
                <a:solidFill>
                  <a:srgbClr val="173348"/>
                </a:solidFill>
                <a:latin typeface="Arial"/>
              </a:defRPr>
            </a:pPr>
            <a:r>
              <a:t>Kiểm chứng dự đoán</a:t>
            </a:r>
          </a:p>
        </p:txBody>
      </p:sp>
      <p:sp>
        <p:nvSpPr>
          <p:cNvPr id="10" name="TextBox 9"/>
          <p:cNvSpPr txBox="1"/>
          <p:nvPr/>
        </p:nvSpPr>
        <p:spPr>
          <a:xfrm>
            <a:off x="5669280" y="1810512"/>
            <a:ext cx="5715000" cy="768096"/>
          </a:xfrm>
          <a:prstGeom prst="rect">
            <a:avLst/>
          </a:prstGeom>
          <a:noFill/>
        </p:spPr>
        <p:txBody>
          <a:bodyPr wrap="square" lIns="0" rIns="0" tIns="0" bIns="0">
            <a:spAutoFit/>
          </a:bodyPr>
          <a:lstStyle/>
          <a:p>
            <a:pPr>
              <a:spcBef>
                <a:spcPts val="0"/>
              </a:spcBef>
              <a:spcAft>
                <a:spcPts val="500"/>
              </a:spcAft>
              <a:defRPr sz="1900" b="0">
                <a:solidFill>
                  <a:srgbClr val="173348"/>
                </a:solidFill>
                <a:latin typeface="Arial"/>
              </a:defRPr>
            </a:pPr>
            <a:r>
              <a:t>Replay checkpoint; lưu dự đoán từng ảnh; audit FP/FN và bootstrap theo cảnh.</a:t>
            </a:r>
          </a:p>
        </p:txBody>
      </p:sp>
      <p:sp>
        <p:nvSpPr>
          <p:cNvPr id="11" name="TextBox 10"/>
          <p:cNvSpPr txBox="1"/>
          <p:nvPr/>
        </p:nvSpPr>
        <p:spPr>
          <a:xfrm>
            <a:off x="731520" y="2752344"/>
            <a:ext cx="548640" cy="393192"/>
          </a:xfrm>
          <a:prstGeom prst="rect">
            <a:avLst/>
          </a:prstGeom>
          <a:noFill/>
        </p:spPr>
        <p:txBody>
          <a:bodyPr wrap="square" lIns="0" rIns="0" tIns="0" bIns="0">
            <a:spAutoFit/>
          </a:bodyPr>
          <a:lstStyle/>
          <a:p>
            <a:pPr>
              <a:spcBef>
                <a:spcPts val="0"/>
              </a:spcBef>
              <a:spcAft>
                <a:spcPts val="500"/>
              </a:spcAft>
              <a:defRPr sz="2300" b="1">
                <a:solidFill>
                  <a:srgbClr val="127B80"/>
                </a:solidFill>
                <a:latin typeface="Arial"/>
              </a:defRPr>
            </a:pPr>
            <a:r>
              <a:t>02</a:t>
            </a:r>
          </a:p>
        </p:txBody>
      </p:sp>
      <p:sp>
        <p:nvSpPr>
          <p:cNvPr id="12" name="TextBox 11"/>
          <p:cNvSpPr txBox="1"/>
          <p:nvPr/>
        </p:nvSpPr>
        <p:spPr>
          <a:xfrm>
            <a:off x="1508760" y="2752344"/>
            <a:ext cx="3931920" cy="429768"/>
          </a:xfrm>
          <a:prstGeom prst="rect">
            <a:avLst/>
          </a:prstGeom>
          <a:noFill/>
        </p:spPr>
        <p:txBody>
          <a:bodyPr wrap="square" lIns="0" rIns="0" tIns="0" bIns="0">
            <a:spAutoFit/>
          </a:bodyPr>
          <a:lstStyle/>
          <a:p>
            <a:pPr>
              <a:spcBef>
                <a:spcPts val="0"/>
              </a:spcBef>
              <a:spcAft>
                <a:spcPts val="500"/>
              </a:spcAft>
              <a:defRPr sz="2200" b="1">
                <a:solidFill>
                  <a:srgbClr val="173348"/>
                </a:solidFill>
                <a:latin typeface="Arial"/>
              </a:defRPr>
            </a:pPr>
            <a:r>
              <a:t>Bổ sung đối chứng</a:t>
            </a:r>
          </a:p>
        </p:txBody>
      </p:sp>
      <p:sp>
        <p:nvSpPr>
          <p:cNvPr id="13" name="TextBox 12"/>
          <p:cNvSpPr txBox="1"/>
          <p:nvPr/>
        </p:nvSpPr>
        <p:spPr>
          <a:xfrm>
            <a:off x="5669280" y="2752344"/>
            <a:ext cx="5715000" cy="768096"/>
          </a:xfrm>
          <a:prstGeom prst="rect">
            <a:avLst/>
          </a:prstGeom>
          <a:noFill/>
        </p:spPr>
        <p:txBody>
          <a:bodyPr wrap="square" lIns="0" rIns="0" tIns="0" bIns="0">
            <a:spAutoFit/>
          </a:bodyPr>
          <a:lstStyle/>
          <a:p>
            <a:pPr>
              <a:spcBef>
                <a:spcPts val="0"/>
              </a:spcBef>
              <a:spcAft>
                <a:spcPts val="500"/>
              </a:spcAft>
              <a:defRPr sz="1900" b="0">
                <a:solidFill>
                  <a:srgbClr val="173348"/>
                </a:solidFill>
                <a:latin typeface="Arial"/>
              </a:defRPr>
            </a:pPr>
            <a:r>
              <a:t>Cân bằng cỡ tập nguồn; thu cùng đoạn đường với nhiều góc nhìn.</a:t>
            </a:r>
          </a:p>
        </p:txBody>
      </p:sp>
      <p:sp>
        <p:nvSpPr>
          <p:cNvPr id="14" name="TextBox 13"/>
          <p:cNvSpPr txBox="1"/>
          <p:nvPr/>
        </p:nvSpPr>
        <p:spPr>
          <a:xfrm>
            <a:off x="731520" y="3694176"/>
            <a:ext cx="548640" cy="393192"/>
          </a:xfrm>
          <a:prstGeom prst="rect">
            <a:avLst/>
          </a:prstGeom>
          <a:noFill/>
        </p:spPr>
        <p:txBody>
          <a:bodyPr wrap="square" lIns="0" rIns="0" tIns="0" bIns="0">
            <a:spAutoFit/>
          </a:bodyPr>
          <a:lstStyle/>
          <a:p>
            <a:pPr>
              <a:spcBef>
                <a:spcPts val="0"/>
              </a:spcBef>
              <a:spcAft>
                <a:spcPts val="500"/>
              </a:spcAft>
              <a:defRPr sz="2300" b="1">
                <a:solidFill>
                  <a:srgbClr val="127B80"/>
                </a:solidFill>
                <a:latin typeface="Arial"/>
              </a:defRPr>
            </a:pPr>
            <a:r>
              <a:t>03</a:t>
            </a:r>
          </a:p>
        </p:txBody>
      </p:sp>
      <p:sp>
        <p:nvSpPr>
          <p:cNvPr id="15" name="TextBox 14"/>
          <p:cNvSpPr txBox="1"/>
          <p:nvPr/>
        </p:nvSpPr>
        <p:spPr>
          <a:xfrm>
            <a:off x="1508760" y="3694176"/>
            <a:ext cx="3931920" cy="429768"/>
          </a:xfrm>
          <a:prstGeom prst="rect">
            <a:avLst/>
          </a:prstGeom>
          <a:noFill/>
        </p:spPr>
        <p:txBody>
          <a:bodyPr wrap="square" lIns="0" rIns="0" tIns="0" bIns="0">
            <a:spAutoFit/>
          </a:bodyPr>
          <a:lstStyle/>
          <a:p>
            <a:pPr>
              <a:spcBef>
                <a:spcPts val="0"/>
              </a:spcBef>
              <a:spcAft>
                <a:spcPts val="500"/>
              </a:spcAft>
              <a:defRPr sz="2200" b="1">
                <a:solidFill>
                  <a:srgbClr val="173348"/>
                </a:solidFill>
                <a:latin typeface="Arial"/>
              </a:defRPr>
            </a:pPr>
            <a:r>
              <a:t>Mở rộng có kiểm soát</a:t>
            </a:r>
          </a:p>
        </p:txBody>
      </p:sp>
      <p:sp>
        <p:nvSpPr>
          <p:cNvPr id="16" name="TextBox 15"/>
          <p:cNvSpPr txBox="1"/>
          <p:nvPr/>
        </p:nvSpPr>
        <p:spPr>
          <a:xfrm>
            <a:off x="5669280" y="3694176"/>
            <a:ext cx="5715000" cy="768096"/>
          </a:xfrm>
          <a:prstGeom prst="rect">
            <a:avLst/>
          </a:prstGeom>
          <a:noFill/>
        </p:spPr>
        <p:txBody>
          <a:bodyPr wrap="square" lIns="0" rIns="0" tIns="0" bIns="0">
            <a:spAutoFit/>
          </a:bodyPr>
          <a:lstStyle/>
          <a:p>
            <a:pPr>
              <a:spcBef>
                <a:spcPts val="0"/>
              </a:spcBef>
              <a:spcAft>
                <a:spcPts val="500"/>
              </a:spcAft>
              <a:defRPr sz="1900" b="0">
                <a:solidFill>
                  <a:srgbClr val="173348"/>
                </a:solidFill>
                <a:latin typeface="Arial"/>
              </a:defRPr>
            </a:pPr>
            <a:r>
              <a:t>Rà ontology nhãn trước khi đánh giá Czech, India hoặc bộ dữ liệu độc lập.</a:t>
            </a:r>
          </a:p>
        </p:txBody>
      </p:sp>
      <p:sp>
        <p:nvSpPr>
          <p:cNvPr id="17" name="TextBox 16"/>
          <p:cNvSpPr txBox="1"/>
          <p:nvPr/>
        </p:nvSpPr>
        <p:spPr>
          <a:xfrm>
            <a:off x="731520" y="4636008"/>
            <a:ext cx="548640" cy="393192"/>
          </a:xfrm>
          <a:prstGeom prst="rect">
            <a:avLst/>
          </a:prstGeom>
          <a:noFill/>
        </p:spPr>
        <p:txBody>
          <a:bodyPr wrap="square" lIns="0" rIns="0" tIns="0" bIns="0">
            <a:spAutoFit/>
          </a:bodyPr>
          <a:lstStyle/>
          <a:p>
            <a:pPr>
              <a:spcBef>
                <a:spcPts val="0"/>
              </a:spcBef>
              <a:spcAft>
                <a:spcPts val="500"/>
              </a:spcAft>
              <a:defRPr sz="2300" b="1">
                <a:solidFill>
                  <a:srgbClr val="127B80"/>
                </a:solidFill>
                <a:latin typeface="Arial"/>
              </a:defRPr>
            </a:pPr>
            <a:r>
              <a:t>04</a:t>
            </a:r>
          </a:p>
        </p:txBody>
      </p:sp>
      <p:sp>
        <p:nvSpPr>
          <p:cNvPr id="18" name="TextBox 17"/>
          <p:cNvSpPr txBox="1"/>
          <p:nvPr/>
        </p:nvSpPr>
        <p:spPr>
          <a:xfrm>
            <a:off x="1508760" y="4636008"/>
            <a:ext cx="3931920" cy="429768"/>
          </a:xfrm>
          <a:prstGeom prst="rect">
            <a:avLst/>
          </a:prstGeom>
          <a:noFill/>
        </p:spPr>
        <p:txBody>
          <a:bodyPr wrap="square" lIns="0" rIns="0" tIns="0" bIns="0">
            <a:spAutoFit/>
          </a:bodyPr>
          <a:lstStyle/>
          <a:p>
            <a:pPr>
              <a:spcBef>
                <a:spcPts val="0"/>
              </a:spcBef>
              <a:spcAft>
                <a:spcPts val="500"/>
              </a:spcAft>
              <a:defRPr sz="2200" b="1">
                <a:solidFill>
                  <a:srgbClr val="173348"/>
                </a:solidFill>
                <a:latin typeface="Arial"/>
              </a:defRPr>
            </a:pPr>
            <a:r>
              <a:t>Thử biện pháp cải thiện</a:t>
            </a:r>
          </a:p>
        </p:txBody>
      </p:sp>
      <p:sp>
        <p:nvSpPr>
          <p:cNvPr id="19" name="TextBox 18"/>
          <p:cNvSpPr txBox="1"/>
          <p:nvPr/>
        </p:nvSpPr>
        <p:spPr>
          <a:xfrm>
            <a:off x="5669280" y="4636008"/>
            <a:ext cx="5715000" cy="768096"/>
          </a:xfrm>
          <a:prstGeom prst="rect">
            <a:avLst/>
          </a:prstGeom>
          <a:noFill/>
        </p:spPr>
        <p:txBody>
          <a:bodyPr wrap="square" lIns="0" rIns="0" tIns="0" bIns="0">
            <a:spAutoFit/>
          </a:bodyPr>
          <a:lstStyle/>
          <a:p>
            <a:pPr>
              <a:spcBef>
                <a:spcPts val="0"/>
              </a:spcBef>
              <a:spcAft>
                <a:spcPts val="500"/>
              </a:spcAft>
              <a:defRPr sz="1900" b="0">
                <a:solidFill>
                  <a:srgbClr val="173348"/>
                </a:solidFill>
                <a:latin typeface="Arial"/>
              </a:defRPr>
            </a:pPr>
            <a:r>
              <a:t>Huấn luyện đa miền hoặc thích nghi miền; chấm lại bằng giao thức cố định.</a:t>
            </a:r>
          </a:p>
        </p:txBody>
      </p:sp>
      <p:sp>
        <p:nvSpPr>
          <p:cNvPr id="20" name="TextBox 19"/>
          <p:cNvSpPr txBox="1"/>
          <p:nvPr/>
        </p:nvSpPr>
        <p:spPr>
          <a:xfrm>
            <a:off x="777240" y="5806440"/>
            <a:ext cx="10607040" cy="365760"/>
          </a:xfrm>
          <a:prstGeom prst="rect">
            <a:avLst/>
          </a:prstGeom>
          <a:noFill/>
        </p:spPr>
        <p:txBody>
          <a:bodyPr wrap="square" lIns="0" rIns="0" tIns="0" bIns="0">
            <a:spAutoFit/>
          </a:bodyPr>
          <a:lstStyle/>
          <a:p>
            <a:pPr>
              <a:spcBef>
                <a:spcPts val="0"/>
              </a:spcBef>
              <a:spcAft>
                <a:spcPts val="500"/>
              </a:spcAft>
              <a:defRPr sz="1800" b="1">
                <a:solidFill>
                  <a:srgbClr val="127B80"/>
                </a:solidFill>
                <a:latin typeface="Arial"/>
              </a:defRPr>
            </a:pPr>
            <a:r>
              <a:t>Trao đổi: đối chứng nào cần được ưu tiên trước khi khẳng định khả năng triển khai?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Phát hiện hư hỏng mặt đường suy giảm bao nhiêu khi đổi miền thu nhận?</dc:title>
  <dc:subject>RDD2022 · Giao thức hai chiều Drone–MotorBike · Bản trình bày tiếng Việt</dc:subject>
  <dc:creator>Lê Thành Luân; Phạm Bá Anh Tuấn</dc:creator>
  <cp:keywords>RDD2022, YOLO11n, YOLOv8n, YOLO26n, tiếng Việt</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